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theme" Target="theme/theme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Bilagan beskriver pilotprojektet: ett praktiskt test av RODA för digitalt långtidsbevarande av museisamlingar. Presentationen följer piloten från start till slutrekommendation.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Det räcker inte att visa att programvarorna går att installera och kommunicera. Hela kedjan prövas, från verksamhetens urval och metadataarbete till säker lagring och återläsning. Ett godkänt pilotresultat betyder inte att lösningen är klar för produktion.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Piloten är avgränsad till ett mindre museum. Den ersätter inte beslut om gallring eller förvaltningsorganisation.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Nio förutsättningar är grupperade i tre block. Ansvariga enligt bilagan: KUB-projektet med KSD (miljö, behörighet), verksamhetschef NOK (pilotmuseum), verksamheten med informationssäkerhetsfunktionen (informationsklassning), KUB-projektet med Cesar-teamet (RODA-specifikation).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Verksamhetsspåret väntar inte på att den tekniska miljön blir färdig, eftersom krav på metadata, urval och export behöver vara kända när de tekniska testerna utformas. Frågor som verksamheten ska besvara: vilka objekt som ska bevaras och i vilken prioritet; urvals- och gallringsprinciper och beslutsfattare; obligatoriska metadata; räcker dagens Primus-registrering; nyregistrerat respektive retrospektivt material; ansvar och kontrollpunkter; avvikelsehantering; onödig administration; kompetens- och utbildningsbehov.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Kedjan: Primus → export och kvalitetssäkring → RODA-in → RODA (SIP → AIP) → lagring och integritetskontroll → uppföljning. Vilka standarder, profiler och valideringsregler som ska gälla fastställs i piloten, med utgångspunkt i Cesars specifikation.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Preliminär tid enligt bilagan: steg 1 november 2026 – våren 2027 (Fas 1–2); steg 2 januari–april 2027 (Fas 2); steg 3 april–juni 2027 (Fas 3); steg 4 maj–september 2027 (Fas 3); steg 5 augusti–november 2027 (Fas 3); steg 6 oktober–december 2027 (Fas 4). Eventuell förlängning beslutas i samband med beslutet om en långsiktig lösning.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Kriterierna är förslag och fastställs i Fas 2. De utgör grunden för beslutet om långsiktig lösning.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Slutrapporten ger ledningsgruppen underlag att ta ställning till om RODA är lämpligt som del av bevarandelösningen och om inriktningen mot Cesar ska bekräftas, vilka kompletteringar som behövs, vilken lagrings- och driftsmodell som bör användas, vilka resurser och vilken finansiering som krävs, samt hur ansvar och förvaltning ska organiseras. Beslutet gäller om lösningen ska vidareutvecklas, testas i ytterligare en pilot eller införas stegvis vid fler museer.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Harb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Title 1"/>
          <p:cNvSpPr>
            <a:spLocks noGrp="1"/>
          </p:cNvSpPr>
          <p:nvPr>
            <p:ph type="ctrTitle"/>
          </p:nvPr>
        </p:nvSpPr>
        <p:spPr/>
        <p:txBody>
          <a:bodyPr/>
          <a:lstStyle/>
          <a:p>
            <a:r>
              <a:rPr/>
              <a:t>Pilotprojekt KUB</a:t>
            </a:r>
          </a:p>
        </p:txBody>
      </p:sp>
      <p:sp>
        <p:nvSpPr>
          <p:cNvPr id="436" name="Subtitle 2"/>
          <p:cNvSpPr>
            <a:spLocks noGrp="1"/>
          </p:cNvSpPr>
          <p:nvPr>
            <p:ph type="subTitle" idx="1"/>
          </p:nvPr>
        </p:nvSpPr>
        <p:spPr/>
        <p:txBody>
          <a:bodyPr/>
          <a:lstStyle/>
          <a:p>
            <a:r>
              <a:rPr/>
              <a:t>Praktiskt test av RODA för digitalt långtidsbevarande av museisamlingar</a:t>
            </a:r>
          </a:p>
          <a:p>
            <a:r>
              <a:rPr/>
              <a:t>Bilaga till strategisk rekommendation · 2026-10-19</a:t>
            </a:r>
          </a:p>
        </p:txBody>
      </p:sp>
      <p:sp>
        <p:nvSpPr>
          <p:cNvPr id="437" name="Rectangle 3"/>
          <p:cNvSpPr/>
          <p:nvPr/>
        </p:nvSpPr>
        <p:spPr>
          <a:xfrm>
            <a:off x="0" y="0"/>
            <a:ext cx="355600" cy="6350000"/>
          </a:xfrm>
          <a:prstGeom prst="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8" name="Rectangle 4"/>
          <p:cNvSpPr/>
          <p:nvPr/>
        </p:nvSpPr>
        <p:spPr>
          <a:xfrm>
            <a:off x="0" y="6350000"/>
            <a:ext cx="12192000" cy="508000"/>
          </a:xfrm>
          <a:prstGeom prst="rect">
            <a:avLst/>
          </a:prstGeom>
          <a:solidFill>
            <a:srgbClr val="1122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Title 1"/>
          <p:cNvSpPr>
            <a:spLocks noGrp="1"/>
          </p:cNvSpPr>
          <p:nvPr>
            <p:ph type="title"/>
          </p:nvPr>
        </p:nvSpPr>
        <p:spPr/>
        <p:txBody>
          <a:bodyPr/>
          <a:lstStyle/>
          <a:p>
            <a:r>
              <a:rPr/>
              <a:t>Syfte och mål</a:t>
            </a:r>
          </a:p>
        </p:txBody>
      </p:sp>
      <p:sp>
        <p:nvSpPr>
          <p:cNvPr id="441" name="Rectangle 2"/>
          <p:cNvSpPr/>
          <p:nvPr/>
        </p:nvSpPr>
        <p:spPr>
          <a:xfrm>
            <a:off x="762000" y="1727200"/>
            <a:ext cx="4826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2" name="Oval 3"/>
          <p:cNvSpPr/>
          <p:nvPr/>
        </p:nvSpPr>
        <p:spPr>
          <a:xfrm>
            <a:off x="965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S</a:t>
            </a:r>
            <a:endParaRPr sz="1600" b="1">
              <a:solidFill>
                <a:srgbClr val="FFFFFF"/>
              </a:solidFill>
            </a:endParaRPr>
          </a:p>
        </p:txBody>
      </p:sp>
      <p:sp>
        <p:nvSpPr>
          <p:cNvPr id="443" name="TextBox 4"/>
          <p:cNvSpPr txBox="1"/>
          <p:nvPr/>
        </p:nvSpPr>
        <p:spPr>
          <a:xfrm>
            <a:off x="1574800" y="1879600"/>
            <a:ext cx="3860800" cy="365760"/>
          </a:xfrm>
          <a:prstGeom prst="rect">
            <a:avLst/>
          </a:prstGeom>
        </p:spPr>
        <p:txBody>
          <a:bodyPr wrap="square" anchor="t">
            <a:noAutofit/>
          </a:bodyPr>
          <a:lstStyle/>
          <a:p>
            <a:pPr algn="l">
              <a:spcAft>
                <a:spcPts val="400"/>
              </a:spcAft>
            </a:pPr>
            <a:r>
              <a:rPr sz="1600" b="1">
                <a:solidFill>
                  <a:srgbClr val="11222F"/>
                </a:solidFill>
              </a:rPr>
              <a:t>Syfte</a:t>
            </a:r>
            <a:endParaRPr sz="1600" b="1">
              <a:solidFill>
                <a:srgbClr val="11222F"/>
              </a:solidFill>
            </a:endParaRPr>
          </a:p>
        </p:txBody>
      </p:sp>
      <p:sp>
        <p:nvSpPr>
          <p:cNvPr id="444" name="TextBox 5"/>
          <p:cNvSpPr txBox="1"/>
          <p:nvPr/>
        </p:nvSpPr>
        <p:spPr>
          <a:xfrm>
            <a:off x="1574800" y="2159000"/>
            <a:ext cx="3860800" cy="365760"/>
          </a:xfrm>
          <a:prstGeom prst="rect">
            <a:avLst/>
          </a:prstGeom>
        </p:spPr>
        <p:txBody>
          <a:bodyPr wrap="square" anchor="t">
            <a:noAutofit/>
          </a:bodyPr>
          <a:lstStyle/>
          <a:p>
            <a:pPr algn="l">
              <a:spcAft>
                <a:spcPts val="400"/>
              </a:spcAft>
            </a:pPr>
            <a:r>
              <a:rPr sz="1100" b="0">
                <a:solidFill>
                  <a:srgbClr val="51636F"/>
                </a:solidFill>
              </a:rPr>
              <a:t>Varför genomförs piloten?</a:t>
            </a:r>
            <a:endParaRPr sz="1100" b="0">
              <a:solidFill>
                <a:srgbClr val="51636F"/>
              </a:solidFill>
            </a:endParaRPr>
          </a:p>
        </p:txBody>
      </p:sp>
      <p:sp>
        <p:nvSpPr>
          <p:cNvPr id="445" name="TextBox 6"/>
          <p:cNvSpPr txBox="1"/>
          <p:nvPr/>
        </p:nvSpPr>
        <p:spPr>
          <a:xfrm>
            <a:off x="965200" y="2540000"/>
            <a:ext cx="4419600" cy="2286000"/>
          </a:xfrm>
          <a:prstGeom prst="rect">
            <a:avLst/>
          </a:prstGeom>
        </p:spPr>
        <p:txBody>
          <a:bodyPr wrap="square" anchor="t">
            <a:noAutofit/>
          </a:bodyPr>
          <a:lstStyle/>
          <a:p>
            <a:pPr marL="177800" indent="-177800" algn="l">
              <a:spcAft>
                <a:spcPts val="400"/>
              </a:spcAft>
              <a:buClr>
                <a:srgbClr val="1B7DA3"/>
              </a:buClr>
              <a:buChar char="•"/>
            </a:pPr>
            <a:r>
              <a:rPr sz="1600" b="0">
                <a:solidFill>
                  <a:srgbClr val="11222F"/>
                </a:solidFill>
              </a:rPr>
              <a:t>Pröva om RODA och RODA-in kan bli en del av Kulturförvaltningens framtida lösning</a:t>
            </a:r>
            <a:endParaRPr sz="1600" b="0">
              <a:solidFill>
                <a:srgbClr val="11222F"/>
              </a:solidFill>
            </a:endParaRPr>
          </a:p>
          <a:p>
            <a:pPr marL="177800" indent="-177800" algn="l">
              <a:spcAft>
                <a:spcPts val="400"/>
              </a:spcAft>
              <a:buClr>
                <a:srgbClr val="1B7DA3"/>
              </a:buClr>
              <a:buChar char="•"/>
            </a:pPr>
            <a:r>
              <a:rPr sz="1600" b="0">
                <a:solidFill>
                  <a:srgbClr val="11222F"/>
                </a:solidFill>
              </a:rPr>
              <a:t>Bygga en fungerande bevarandekedja med Primus som utgångspunkt</a:t>
            </a:r>
            <a:endParaRPr sz="1600" b="0">
              <a:solidFill>
                <a:srgbClr val="11222F"/>
              </a:solidFill>
            </a:endParaRPr>
          </a:p>
          <a:p>
            <a:pPr marL="177800" indent="-177800" algn="l">
              <a:spcAft>
                <a:spcPts val="400"/>
              </a:spcAft>
              <a:buClr>
                <a:srgbClr val="1B7DA3"/>
              </a:buClr>
              <a:buChar char="•"/>
            </a:pPr>
            <a:r>
              <a:rPr sz="1600" b="0">
                <a:solidFill>
                  <a:srgbClr val="11222F"/>
                </a:solidFill>
              </a:rPr>
              <a:t>Klargöra vad som ska sparas, vilka rutiner som behövs och vilka systemanpassningar som krävs</a:t>
            </a:r>
            <a:endParaRPr sz="1600" b="0">
              <a:solidFill>
                <a:srgbClr val="11222F"/>
              </a:solidFill>
            </a:endParaRPr>
          </a:p>
        </p:txBody>
      </p:sp>
      <p:sp>
        <p:nvSpPr>
          <p:cNvPr id="446" name="Rectangle 7"/>
          <p:cNvSpPr/>
          <p:nvPr/>
        </p:nvSpPr>
        <p:spPr>
          <a:xfrm>
            <a:off x="5842000" y="1727200"/>
            <a:ext cx="5588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7" name="Oval 8"/>
          <p:cNvSpPr/>
          <p:nvPr/>
        </p:nvSpPr>
        <p:spPr>
          <a:xfrm>
            <a:off x="6045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M</a:t>
            </a:r>
            <a:endParaRPr sz="1600" b="1">
              <a:solidFill>
                <a:srgbClr val="FFFFFF"/>
              </a:solidFill>
            </a:endParaRPr>
          </a:p>
        </p:txBody>
      </p:sp>
      <p:sp>
        <p:nvSpPr>
          <p:cNvPr id="448" name="TextBox 9"/>
          <p:cNvSpPr txBox="1"/>
          <p:nvPr/>
        </p:nvSpPr>
        <p:spPr>
          <a:xfrm>
            <a:off x="6654800" y="1879600"/>
            <a:ext cx="4622800" cy="365760"/>
          </a:xfrm>
          <a:prstGeom prst="rect">
            <a:avLst/>
          </a:prstGeom>
        </p:spPr>
        <p:txBody>
          <a:bodyPr wrap="square" anchor="t">
            <a:noAutofit/>
          </a:bodyPr>
          <a:lstStyle/>
          <a:p>
            <a:pPr algn="l">
              <a:spcAft>
                <a:spcPts val="400"/>
              </a:spcAft>
            </a:pPr>
            <a:r>
              <a:rPr sz="1600" b="1">
                <a:solidFill>
                  <a:srgbClr val="11222F"/>
                </a:solidFill>
              </a:rPr>
              <a:t>Mål</a:t>
            </a:r>
            <a:endParaRPr sz="1600" b="1">
              <a:solidFill>
                <a:srgbClr val="11222F"/>
              </a:solidFill>
            </a:endParaRPr>
          </a:p>
        </p:txBody>
      </p:sp>
      <p:sp>
        <p:nvSpPr>
          <p:cNvPr id="449" name="TextBox 10"/>
          <p:cNvSpPr txBox="1"/>
          <p:nvPr/>
        </p:nvSpPr>
        <p:spPr>
          <a:xfrm>
            <a:off x="6654800" y="2159000"/>
            <a:ext cx="4622800" cy="365760"/>
          </a:xfrm>
          <a:prstGeom prst="rect">
            <a:avLst/>
          </a:prstGeom>
        </p:spPr>
        <p:txBody>
          <a:bodyPr wrap="square" anchor="t">
            <a:noAutofit/>
          </a:bodyPr>
          <a:lstStyle/>
          <a:p>
            <a:pPr algn="l">
              <a:spcAft>
                <a:spcPts val="400"/>
              </a:spcAft>
            </a:pPr>
            <a:r>
              <a:rPr sz="1100" b="0">
                <a:solidFill>
                  <a:srgbClr val="51636F"/>
                </a:solidFill>
              </a:rPr>
              <a:t>Det ska vara uppnått när piloten avslutas</a:t>
            </a:r>
            <a:endParaRPr sz="1100" b="0">
              <a:solidFill>
                <a:srgbClr val="51636F"/>
              </a:solidFill>
            </a:endParaRPr>
          </a:p>
        </p:txBody>
      </p:sp>
      <p:sp>
        <p:nvSpPr>
          <p:cNvPr id="450" name="TextBox 11"/>
          <p:cNvSpPr txBox="1"/>
          <p:nvPr/>
        </p:nvSpPr>
        <p:spPr>
          <a:xfrm>
            <a:off x="6045200" y="2540000"/>
            <a:ext cx="5181600" cy="2834640"/>
          </a:xfrm>
          <a:prstGeom prst="rect">
            <a:avLst/>
          </a:prstGeom>
        </p:spPr>
        <p:txBody>
          <a:bodyPr wrap="square" anchor="t">
            <a:noAutofit/>
          </a:bodyPr>
          <a:lstStyle/>
          <a:p>
            <a:pPr marL="177800" indent="-177800" algn="l">
              <a:spcAft>
                <a:spcPts val="400"/>
              </a:spcAft>
              <a:buClr>
                <a:srgbClr val="1B7DA3"/>
              </a:buClr>
              <a:buChar char="•"/>
            </a:pPr>
            <a:r>
              <a:rPr sz="1400" b="0">
                <a:solidFill>
                  <a:srgbClr val="11222F"/>
                </a:solidFill>
              </a:rPr>
              <a:t>Dokumenterad testmiljö med RODA, RODA-in och lagringsyta</a:t>
            </a:r>
            <a:endParaRPr sz="1400" b="0">
              <a:solidFill>
                <a:srgbClr val="11222F"/>
              </a:solidFill>
            </a:endParaRPr>
          </a:p>
          <a:p>
            <a:pPr marL="177800" indent="-177800" algn="l">
              <a:spcAft>
                <a:spcPts val="400"/>
              </a:spcAft>
              <a:buClr>
                <a:srgbClr val="1B7DA3"/>
              </a:buClr>
              <a:buChar char="•"/>
            </a:pPr>
            <a:r>
              <a:rPr sz="1400" b="0">
                <a:solidFill>
                  <a:srgbClr val="11222F"/>
                </a:solidFill>
              </a:rPr>
              <a:t>Avgränsat urval objekt ur pilotmuseets samlingar</a:t>
            </a:r>
            <a:endParaRPr sz="1400" b="0">
              <a:solidFill>
                <a:srgbClr val="11222F"/>
              </a:solidFill>
            </a:endParaRPr>
          </a:p>
          <a:p>
            <a:pPr marL="177800" indent="-177800" algn="l">
              <a:spcAft>
                <a:spcPts val="400"/>
              </a:spcAft>
              <a:buClr>
                <a:srgbClr val="1B7DA3"/>
              </a:buClr>
              <a:buChar char="•"/>
            </a:pPr>
            <a:r>
              <a:rPr sz="1400" b="0">
                <a:solidFill>
                  <a:srgbClr val="11222F"/>
                </a:solidFill>
              </a:rPr>
              <a:t>Repeterbar export och metadatamappning mot Cesars RODA-specifikation</a:t>
            </a:r>
            <a:endParaRPr sz="1400" b="0">
              <a:solidFill>
                <a:srgbClr val="11222F"/>
              </a:solidFill>
            </a:endParaRPr>
          </a:p>
          <a:p>
            <a:pPr marL="177800" indent="-177800" algn="l">
              <a:spcAft>
                <a:spcPts val="400"/>
              </a:spcAft>
              <a:buClr>
                <a:srgbClr val="1B7DA3"/>
              </a:buClr>
              <a:buChar char="•"/>
            </a:pPr>
            <a:r>
              <a:rPr sz="1400" b="0">
                <a:solidFill>
                  <a:srgbClr val="11222F"/>
                </a:solidFill>
              </a:rPr>
              <a:t>Bevarandepaket skapade, lagrade och kontrollerade (integritet, återläsning)</a:t>
            </a:r>
            <a:endParaRPr sz="1400" b="0">
              <a:solidFill>
                <a:srgbClr val="11222F"/>
              </a:solidFill>
            </a:endParaRPr>
          </a:p>
          <a:p>
            <a:pPr marL="177800" indent="-177800" algn="l">
              <a:spcAft>
                <a:spcPts val="400"/>
              </a:spcAft>
              <a:buClr>
                <a:srgbClr val="1B7DA3"/>
              </a:buClr>
              <a:buChar char="•"/>
            </a:pPr>
            <a:r>
              <a:rPr sz="1400" b="0">
                <a:solidFill>
                  <a:srgbClr val="11222F"/>
                </a:solidFill>
              </a:rPr>
              <a:t>Rutiner för nyregistrering och äldre material, samt förslag till förvaltning</a:t>
            </a:r>
            <a:endParaRPr sz="1400" b="0">
              <a:solidFill>
                <a:srgbClr val="11222F"/>
              </a:solidFill>
            </a:endParaRPr>
          </a:p>
        </p:txBody>
      </p:sp>
      <p:sp>
        <p:nvSpPr>
          <p:cNvPr id="451" name="Rectangle 12"/>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Hela kedjan prövas – ett godkänt resultat visar om lösningen är lämplig att utveckla vidare, inte att den är klar för produktion.</a:t>
            </a:r>
            <a:endParaRPr sz="1500" b="1">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Title 1"/>
          <p:cNvSpPr>
            <a:spLocks noGrp="1"/>
          </p:cNvSpPr>
          <p:nvPr>
            <p:ph type="title"/>
          </p:nvPr>
        </p:nvSpPr>
        <p:spPr/>
        <p:txBody>
          <a:bodyPr/>
          <a:lstStyle/>
          <a:p>
            <a:r>
              <a:rPr/>
              <a:t>Avgränsning: vad ingår?</a:t>
            </a:r>
          </a:p>
        </p:txBody>
      </p:sp>
      <p:sp>
        <p:nvSpPr>
          <p:cNvPr id="454" name="Rectangle 2"/>
          <p:cNvSpPr/>
          <p:nvPr/>
        </p:nvSpPr>
        <p:spPr>
          <a:xfrm>
            <a:off x="762000" y="1727200"/>
            <a:ext cx="5207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5" name="Oval 3"/>
          <p:cNvSpPr/>
          <p:nvPr/>
        </p:nvSpPr>
        <p:spPr>
          <a:xfrm>
            <a:off x="965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a:t>
            </a:r>
            <a:endParaRPr sz="1600" b="1">
              <a:solidFill>
                <a:srgbClr val="FFFFFF"/>
              </a:solidFill>
            </a:endParaRPr>
          </a:p>
        </p:txBody>
      </p:sp>
      <p:sp>
        <p:nvSpPr>
          <p:cNvPr id="456" name="TextBox 4"/>
          <p:cNvSpPr txBox="1"/>
          <p:nvPr/>
        </p:nvSpPr>
        <p:spPr>
          <a:xfrm>
            <a:off x="1574800" y="1879600"/>
            <a:ext cx="4241800" cy="365760"/>
          </a:xfrm>
          <a:prstGeom prst="rect">
            <a:avLst/>
          </a:prstGeom>
        </p:spPr>
        <p:txBody>
          <a:bodyPr wrap="square" anchor="t">
            <a:noAutofit/>
          </a:bodyPr>
          <a:lstStyle/>
          <a:p>
            <a:pPr algn="l">
              <a:spcAft>
                <a:spcPts val="400"/>
              </a:spcAft>
            </a:pPr>
            <a:r>
              <a:rPr sz="1600" b="1">
                <a:solidFill>
                  <a:srgbClr val="11222F"/>
                </a:solidFill>
              </a:rPr>
              <a:t>Ingår i piloten</a:t>
            </a:r>
            <a:endParaRPr sz="1600" b="1">
              <a:solidFill>
                <a:srgbClr val="11222F"/>
              </a:solidFill>
            </a:endParaRPr>
          </a:p>
        </p:txBody>
      </p:sp>
      <p:sp>
        <p:nvSpPr>
          <p:cNvPr id="457" name="TextBox 5"/>
          <p:cNvSpPr txBox="1"/>
          <p:nvPr/>
        </p:nvSpPr>
        <p:spPr>
          <a:xfrm>
            <a:off x="965200" y="2438400"/>
            <a:ext cx="4800600" cy="338328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Ett mindre museum med ett avgränsat urval digitala objekt</a:t>
            </a:r>
            <a:endParaRPr sz="1500" b="0">
              <a:solidFill>
                <a:srgbClr val="11222F"/>
              </a:solidFill>
            </a:endParaRPr>
          </a:p>
          <a:p>
            <a:pPr marL="177800" indent="-177800" algn="l">
              <a:spcAft>
                <a:spcPts val="400"/>
              </a:spcAft>
              <a:buClr>
                <a:srgbClr val="1B7DA3"/>
              </a:buClr>
              <a:buChar char="•"/>
            </a:pPr>
            <a:r>
              <a:rPr sz="1500" b="0">
                <a:solidFill>
                  <a:srgbClr val="11222F"/>
                </a:solidFill>
              </a:rPr>
              <a:t>Test av hela kedjan Primus → RODA-in → RODA → lagring</a:t>
            </a:r>
            <a:endParaRPr sz="1500" b="0">
              <a:solidFill>
                <a:srgbClr val="11222F"/>
              </a:solidFill>
            </a:endParaRPr>
          </a:p>
          <a:p>
            <a:pPr marL="177800" indent="-177800" algn="l">
              <a:spcAft>
                <a:spcPts val="400"/>
              </a:spcAft>
              <a:buClr>
                <a:srgbClr val="1B7DA3"/>
              </a:buClr>
              <a:buChar char="•"/>
            </a:pPr>
            <a:r>
              <a:rPr sz="1500" b="0">
                <a:solidFill>
                  <a:srgbClr val="11222F"/>
                </a:solidFill>
              </a:rPr>
              <a:t>Principer för urval, prioritering och eventuell gallring</a:t>
            </a:r>
            <a:endParaRPr sz="1500" b="0">
              <a:solidFill>
                <a:srgbClr val="11222F"/>
              </a:solidFill>
            </a:endParaRPr>
          </a:p>
          <a:p>
            <a:pPr marL="177800" indent="-177800" algn="l">
              <a:spcAft>
                <a:spcPts val="400"/>
              </a:spcAft>
              <a:buClr>
                <a:srgbClr val="1B7DA3"/>
              </a:buClr>
              <a:buChar char="•"/>
            </a:pPr>
            <a:r>
              <a:rPr sz="1500" b="0">
                <a:solidFill>
                  <a:srgbClr val="11222F"/>
                </a:solidFill>
              </a:rPr>
              <a:t>Metadatamappning mot Cesars RODA-specifikation</a:t>
            </a:r>
            <a:endParaRPr sz="1500" b="0">
              <a:solidFill>
                <a:srgbClr val="11222F"/>
              </a:solidFill>
            </a:endParaRPr>
          </a:p>
          <a:p>
            <a:pPr marL="177800" indent="-177800" algn="l">
              <a:spcAft>
                <a:spcPts val="400"/>
              </a:spcAft>
              <a:buClr>
                <a:srgbClr val="1B7DA3"/>
              </a:buClr>
              <a:buChar char="•"/>
            </a:pPr>
            <a:r>
              <a:rPr sz="1500" b="0">
                <a:solidFill>
                  <a:srgbClr val="11222F"/>
                </a:solidFill>
              </a:rPr>
              <a:t>Rutiner för nyregistrering och äldre material</a:t>
            </a:r>
            <a:endParaRPr sz="1500" b="0">
              <a:solidFill>
                <a:srgbClr val="11222F"/>
              </a:solidFill>
            </a:endParaRPr>
          </a:p>
          <a:p>
            <a:pPr marL="177800" indent="-177800" algn="l">
              <a:spcAft>
                <a:spcPts val="400"/>
              </a:spcAft>
              <a:buClr>
                <a:srgbClr val="1B7DA3"/>
              </a:buClr>
              <a:buChar char="•"/>
            </a:pPr>
            <a:r>
              <a:rPr sz="1500" b="0">
                <a:solidFill>
                  <a:srgbClr val="11222F"/>
                </a:solidFill>
              </a:rPr>
              <a:t>Underlag för kostnader, drift och förvaltning</a:t>
            </a:r>
            <a:endParaRPr sz="1500" b="0">
              <a:solidFill>
                <a:srgbClr val="11222F"/>
              </a:solidFill>
            </a:endParaRPr>
          </a:p>
        </p:txBody>
      </p:sp>
      <p:sp>
        <p:nvSpPr>
          <p:cNvPr id="458" name="Rectangle 6"/>
          <p:cNvSpPr/>
          <p:nvPr/>
        </p:nvSpPr>
        <p:spPr>
          <a:xfrm>
            <a:off x="6223000" y="1727200"/>
            <a:ext cx="5207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9" name="Oval 7"/>
          <p:cNvSpPr/>
          <p:nvPr/>
        </p:nvSpPr>
        <p:spPr>
          <a:xfrm>
            <a:off x="6426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a:t>
            </a:r>
            <a:endParaRPr sz="1600" b="1">
              <a:solidFill>
                <a:srgbClr val="FFFFFF"/>
              </a:solidFill>
            </a:endParaRPr>
          </a:p>
        </p:txBody>
      </p:sp>
      <p:sp>
        <p:nvSpPr>
          <p:cNvPr id="460" name="TextBox 8"/>
          <p:cNvSpPr txBox="1"/>
          <p:nvPr/>
        </p:nvSpPr>
        <p:spPr>
          <a:xfrm>
            <a:off x="7035800" y="1879600"/>
            <a:ext cx="4241800" cy="365760"/>
          </a:xfrm>
          <a:prstGeom prst="rect">
            <a:avLst/>
          </a:prstGeom>
        </p:spPr>
        <p:txBody>
          <a:bodyPr wrap="square" anchor="t">
            <a:noAutofit/>
          </a:bodyPr>
          <a:lstStyle/>
          <a:p>
            <a:pPr algn="l">
              <a:spcAft>
                <a:spcPts val="400"/>
              </a:spcAft>
            </a:pPr>
            <a:r>
              <a:rPr sz="1600" b="1">
                <a:solidFill>
                  <a:srgbClr val="11222F"/>
                </a:solidFill>
              </a:rPr>
              <a:t>Ingår inte i piloten</a:t>
            </a:r>
            <a:endParaRPr sz="1600" b="1">
              <a:solidFill>
                <a:srgbClr val="11222F"/>
              </a:solidFill>
            </a:endParaRPr>
          </a:p>
        </p:txBody>
      </p:sp>
      <p:sp>
        <p:nvSpPr>
          <p:cNvPr id="461" name="TextBox 9"/>
          <p:cNvSpPr txBox="1"/>
          <p:nvPr/>
        </p:nvSpPr>
        <p:spPr>
          <a:xfrm>
            <a:off x="6426200" y="2438400"/>
            <a:ext cx="4800600" cy="283464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Migrering av alla museers digitala samlingar</a:t>
            </a:r>
            <a:endParaRPr sz="1500" b="0">
              <a:solidFill>
                <a:srgbClr val="11222F"/>
              </a:solidFill>
            </a:endParaRPr>
          </a:p>
          <a:p>
            <a:pPr marL="177800" indent="-177800" algn="l">
              <a:spcAft>
                <a:spcPts val="400"/>
              </a:spcAft>
              <a:buClr>
                <a:srgbClr val="1B7DA3"/>
              </a:buClr>
              <a:buChar char="•"/>
            </a:pPr>
            <a:r>
              <a:rPr sz="1500" b="0">
                <a:solidFill>
                  <a:srgbClr val="11222F"/>
                </a:solidFill>
              </a:rPr>
              <a:t>Fullskalig produktionsdrift för hela Kulturförvaltningen</a:t>
            </a:r>
            <a:endParaRPr sz="1500" b="0">
              <a:solidFill>
                <a:srgbClr val="11222F"/>
              </a:solidFill>
            </a:endParaRPr>
          </a:p>
          <a:p>
            <a:pPr marL="177800" indent="-177800" algn="l">
              <a:spcAft>
                <a:spcPts val="400"/>
              </a:spcAft>
              <a:buClr>
                <a:srgbClr val="1B7DA3"/>
              </a:buClr>
              <a:buChar char="•"/>
            </a:pPr>
            <a:r>
              <a:rPr sz="1500" b="0">
                <a:solidFill>
                  <a:srgbClr val="11222F"/>
                </a:solidFill>
              </a:rPr>
              <a:t>Slutlig gallring av befintliga samlingar utan behöriga och dokumenterade beslut</a:t>
            </a:r>
            <a:endParaRPr sz="1500" b="0">
              <a:solidFill>
                <a:srgbClr val="11222F"/>
              </a:solidFill>
            </a:endParaRPr>
          </a:p>
          <a:p>
            <a:pPr marL="177800" indent="-177800" algn="l">
              <a:spcAft>
                <a:spcPts val="400"/>
              </a:spcAft>
              <a:buClr>
                <a:srgbClr val="1B7DA3"/>
              </a:buClr>
              <a:buChar char="•"/>
            </a:pPr>
            <a:r>
              <a:rPr sz="1500" b="0">
                <a:solidFill>
                  <a:srgbClr val="11222F"/>
                </a:solidFill>
              </a:rPr>
              <a:t>Utveckling av en helt ny bevarandeplattform</a:t>
            </a:r>
            <a:endParaRPr sz="1500" b="0">
              <a:solidFill>
                <a:srgbClr val="11222F"/>
              </a:solidFill>
            </a:endParaRPr>
          </a:p>
          <a:p>
            <a:pPr marL="177800" indent="-177800" algn="l">
              <a:spcAft>
                <a:spcPts val="400"/>
              </a:spcAft>
              <a:buClr>
                <a:srgbClr val="1B7DA3"/>
              </a:buClr>
              <a:buChar char="•"/>
            </a:pPr>
            <a:r>
              <a:rPr sz="1500" b="0">
                <a:solidFill>
                  <a:srgbClr val="11222F"/>
                </a:solidFill>
              </a:rPr>
              <a:t>Slutligt beslut om långsiktig förvaltningsorganisation</a:t>
            </a:r>
            <a:endParaRPr sz="1500" b="0">
              <a:solidFill>
                <a:srgbClr val="11222F"/>
              </a:solidFill>
            </a:endParaRPr>
          </a:p>
        </p:txBody>
      </p:sp>
      <p:sp>
        <p:nvSpPr>
          <p:cNvPr id="462" name="Rectangle 10"/>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Vilka filtyper och objekt som ingår fastställs i Fas 2.</a:t>
            </a:r>
            <a:endParaRPr sz="1500" b="1">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Title 1"/>
          <p:cNvSpPr>
            <a:spLocks noGrp="1"/>
          </p:cNvSpPr>
          <p:nvPr>
            <p:ph type="title"/>
          </p:nvPr>
        </p:nvSpPr>
        <p:spPr/>
        <p:txBody>
          <a:bodyPr/>
          <a:lstStyle/>
          <a:p>
            <a:r>
              <a:rPr/>
              <a:t>Projektstart: förutsättningar</a:t>
            </a:r>
          </a:p>
        </p:txBody>
      </p:sp>
      <p:sp>
        <p:nvSpPr>
          <p:cNvPr id="465" name="Rectangle 2"/>
          <p:cNvSpPr/>
          <p:nvPr/>
        </p:nvSpPr>
        <p:spPr>
          <a:xfrm>
            <a:off x="762000" y="1727200"/>
            <a:ext cx="3429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66" name="Oval 3"/>
          <p:cNvSpPr/>
          <p:nvPr/>
        </p:nvSpPr>
        <p:spPr>
          <a:xfrm>
            <a:off x="965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1</a:t>
            </a:r>
            <a:endParaRPr sz="1600" b="1">
              <a:solidFill>
                <a:srgbClr val="FFFFFF"/>
              </a:solidFill>
            </a:endParaRPr>
          </a:p>
        </p:txBody>
      </p:sp>
      <p:sp>
        <p:nvSpPr>
          <p:cNvPr id="467" name="TextBox 4"/>
          <p:cNvSpPr txBox="1"/>
          <p:nvPr/>
        </p:nvSpPr>
        <p:spPr>
          <a:xfrm>
            <a:off x="1574800" y="1879600"/>
            <a:ext cx="2463800" cy="365760"/>
          </a:xfrm>
          <a:prstGeom prst="rect">
            <a:avLst/>
          </a:prstGeom>
        </p:spPr>
        <p:txBody>
          <a:bodyPr wrap="square" anchor="t">
            <a:noAutofit/>
          </a:bodyPr>
          <a:lstStyle/>
          <a:p>
            <a:pPr algn="l">
              <a:spcAft>
                <a:spcPts val="400"/>
              </a:spcAft>
            </a:pPr>
            <a:r>
              <a:rPr sz="1600" b="1">
                <a:solidFill>
                  <a:srgbClr val="11222F"/>
                </a:solidFill>
              </a:rPr>
              <a:t>Miljö och styrning</a:t>
            </a:r>
            <a:endParaRPr sz="1600" b="1">
              <a:solidFill>
                <a:srgbClr val="11222F"/>
              </a:solidFill>
            </a:endParaRPr>
          </a:p>
        </p:txBody>
      </p:sp>
      <p:sp>
        <p:nvSpPr>
          <p:cNvPr id="468" name="TextBox 5"/>
          <p:cNvSpPr txBox="1"/>
          <p:nvPr/>
        </p:nvSpPr>
        <p:spPr>
          <a:xfrm>
            <a:off x="1574800" y="2159000"/>
            <a:ext cx="2463800" cy="640080"/>
          </a:xfrm>
          <a:prstGeom prst="rect">
            <a:avLst/>
          </a:prstGeom>
        </p:spPr>
        <p:txBody>
          <a:bodyPr wrap="square" anchor="t">
            <a:noAutofit/>
          </a:bodyPr>
          <a:lstStyle/>
          <a:p>
            <a:pPr algn="l">
              <a:spcAft>
                <a:spcPts val="400"/>
              </a:spcAft>
            </a:pPr>
            <a:r>
              <a:rPr sz="1100" b="0">
                <a:solidFill>
                  <a:srgbClr val="51636F"/>
                </a:solidFill>
              </a:rPr>
              <a:t>KUB-projektet med KSD</a:t>
            </a:r>
            <a:endParaRPr sz="1100" b="0">
              <a:solidFill>
                <a:srgbClr val="51636F"/>
              </a:solidFill>
            </a:endParaRPr>
          </a:p>
        </p:txBody>
      </p:sp>
      <p:sp>
        <p:nvSpPr>
          <p:cNvPr id="469" name="TextBox 6"/>
          <p:cNvSpPr txBox="1"/>
          <p:nvPr/>
        </p:nvSpPr>
        <p:spPr>
          <a:xfrm>
            <a:off x="965200" y="2540000"/>
            <a:ext cx="3022600" cy="256032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Server- och lagringsmiljö etablerad och dokumenterad</a:t>
            </a:r>
            <a:endParaRPr sz="1500" b="0">
              <a:solidFill>
                <a:srgbClr val="11222F"/>
              </a:solidFill>
            </a:endParaRPr>
          </a:p>
          <a:p>
            <a:pPr marL="177800" indent="-177800" algn="l">
              <a:spcAft>
                <a:spcPts val="400"/>
              </a:spcAft>
              <a:buClr>
                <a:srgbClr val="1B7DA3"/>
              </a:buClr>
              <a:buChar char="•"/>
            </a:pPr>
            <a:r>
              <a:rPr sz="1500" b="0">
                <a:solidFill>
                  <a:srgbClr val="11222F"/>
                </a:solidFill>
              </a:rPr>
              <a:t>Behörighetsmodell fastställd</a:t>
            </a:r>
            <a:endParaRPr sz="1500" b="0">
              <a:solidFill>
                <a:srgbClr val="11222F"/>
              </a:solidFill>
            </a:endParaRPr>
          </a:p>
          <a:p>
            <a:pPr marL="177800" indent="-177800" algn="l">
              <a:spcAft>
                <a:spcPts val="400"/>
              </a:spcAft>
              <a:buClr>
                <a:srgbClr val="1B7DA3"/>
              </a:buClr>
              <a:buChar char="•"/>
            </a:pPr>
            <a:r>
              <a:rPr sz="1500" b="0">
                <a:solidFill>
                  <a:srgbClr val="11222F"/>
                </a:solidFill>
              </a:rPr>
              <a:t>Projektdirektiv fastställt</a:t>
            </a:r>
            <a:endParaRPr sz="1500" b="0">
              <a:solidFill>
                <a:srgbClr val="11222F"/>
              </a:solidFill>
            </a:endParaRPr>
          </a:p>
          <a:p>
            <a:pPr marL="177800" indent="-177800" algn="l">
              <a:spcAft>
                <a:spcPts val="400"/>
              </a:spcAft>
              <a:buClr>
                <a:srgbClr val="1B7DA3"/>
              </a:buClr>
              <a:buChar char="•"/>
            </a:pPr>
            <a:r>
              <a:rPr sz="1500" b="0">
                <a:solidFill>
                  <a:srgbClr val="11222F"/>
                </a:solidFill>
              </a:rPr>
              <a:t>Cesars RODA-specifikation tillgänglig och versionsangiven</a:t>
            </a:r>
            <a:endParaRPr sz="1500" b="0">
              <a:solidFill>
                <a:srgbClr val="11222F"/>
              </a:solidFill>
            </a:endParaRPr>
          </a:p>
        </p:txBody>
      </p:sp>
      <p:sp>
        <p:nvSpPr>
          <p:cNvPr id="470" name="Rectangle 7"/>
          <p:cNvSpPr/>
          <p:nvPr/>
        </p:nvSpPr>
        <p:spPr>
          <a:xfrm>
            <a:off x="4381500" y="1727200"/>
            <a:ext cx="3429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1" name="Oval 8"/>
          <p:cNvSpPr/>
          <p:nvPr/>
        </p:nvSpPr>
        <p:spPr>
          <a:xfrm>
            <a:off x="45847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2</a:t>
            </a:r>
            <a:endParaRPr sz="1600" b="1">
              <a:solidFill>
                <a:srgbClr val="FFFFFF"/>
              </a:solidFill>
            </a:endParaRPr>
          </a:p>
        </p:txBody>
      </p:sp>
      <p:sp>
        <p:nvSpPr>
          <p:cNvPr id="472" name="TextBox 9"/>
          <p:cNvSpPr txBox="1"/>
          <p:nvPr/>
        </p:nvSpPr>
        <p:spPr>
          <a:xfrm>
            <a:off x="5194300" y="1879600"/>
            <a:ext cx="2463800" cy="365760"/>
          </a:xfrm>
          <a:prstGeom prst="rect">
            <a:avLst/>
          </a:prstGeom>
        </p:spPr>
        <p:txBody>
          <a:bodyPr wrap="square" anchor="t">
            <a:noAutofit/>
          </a:bodyPr>
          <a:lstStyle/>
          <a:p>
            <a:pPr algn="l">
              <a:spcAft>
                <a:spcPts val="400"/>
              </a:spcAft>
            </a:pPr>
            <a:r>
              <a:rPr sz="1600" b="1">
                <a:solidFill>
                  <a:srgbClr val="11222F"/>
                </a:solidFill>
              </a:rPr>
              <a:t>Resurser</a:t>
            </a:r>
            <a:endParaRPr sz="1600" b="1">
              <a:solidFill>
                <a:srgbClr val="11222F"/>
              </a:solidFill>
            </a:endParaRPr>
          </a:p>
        </p:txBody>
      </p:sp>
      <p:sp>
        <p:nvSpPr>
          <p:cNvPr id="473" name="TextBox 10"/>
          <p:cNvSpPr txBox="1"/>
          <p:nvPr/>
        </p:nvSpPr>
        <p:spPr>
          <a:xfrm>
            <a:off x="5194300" y="2159000"/>
            <a:ext cx="2463800" cy="640080"/>
          </a:xfrm>
          <a:prstGeom prst="rect">
            <a:avLst/>
          </a:prstGeom>
        </p:spPr>
        <p:txBody>
          <a:bodyPr wrap="square" anchor="t">
            <a:noAutofit/>
          </a:bodyPr>
          <a:lstStyle/>
          <a:p>
            <a:pPr algn="l">
              <a:spcAft>
                <a:spcPts val="400"/>
              </a:spcAft>
            </a:pPr>
            <a:r>
              <a:rPr sz="1100" b="0">
                <a:solidFill>
                  <a:srgbClr val="51636F"/>
                </a:solidFill>
              </a:rPr>
              <a:t>KUB-projektet och NOK</a:t>
            </a:r>
            <a:endParaRPr sz="1100" b="0">
              <a:solidFill>
                <a:srgbClr val="51636F"/>
              </a:solidFill>
            </a:endParaRPr>
          </a:p>
        </p:txBody>
      </p:sp>
      <p:sp>
        <p:nvSpPr>
          <p:cNvPr id="474" name="TextBox 11"/>
          <p:cNvSpPr txBox="1"/>
          <p:nvPr/>
        </p:nvSpPr>
        <p:spPr>
          <a:xfrm>
            <a:off x="4584700" y="2540000"/>
            <a:ext cx="3022600" cy="283464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Finansiering för 2027 säkrad (projektledare och drift av miljön)</a:t>
            </a:r>
            <a:endParaRPr sz="1500" b="0">
              <a:solidFill>
                <a:srgbClr val="11222F"/>
              </a:solidFill>
            </a:endParaRPr>
          </a:p>
          <a:p>
            <a:pPr marL="177800" indent="-177800" algn="l">
              <a:spcAft>
                <a:spcPts val="400"/>
              </a:spcAft>
              <a:buClr>
                <a:srgbClr val="1B7DA3"/>
              </a:buClr>
              <a:buChar char="•"/>
            </a:pPr>
            <a:r>
              <a:rPr sz="1500" b="0">
                <a:solidFill>
                  <a:srgbClr val="11222F"/>
                </a:solidFill>
              </a:rPr>
              <a:t>Projektledare för verksamhetsspåret utsedd</a:t>
            </a:r>
            <a:endParaRPr sz="1500" b="0">
              <a:solidFill>
                <a:srgbClr val="11222F"/>
              </a:solidFill>
            </a:endParaRPr>
          </a:p>
          <a:p>
            <a:pPr marL="177800" indent="-177800" algn="l">
              <a:spcAft>
                <a:spcPts val="400"/>
              </a:spcAft>
              <a:buClr>
                <a:srgbClr val="1B7DA3"/>
              </a:buClr>
              <a:buChar char="•"/>
            </a:pPr>
            <a:r>
              <a:rPr sz="1500" b="0">
                <a:solidFill>
                  <a:srgbClr val="11222F"/>
                </a:solidFill>
              </a:rPr>
              <a:t>Pilotmuseum valt, projektgrupp med namngivna deltagare och avsatt tid</a:t>
            </a:r>
            <a:endParaRPr sz="1500" b="0">
              <a:solidFill>
                <a:srgbClr val="11222F"/>
              </a:solidFill>
            </a:endParaRPr>
          </a:p>
        </p:txBody>
      </p:sp>
      <p:sp>
        <p:nvSpPr>
          <p:cNvPr id="475" name="Rectangle 12"/>
          <p:cNvSpPr/>
          <p:nvPr/>
        </p:nvSpPr>
        <p:spPr>
          <a:xfrm>
            <a:off x="8001000" y="1727200"/>
            <a:ext cx="3429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6" name="Oval 13"/>
          <p:cNvSpPr/>
          <p:nvPr/>
        </p:nvSpPr>
        <p:spPr>
          <a:xfrm>
            <a:off x="8204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3</a:t>
            </a:r>
            <a:endParaRPr sz="1600" b="1">
              <a:solidFill>
                <a:srgbClr val="FFFFFF"/>
              </a:solidFill>
            </a:endParaRPr>
          </a:p>
        </p:txBody>
      </p:sp>
      <p:sp>
        <p:nvSpPr>
          <p:cNvPr id="477" name="TextBox 14"/>
          <p:cNvSpPr txBox="1"/>
          <p:nvPr/>
        </p:nvSpPr>
        <p:spPr>
          <a:xfrm>
            <a:off x="8813800" y="1879600"/>
            <a:ext cx="2463800" cy="365760"/>
          </a:xfrm>
          <a:prstGeom prst="rect">
            <a:avLst/>
          </a:prstGeom>
        </p:spPr>
        <p:txBody>
          <a:bodyPr wrap="square" anchor="t">
            <a:noAutofit/>
          </a:bodyPr>
          <a:lstStyle/>
          <a:p>
            <a:pPr algn="l">
              <a:spcAft>
                <a:spcPts val="400"/>
              </a:spcAft>
            </a:pPr>
            <a:r>
              <a:rPr sz="1600" b="1">
                <a:solidFill>
                  <a:srgbClr val="11222F"/>
                </a:solidFill>
              </a:rPr>
              <a:t>Underlag</a:t>
            </a:r>
            <a:endParaRPr sz="1600" b="1">
              <a:solidFill>
                <a:srgbClr val="11222F"/>
              </a:solidFill>
            </a:endParaRPr>
          </a:p>
        </p:txBody>
      </p:sp>
      <p:sp>
        <p:nvSpPr>
          <p:cNvPr id="478" name="TextBox 15"/>
          <p:cNvSpPr txBox="1"/>
          <p:nvPr/>
        </p:nvSpPr>
        <p:spPr>
          <a:xfrm>
            <a:off x="8813800" y="2159000"/>
            <a:ext cx="2463800" cy="640080"/>
          </a:xfrm>
          <a:prstGeom prst="rect">
            <a:avLst/>
          </a:prstGeom>
        </p:spPr>
        <p:txBody>
          <a:bodyPr wrap="square" anchor="t">
            <a:noAutofit/>
          </a:bodyPr>
          <a:lstStyle/>
          <a:p>
            <a:pPr algn="l">
              <a:spcAft>
                <a:spcPts val="400"/>
              </a:spcAft>
            </a:pPr>
            <a:r>
              <a:rPr sz="1100" b="0">
                <a:solidFill>
                  <a:srgbClr val="51636F"/>
                </a:solidFill>
              </a:rPr>
              <a:t>Verksamheten med KUB-projektet</a:t>
            </a:r>
            <a:endParaRPr sz="1100" b="0">
              <a:solidFill>
                <a:srgbClr val="51636F"/>
              </a:solidFill>
            </a:endParaRPr>
          </a:p>
        </p:txBody>
      </p:sp>
      <p:sp>
        <p:nvSpPr>
          <p:cNvPr id="479" name="TextBox 16"/>
          <p:cNvSpPr txBox="1"/>
          <p:nvPr/>
        </p:nvSpPr>
        <p:spPr>
          <a:xfrm>
            <a:off x="8204200" y="2540000"/>
            <a:ext cx="3022600" cy="173736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Informationsklassning och bedömning av personuppgifter gjorda för pilotmaterialet</a:t>
            </a:r>
            <a:endParaRPr sz="1500" b="0">
              <a:solidFill>
                <a:srgbClr val="11222F"/>
              </a:solidFill>
            </a:endParaRPr>
          </a:p>
          <a:p>
            <a:pPr marL="177800" indent="-177800" algn="l">
              <a:spcAft>
                <a:spcPts val="400"/>
              </a:spcAft>
              <a:buClr>
                <a:srgbClr val="1B7DA3"/>
              </a:buClr>
              <a:buChar char="•"/>
            </a:pPr>
            <a:r>
              <a:rPr sz="1500" b="0">
                <a:solidFill>
                  <a:srgbClr val="11222F"/>
                </a:solidFill>
              </a:rPr>
              <a:t>Utvärderingskriterier fastställda</a:t>
            </a:r>
            <a:endParaRPr sz="1500" b="0">
              <a:solidFill>
                <a:srgbClr val="11222F"/>
              </a:solidFill>
            </a:endParaRPr>
          </a:p>
        </p:txBody>
      </p:sp>
      <p:sp>
        <p:nvSpPr>
          <p:cNvPr id="480" name="Rectangle 17"/>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Förutsättningarna ska vara uppfyllda innan verksamhetsdelen startar. KUB-projektet redovisar status för ledningsgruppen.</a:t>
            </a:r>
            <a:endParaRPr sz="1500" b="1">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 name="Title 1"/>
          <p:cNvSpPr>
            <a:spLocks noGrp="1"/>
          </p:cNvSpPr>
          <p:nvPr>
            <p:ph type="title"/>
          </p:nvPr>
        </p:nvSpPr>
        <p:spPr/>
        <p:txBody>
          <a:bodyPr/>
          <a:lstStyle/>
          <a:p>
            <a:r>
              <a:rPr/>
              <a:t>Genomförande i två parallella spår</a:t>
            </a:r>
          </a:p>
        </p:txBody>
      </p:sp>
      <p:sp>
        <p:nvSpPr>
          <p:cNvPr id="483" name="Rectangle 2"/>
          <p:cNvSpPr/>
          <p:nvPr/>
        </p:nvSpPr>
        <p:spPr>
          <a:xfrm>
            <a:off x="762000" y="1727200"/>
            <a:ext cx="5207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4" name="Oval 3"/>
          <p:cNvSpPr/>
          <p:nvPr/>
        </p:nvSpPr>
        <p:spPr>
          <a:xfrm>
            <a:off x="965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T</a:t>
            </a:r>
            <a:endParaRPr sz="1600" b="1">
              <a:solidFill>
                <a:srgbClr val="FFFFFF"/>
              </a:solidFill>
            </a:endParaRPr>
          </a:p>
        </p:txBody>
      </p:sp>
      <p:sp>
        <p:nvSpPr>
          <p:cNvPr id="485" name="TextBox 4"/>
          <p:cNvSpPr txBox="1"/>
          <p:nvPr/>
        </p:nvSpPr>
        <p:spPr>
          <a:xfrm>
            <a:off x="1574800" y="1879600"/>
            <a:ext cx="4241800" cy="365760"/>
          </a:xfrm>
          <a:prstGeom prst="rect">
            <a:avLst/>
          </a:prstGeom>
        </p:spPr>
        <p:txBody>
          <a:bodyPr wrap="square" anchor="t">
            <a:noAutofit/>
          </a:bodyPr>
          <a:lstStyle/>
          <a:p>
            <a:pPr algn="l">
              <a:spcAft>
                <a:spcPts val="400"/>
              </a:spcAft>
            </a:pPr>
            <a:r>
              <a:rPr sz="1600" b="1">
                <a:solidFill>
                  <a:srgbClr val="11222F"/>
                </a:solidFill>
              </a:rPr>
              <a:t>Tekniskt spår</a:t>
            </a:r>
            <a:endParaRPr sz="1600" b="1">
              <a:solidFill>
                <a:srgbClr val="11222F"/>
              </a:solidFill>
            </a:endParaRPr>
          </a:p>
        </p:txBody>
      </p:sp>
      <p:sp>
        <p:nvSpPr>
          <p:cNvPr id="486" name="TextBox 5"/>
          <p:cNvSpPr txBox="1"/>
          <p:nvPr/>
        </p:nvSpPr>
        <p:spPr>
          <a:xfrm>
            <a:off x="1574800" y="2159000"/>
            <a:ext cx="4241800" cy="365760"/>
          </a:xfrm>
          <a:prstGeom prst="rect">
            <a:avLst/>
          </a:prstGeom>
        </p:spPr>
        <p:txBody>
          <a:bodyPr wrap="square" anchor="t">
            <a:noAutofit/>
          </a:bodyPr>
          <a:lstStyle/>
          <a:p>
            <a:pPr algn="l">
              <a:spcAft>
                <a:spcPts val="400"/>
              </a:spcAft>
            </a:pPr>
            <a:r>
              <a:rPr sz="1100" b="0">
                <a:solidFill>
                  <a:srgbClr val="51636F"/>
                </a:solidFill>
              </a:rPr>
              <a:t>KUB-projektet med infrastruktur/KSD</a:t>
            </a:r>
            <a:endParaRPr sz="1100" b="0">
              <a:solidFill>
                <a:srgbClr val="51636F"/>
              </a:solidFill>
            </a:endParaRPr>
          </a:p>
        </p:txBody>
      </p:sp>
      <p:sp>
        <p:nvSpPr>
          <p:cNvPr id="487" name="TextBox 6"/>
          <p:cNvSpPr txBox="1"/>
          <p:nvPr/>
        </p:nvSpPr>
        <p:spPr>
          <a:xfrm>
            <a:off x="965200" y="2540000"/>
            <a:ext cx="4800600" cy="283464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Fastställa arkitektur med utgångspunkt i Cesars miljö</a:t>
            </a:r>
            <a:endParaRPr sz="1500" b="0">
              <a:solidFill>
                <a:srgbClr val="11222F"/>
              </a:solidFill>
            </a:endParaRPr>
          </a:p>
          <a:p>
            <a:pPr marL="177800" indent="-177800" algn="l">
              <a:spcAft>
                <a:spcPts val="400"/>
              </a:spcAft>
              <a:buClr>
                <a:srgbClr val="1B7DA3"/>
              </a:buClr>
              <a:buChar char="•"/>
            </a:pPr>
            <a:r>
              <a:rPr sz="1500" b="0">
                <a:solidFill>
                  <a:srgbClr val="11222F"/>
                </a:solidFill>
              </a:rPr>
              <a:t>Installera och konfigurera RODA och RODA-in</a:t>
            </a:r>
            <a:endParaRPr sz="1500" b="0">
              <a:solidFill>
                <a:srgbClr val="11222F"/>
              </a:solidFill>
            </a:endParaRPr>
          </a:p>
          <a:p>
            <a:pPr marL="177800" indent="-177800" algn="l">
              <a:spcAft>
                <a:spcPts val="400"/>
              </a:spcAft>
              <a:buClr>
                <a:srgbClr val="1B7DA3"/>
              </a:buClr>
              <a:buChar char="•"/>
            </a:pPr>
            <a:r>
              <a:rPr sz="1500" b="0">
                <a:solidFill>
                  <a:srgbClr val="11222F"/>
                </a:solidFill>
              </a:rPr>
              <a:t>Utreda integrationen Primus – RODA-in – RODA</a:t>
            </a:r>
            <a:endParaRPr sz="1500" b="0">
              <a:solidFill>
                <a:srgbClr val="11222F"/>
              </a:solidFill>
            </a:endParaRPr>
          </a:p>
          <a:p>
            <a:pPr marL="177800" indent="-177800" algn="l">
              <a:spcAft>
                <a:spcPts val="400"/>
              </a:spcAft>
              <a:buClr>
                <a:srgbClr val="1B7DA3"/>
              </a:buClr>
              <a:buChar char="•"/>
            </a:pPr>
            <a:r>
              <a:rPr sz="1500" b="0">
                <a:solidFill>
                  <a:srgbClr val="11222F"/>
                </a:solidFill>
              </a:rPr>
              <a:t>Testa paketering, metadata, integritet och loggning</a:t>
            </a:r>
            <a:endParaRPr sz="1500" b="0">
              <a:solidFill>
                <a:srgbClr val="11222F"/>
              </a:solidFill>
            </a:endParaRPr>
          </a:p>
          <a:p>
            <a:pPr marL="177800" indent="-177800" algn="l">
              <a:spcAft>
                <a:spcPts val="400"/>
              </a:spcAft>
              <a:buClr>
                <a:srgbClr val="1B7DA3"/>
              </a:buClr>
              <a:buChar char="•"/>
            </a:pPr>
            <a:r>
              <a:rPr sz="1500" b="0">
                <a:solidFill>
                  <a:srgbClr val="11222F"/>
                </a:solidFill>
              </a:rPr>
              <a:t>Dokumentera säkerhetskopiering, återställning och beroenden</a:t>
            </a:r>
            <a:endParaRPr sz="1500" b="0">
              <a:solidFill>
                <a:srgbClr val="11222F"/>
              </a:solidFill>
            </a:endParaRPr>
          </a:p>
        </p:txBody>
      </p:sp>
      <p:sp>
        <p:nvSpPr>
          <p:cNvPr id="488" name="Rectangle 7"/>
          <p:cNvSpPr/>
          <p:nvPr/>
        </p:nvSpPr>
        <p:spPr>
          <a:xfrm>
            <a:off x="6223000" y="1727200"/>
            <a:ext cx="5207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9" name="Oval 8"/>
          <p:cNvSpPr/>
          <p:nvPr/>
        </p:nvSpPr>
        <p:spPr>
          <a:xfrm>
            <a:off x="6426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V</a:t>
            </a:r>
            <a:endParaRPr sz="1600" b="1">
              <a:solidFill>
                <a:srgbClr val="FFFFFF"/>
              </a:solidFill>
            </a:endParaRPr>
          </a:p>
        </p:txBody>
      </p:sp>
      <p:sp>
        <p:nvSpPr>
          <p:cNvPr id="490" name="TextBox 9"/>
          <p:cNvSpPr txBox="1"/>
          <p:nvPr/>
        </p:nvSpPr>
        <p:spPr>
          <a:xfrm>
            <a:off x="7035800" y="1879600"/>
            <a:ext cx="4241800" cy="365760"/>
          </a:xfrm>
          <a:prstGeom prst="rect">
            <a:avLst/>
          </a:prstGeom>
        </p:spPr>
        <p:txBody>
          <a:bodyPr wrap="square" anchor="t">
            <a:noAutofit/>
          </a:bodyPr>
          <a:lstStyle/>
          <a:p>
            <a:pPr algn="l">
              <a:spcAft>
                <a:spcPts val="400"/>
              </a:spcAft>
            </a:pPr>
            <a:r>
              <a:rPr sz="1600" b="1">
                <a:solidFill>
                  <a:srgbClr val="11222F"/>
                </a:solidFill>
              </a:rPr>
              <a:t>Verksamhetsspår</a:t>
            </a:r>
            <a:endParaRPr sz="1600" b="1">
              <a:solidFill>
                <a:srgbClr val="11222F"/>
              </a:solidFill>
            </a:endParaRPr>
          </a:p>
        </p:txBody>
      </p:sp>
      <p:sp>
        <p:nvSpPr>
          <p:cNvPr id="491" name="TextBox 10"/>
          <p:cNvSpPr txBox="1"/>
          <p:nvPr/>
        </p:nvSpPr>
        <p:spPr>
          <a:xfrm>
            <a:off x="7035800" y="2159000"/>
            <a:ext cx="4241800" cy="365760"/>
          </a:xfrm>
          <a:prstGeom prst="rect">
            <a:avLst/>
          </a:prstGeom>
        </p:spPr>
        <p:txBody>
          <a:bodyPr wrap="square" anchor="t">
            <a:noAutofit/>
          </a:bodyPr>
          <a:lstStyle/>
          <a:p>
            <a:pPr algn="l">
              <a:spcAft>
                <a:spcPts val="400"/>
              </a:spcAft>
            </a:pPr>
            <a:r>
              <a:rPr sz="1100" b="0">
                <a:solidFill>
                  <a:srgbClr val="51636F"/>
                </a:solidFill>
              </a:rPr>
              <a:t>Pilotmuseet och projektgruppen</a:t>
            </a:r>
            <a:endParaRPr sz="1100" b="0">
              <a:solidFill>
                <a:srgbClr val="51636F"/>
              </a:solidFill>
            </a:endParaRPr>
          </a:p>
        </p:txBody>
      </p:sp>
      <p:sp>
        <p:nvSpPr>
          <p:cNvPr id="492" name="TextBox 11"/>
          <p:cNvSpPr txBox="1"/>
          <p:nvPr/>
        </p:nvSpPr>
        <p:spPr>
          <a:xfrm>
            <a:off x="6426200" y="2540000"/>
            <a:ext cx="4800600" cy="2834640"/>
          </a:xfrm>
          <a:prstGeom prst="rect">
            <a:avLst/>
          </a:prstGeom>
        </p:spPr>
        <p:txBody>
          <a:bodyPr wrap="square" anchor="t">
            <a:noAutofit/>
          </a:bodyPr>
          <a:lstStyle/>
          <a:p>
            <a:pPr marL="177800" indent="-177800" algn="l">
              <a:spcAft>
                <a:spcPts val="400"/>
              </a:spcAft>
              <a:buClr>
                <a:srgbClr val="1B7DA3"/>
              </a:buClr>
              <a:buChar char="•"/>
            </a:pPr>
            <a:r>
              <a:rPr sz="1500" b="0">
                <a:solidFill>
                  <a:srgbClr val="11222F"/>
                </a:solidFill>
              </a:rPr>
              <a:t>Gå igenom samlingsförvaltningsplanen och styrdokument</a:t>
            </a:r>
            <a:endParaRPr sz="1500" b="0">
              <a:solidFill>
                <a:srgbClr val="11222F"/>
              </a:solidFill>
            </a:endParaRPr>
          </a:p>
          <a:p>
            <a:pPr marL="177800" indent="-177800" algn="l">
              <a:spcAft>
                <a:spcPts val="400"/>
              </a:spcAft>
              <a:buClr>
                <a:srgbClr val="1B7DA3"/>
              </a:buClr>
              <a:buChar char="•"/>
            </a:pPr>
            <a:r>
              <a:rPr sz="1500" b="0">
                <a:solidFill>
                  <a:srgbClr val="11222F"/>
                </a:solidFill>
              </a:rPr>
              <a:t>Prioritera objekt och ta fram principer för urval och gallring</a:t>
            </a:r>
            <a:endParaRPr sz="1500" b="0">
              <a:solidFill>
                <a:srgbClr val="11222F"/>
              </a:solidFill>
            </a:endParaRPr>
          </a:p>
          <a:p>
            <a:pPr marL="177800" indent="-177800" algn="l">
              <a:spcAft>
                <a:spcPts val="400"/>
              </a:spcAft>
              <a:buClr>
                <a:srgbClr val="1B7DA3"/>
              </a:buClr>
              <a:buChar char="•"/>
            </a:pPr>
            <a:r>
              <a:rPr sz="1500" b="0">
                <a:solidFill>
                  <a:srgbClr val="11222F"/>
                </a:solidFill>
              </a:rPr>
              <a:t>Identifiera obligatoriska metadata och datakvalitetskrav</a:t>
            </a:r>
            <a:endParaRPr sz="1500" b="0">
              <a:solidFill>
                <a:srgbClr val="11222F"/>
              </a:solidFill>
            </a:endParaRPr>
          </a:p>
          <a:p>
            <a:pPr marL="177800" indent="-177800" algn="l">
              <a:spcAft>
                <a:spcPts val="400"/>
              </a:spcAft>
              <a:buClr>
                <a:srgbClr val="1B7DA3"/>
              </a:buClr>
              <a:buChar char="•"/>
            </a:pPr>
            <a:r>
              <a:rPr sz="1500" b="0">
                <a:solidFill>
                  <a:srgbClr val="11222F"/>
                </a:solidFill>
              </a:rPr>
              <a:t>Bygga vidare på dagens registrering i Primus och testa export</a:t>
            </a:r>
            <a:endParaRPr sz="1500" b="0">
              <a:solidFill>
                <a:srgbClr val="11222F"/>
              </a:solidFill>
            </a:endParaRPr>
          </a:p>
          <a:p>
            <a:pPr marL="177800" indent="-177800" algn="l">
              <a:spcAft>
                <a:spcPts val="400"/>
              </a:spcAft>
              <a:buClr>
                <a:srgbClr val="1B7DA3"/>
              </a:buClr>
              <a:buChar char="•"/>
            </a:pPr>
            <a:r>
              <a:rPr sz="1500" b="0">
                <a:solidFill>
                  <a:srgbClr val="11222F"/>
                </a:solidFill>
              </a:rPr>
              <a:t>Dokumentera ansvar, kvalitetskontroller och avvikelser</a:t>
            </a:r>
            <a:endParaRPr sz="1500" b="0">
              <a:solidFill>
                <a:srgbClr val="11222F"/>
              </a:solidFill>
            </a:endParaRPr>
          </a:p>
        </p:txBody>
      </p:sp>
      <p:sp>
        <p:nvSpPr>
          <p:cNvPr id="493" name="Rectangle 12"/>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Spåren löper parallellt – tekniken ska stödja verksamhetens beslut och arbetssätt, inte ersätta dem.</a:t>
            </a:r>
            <a:endParaRPr sz="1500" b="1">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Title 1"/>
          <p:cNvSpPr>
            <a:spLocks noGrp="1"/>
          </p:cNvSpPr>
          <p:nvPr>
            <p:ph type="title"/>
          </p:nvPr>
        </p:nvSpPr>
        <p:spPr/>
        <p:txBody>
          <a:bodyPr/>
          <a:lstStyle/>
          <a:p>
            <a:r>
              <a:rPr/>
              <a:t>Bevarandekedjan som testas</a:t>
            </a:r>
          </a:p>
        </p:txBody>
      </p:sp>
      <p:sp>
        <p:nvSpPr>
          <p:cNvPr id="496" name="Rectangle 2"/>
          <p:cNvSpPr/>
          <p:nvPr/>
        </p:nvSpPr>
        <p:spPr>
          <a:xfrm>
            <a:off x="762000" y="1651000"/>
            <a:ext cx="3429000" cy="1778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97" name="Oval 3"/>
          <p:cNvSpPr/>
          <p:nvPr/>
        </p:nvSpPr>
        <p:spPr>
          <a:xfrm>
            <a:off x="939800" y="1803400"/>
            <a:ext cx="431800" cy="4318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1</a:t>
            </a:r>
            <a:endParaRPr sz="1500" b="1">
              <a:solidFill>
                <a:srgbClr val="FFFFFF"/>
              </a:solidFill>
            </a:endParaRPr>
          </a:p>
        </p:txBody>
      </p:sp>
      <p:sp>
        <p:nvSpPr>
          <p:cNvPr id="498" name="TextBox 4"/>
          <p:cNvSpPr txBox="1"/>
          <p:nvPr/>
        </p:nvSpPr>
        <p:spPr>
          <a:xfrm>
            <a:off x="1498600" y="1828800"/>
            <a:ext cx="2590800" cy="365760"/>
          </a:xfrm>
          <a:prstGeom prst="rect">
            <a:avLst/>
          </a:prstGeom>
        </p:spPr>
        <p:txBody>
          <a:bodyPr wrap="square" anchor="ctr">
            <a:noAutofit/>
          </a:bodyPr>
          <a:lstStyle/>
          <a:p>
            <a:pPr algn="l">
              <a:spcAft>
                <a:spcPts val="400"/>
              </a:spcAft>
            </a:pPr>
            <a:r>
              <a:rPr sz="1500" b="1">
                <a:solidFill>
                  <a:srgbClr val="11222F"/>
                </a:solidFill>
              </a:rPr>
              <a:t>Primus</a:t>
            </a:r>
            <a:endParaRPr sz="1500" b="1">
              <a:solidFill>
                <a:srgbClr val="11222F"/>
              </a:solidFill>
            </a:endParaRPr>
          </a:p>
        </p:txBody>
      </p:sp>
      <p:sp>
        <p:nvSpPr>
          <p:cNvPr id="499" name="TextBox 5"/>
          <p:cNvSpPr txBox="1"/>
          <p:nvPr/>
        </p:nvSpPr>
        <p:spPr>
          <a:xfrm>
            <a:off x="939800" y="2336800"/>
            <a:ext cx="3098800" cy="914400"/>
          </a:xfrm>
          <a:prstGeom prst="rect">
            <a:avLst/>
          </a:prstGeom>
        </p:spPr>
        <p:txBody>
          <a:bodyPr wrap="square" anchor="t">
            <a:noAutofit/>
          </a:bodyPr>
          <a:lstStyle/>
          <a:p>
            <a:pPr algn="l">
              <a:spcAft>
                <a:spcPts val="400"/>
              </a:spcAft>
            </a:pPr>
            <a:r>
              <a:rPr sz="1200" b="0">
                <a:solidFill>
                  <a:srgbClr val="11222F"/>
                </a:solidFill>
              </a:rPr>
              <a:t>Registrering och urval. Verksamheten beslutar vad som förs över.</a:t>
            </a:r>
            <a:endParaRPr sz="1200" b="0">
              <a:solidFill>
                <a:srgbClr val="11222F"/>
              </a:solidFill>
            </a:endParaRPr>
          </a:p>
        </p:txBody>
      </p:sp>
      <p:sp>
        <p:nvSpPr>
          <p:cNvPr id="500" name="TextBox 6"/>
          <p:cNvSpPr txBox="1"/>
          <p:nvPr/>
        </p:nvSpPr>
        <p:spPr>
          <a:xfrm>
            <a:off x="939800" y="3073400"/>
            <a:ext cx="3098800" cy="365760"/>
          </a:xfrm>
          <a:prstGeom prst="rect">
            <a:avLst/>
          </a:prstGeom>
        </p:spPr>
        <p:txBody>
          <a:bodyPr wrap="square" anchor="t">
            <a:noAutofit/>
          </a:bodyPr>
          <a:lstStyle/>
          <a:p>
            <a:pPr algn="l">
              <a:spcAft>
                <a:spcPts val="400"/>
              </a:spcAft>
            </a:pPr>
            <a:r>
              <a:rPr sz="1100" b="1">
                <a:solidFill>
                  <a:srgbClr val="1B7DA3"/>
                </a:solidFill>
              </a:rPr>
              <a:t>Ansvar: Pilotmuseet</a:t>
            </a:r>
            <a:endParaRPr sz="1100" b="1">
              <a:solidFill>
                <a:srgbClr val="1B7DA3"/>
              </a:solidFill>
            </a:endParaRPr>
          </a:p>
        </p:txBody>
      </p:sp>
      <p:sp>
        <p:nvSpPr>
          <p:cNvPr id="501" name="Rectangle 7"/>
          <p:cNvSpPr/>
          <p:nvPr/>
        </p:nvSpPr>
        <p:spPr>
          <a:xfrm>
            <a:off x="4381500" y="1651000"/>
            <a:ext cx="3429000" cy="1778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02" name="Oval 8"/>
          <p:cNvSpPr/>
          <p:nvPr/>
        </p:nvSpPr>
        <p:spPr>
          <a:xfrm>
            <a:off x="4559300" y="1803400"/>
            <a:ext cx="431800" cy="4318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2</a:t>
            </a:r>
            <a:endParaRPr sz="1500" b="1">
              <a:solidFill>
                <a:srgbClr val="FFFFFF"/>
              </a:solidFill>
            </a:endParaRPr>
          </a:p>
        </p:txBody>
      </p:sp>
      <p:sp>
        <p:nvSpPr>
          <p:cNvPr id="503" name="TextBox 9"/>
          <p:cNvSpPr txBox="1"/>
          <p:nvPr/>
        </p:nvSpPr>
        <p:spPr>
          <a:xfrm>
            <a:off x="5118100" y="1828800"/>
            <a:ext cx="2590800" cy="640080"/>
          </a:xfrm>
          <a:prstGeom prst="rect">
            <a:avLst/>
          </a:prstGeom>
        </p:spPr>
        <p:txBody>
          <a:bodyPr wrap="square" anchor="ctr">
            <a:noAutofit/>
          </a:bodyPr>
          <a:lstStyle/>
          <a:p>
            <a:pPr algn="l">
              <a:spcAft>
                <a:spcPts val="400"/>
              </a:spcAft>
            </a:pPr>
            <a:r>
              <a:rPr sz="1500" b="1">
                <a:solidFill>
                  <a:srgbClr val="11222F"/>
                </a:solidFill>
              </a:rPr>
              <a:t>Export och kvalitetssäkring</a:t>
            </a:r>
            <a:endParaRPr sz="1500" b="1">
              <a:solidFill>
                <a:srgbClr val="11222F"/>
              </a:solidFill>
            </a:endParaRPr>
          </a:p>
        </p:txBody>
      </p:sp>
      <p:sp>
        <p:nvSpPr>
          <p:cNvPr id="504" name="TextBox 10"/>
          <p:cNvSpPr txBox="1"/>
          <p:nvPr/>
        </p:nvSpPr>
        <p:spPr>
          <a:xfrm>
            <a:off x="4559300" y="2336800"/>
            <a:ext cx="3098800" cy="914400"/>
          </a:xfrm>
          <a:prstGeom prst="rect">
            <a:avLst/>
          </a:prstGeom>
        </p:spPr>
        <p:txBody>
          <a:bodyPr wrap="square" anchor="t">
            <a:noAutofit/>
          </a:bodyPr>
          <a:lstStyle/>
          <a:p>
            <a:pPr algn="l">
              <a:spcAft>
                <a:spcPts val="400"/>
              </a:spcAft>
            </a:pPr>
            <a:r>
              <a:rPr sz="1200" b="0">
                <a:solidFill>
                  <a:srgbClr val="11222F"/>
                </a:solidFill>
              </a:rPr>
              <a:t>Objekt, originalfiler och metadata exporteras i fastställd struktur.</a:t>
            </a:r>
            <a:endParaRPr sz="1200" b="0">
              <a:solidFill>
                <a:srgbClr val="11222F"/>
              </a:solidFill>
            </a:endParaRPr>
          </a:p>
        </p:txBody>
      </p:sp>
      <p:sp>
        <p:nvSpPr>
          <p:cNvPr id="505" name="TextBox 11"/>
          <p:cNvSpPr txBox="1"/>
          <p:nvPr/>
        </p:nvSpPr>
        <p:spPr>
          <a:xfrm>
            <a:off x="4559300" y="3073400"/>
            <a:ext cx="3098800" cy="640080"/>
          </a:xfrm>
          <a:prstGeom prst="rect">
            <a:avLst/>
          </a:prstGeom>
        </p:spPr>
        <p:txBody>
          <a:bodyPr wrap="square" anchor="t">
            <a:noAutofit/>
          </a:bodyPr>
          <a:lstStyle/>
          <a:p>
            <a:pPr algn="l">
              <a:spcAft>
                <a:spcPts val="400"/>
              </a:spcAft>
            </a:pPr>
            <a:r>
              <a:rPr sz="1100" b="1">
                <a:solidFill>
                  <a:srgbClr val="1B7DA3"/>
                </a:solidFill>
              </a:rPr>
              <a:t>Ansvar: Projektgruppen med KUB</a:t>
            </a:r>
            <a:endParaRPr sz="1100" b="1">
              <a:solidFill>
                <a:srgbClr val="1B7DA3"/>
              </a:solidFill>
            </a:endParaRPr>
          </a:p>
        </p:txBody>
      </p:sp>
      <p:sp>
        <p:nvSpPr>
          <p:cNvPr id="506" name="Rectangle 12"/>
          <p:cNvSpPr/>
          <p:nvPr/>
        </p:nvSpPr>
        <p:spPr>
          <a:xfrm>
            <a:off x="8001000" y="1651000"/>
            <a:ext cx="3429000" cy="1778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07" name="Oval 13"/>
          <p:cNvSpPr/>
          <p:nvPr/>
        </p:nvSpPr>
        <p:spPr>
          <a:xfrm>
            <a:off x="8178800" y="1803400"/>
            <a:ext cx="431800" cy="4318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3</a:t>
            </a:r>
            <a:endParaRPr sz="1500" b="1">
              <a:solidFill>
                <a:srgbClr val="FFFFFF"/>
              </a:solidFill>
            </a:endParaRPr>
          </a:p>
        </p:txBody>
      </p:sp>
      <p:sp>
        <p:nvSpPr>
          <p:cNvPr id="508" name="TextBox 14"/>
          <p:cNvSpPr txBox="1"/>
          <p:nvPr/>
        </p:nvSpPr>
        <p:spPr>
          <a:xfrm>
            <a:off x="8737600" y="1828800"/>
            <a:ext cx="2590800" cy="365760"/>
          </a:xfrm>
          <a:prstGeom prst="rect">
            <a:avLst/>
          </a:prstGeom>
        </p:spPr>
        <p:txBody>
          <a:bodyPr wrap="square" anchor="ctr">
            <a:noAutofit/>
          </a:bodyPr>
          <a:lstStyle/>
          <a:p>
            <a:pPr algn="l">
              <a:spcAft>
                <a:spcPts val="400"/>
              </a:spcAft>
            </a:pPr>
            <a:r>
              <a:rPr sz="1500" b="1">
                <a:solidFill>
                  <a:srgbClr val="11222F"/>
                </a:solidFill>
              </a:rPr>
              <a:t>RODA-in</a:t>
            </a:r>
            <a:endParaRPr sz="1500" b="1">
              <a:solidFill>
                <a:srgbClr val="11222F"/>
              </a:solidFill>
            </a:endParaRPr>
          </a:p>
        </p:txBody>
      </p:sp>
      <p:sp>
        <p:nvSpPr>
          <p:cNvPr id="509" name="TextBox 15"/>
          <p:cNvSpPr txBox="1"/>
          <p:nvPr/>
        </p:nvSpPr>
        <p:spPr>
          <a:xfrm>
            <a:off x="8178800" y="2336800"/>
            <a:ext cx="3098800" cy="640080"/>
          </a:xfrm>
          <a:prstGeom prst="rect">
            <a:avLst/>
          </a:prstGeom>
        </p:spPr>
        <p:txBody>
          <a:bodyPr wrap="square" anchor="t">
            <a:noAutofit/>
          </a:bodyPr>
          <a:lstStyle/>
          <a:p>
            <a:pPr algn="l">
              <a:spcAft>
                <a:spcPts val="400"/>
              </a:spcAft>
            </a:pPr>
            <a:r>
              <a:rPr sz="1200" b="0">
                <a:solidFill>
                  <a:srgbClr val="11222F"/>
                </a:solidFill>
              </a:rPr>
              <a:t>Materialet förbereds som inlämningspaket (SIP).</a:t>
            </a:r>
            <a:endParaRPr sz="1200" b="0">
              <a:solidFill>
                <a:srgbClr val="11222F"/>
              </a:solidFill>
            </a:endParaRPr>
          </a:p>
        </p:txBody>
      </p:sp>
      <p:sp>
        <p:nvSpPr>
          <p:cNvPr id="510" name="TextBox 16"/>
          <p:cNvSpPr txBox="1"/>
          <p:nvPr/>
        </p:nvSpPr>
        <p:spPr>
          <a:xfrm>
            <a:off x="8178800" y="3073400"/>
            <a:ext cx="3098800" cy="640080"/>
          </a:xfrm>
          <a:prstGeom prst="rect">
            <a:avLst/>
          </a:prstGeom>
        </p:spPr>
        <p:txBody>
          <a:bodyPr wrap="square" anchor="t">
            <a:noAutofit/>
          </a:bodyPr>
          <a:lstStyle/>
          <a:p>
            <a:pPr algn="l">
              <a:spcAft>
                <a:spcPts val="400"/>
              </a:spcAft>
            </a:pPr>
            <a:r>
              <a:rPr sz="1100" b="1">
                <a:solidFill>
                  <a:srgbClr val="1B7DA3"/>
                </a:solidFill>
              </a:rPr>
              <a:t>Ansvar: KUB med projektgruppen</a:t>
            </a:r>
            <a:endParaRPr sz="1100" b="1">
              <a:solidFill>
                <a:srgbClr val="1B7DA3"/>
              </a:solidFill>
            </a:endParaRPr>
          </a:p>
        </p:txBody>
      </p:sp>
      <p:sp>
        <p:nvSpPr>
          <p:cNvPr id="511" name="Rectangle 17"/>
          <p:cNvSpPr/>
          <p:nvPr/>
        </p:nvSpPr>
        <p:spPr>
          <a:xfrm>
            <a:off x="762000" y="3556000"/>
            <a:ext cx="3429000" cy="1778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12" name="Oval 18"/>
          <p:cNvSpPr/>
          <p:nvPr/>
        </p:nvSpPr>
        <p:spPr>
          <a:xfrm>
            <a:off x="939800" y="3708400"/>
            <a:ext cx="431800" cy="4318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4</a:t>
            </a:r>
            <a:endParaRPr sz="1500" b="1">
              <a:solidFill>
                <a:srgbClr val="FFFFFF"/>
              </a:solidFill>
            </a:endParaRPr>
          </a:p>
        </p:txBody>
      </p:sp>
      <p:sp>
        <p:nvSpPr>
          <p:cNvPr id="513" name="TextBox 19"/>
          <p:cNvSpPr txBox="1"/>
          <p:nvPr/>
        </p:nvSpPr>
        <p:spPr>
          <a:xfrm>
            <a:off x="1498600" y="3733800"/>
            <a:ext cx="2590800" cy="365760"/>
          </a:xfrm>
          <a:prstGeom prst="rect">
            <a:avLst/>
          </a:prstGeom>
        </p:spPr>
        <p:txBody>
          <a:bodyPr wrap="square" anchor="ctr">
            <a:noAutofit/>
          </a:bodyPr>
          <a:lstStyle/>
          <a:p>
            <a:pPr algn="l">
              <a:spcAft>
                <a:spcPts val="400"/>
              </a:spcAft>
            </a:pPr>
            <a:r>
              <a:rPr sz="1500" b="1">
                <a:solidFill>
                  <a:srgbClr val="11222F"/>
                </a:solidFill>
              </a:rPr>
              <a:t>RODA</a:t>
            </a:r>
            <a:endParaRPr sz="1500" b="1">
              <a:solidFill>
                <a:srgbClr val="11222F"/>
              </a:solidFill>
            </a:endParaRPr>
          </a:p>
        </p:txBody>
      </p:sp>
      <p:sp>
        <p:nvSpPr>
          <p:cNvPr id="514" name="TextBox 20"/>
          <p:cNvSpPr txBox="1"/>
          <p:nvPr/>
        </p:nvSpPr>
        <p:spPr>
          <a:xfrm>
            <a:off x="939800" y="4241800"/>
            <a:ext cx="3098800" cy="914400"/>
          </a:xfrm>
          <a:prstGeom prst="rect">
            <a:avLst/>
          </a:prstGeom>
        </p:spPr>
        <p:txBody>
          <a:bodyPr wrap="square" anchor="t">
            <a:noAutofit/>
          </a:bodyPr>
          <a:lstStyle/>
          <a:p>
            <a:pPr algn="l">
              <a:spcAft>
                <a:spcPts val="400"/>
              </a:spcAft>
            </a:pPr>
            <a:r>
              <a:rPr sz="1200" b="0">
                <a:solidFill>
                  <a:srgbClr val="11222F"/>
                </a:solidFill>
              </a:rPr>
              <a:t>Ingest och paketering till bevarandepaket (AIP) enligt OAIS.</a:t>
            </a:r>
            <a:endParaRPr sz="1200" b="0">
              <a:solidFill>
                <a:srgbClr val="11222F"/>
              </a:solidFill>
            </a:endParaRPr>
          </a:p>
        </p:txBody>
      </p:sp>
      <p:sp>
        <p:nvSpPr>
          <p:cNvPr id="515" name="TextBox 21"/>
          <p:cNvSpPr txBox="1"/>
          <p:nvPr/>
        </p:nvSpPr>
        <p:spPr>
          <a:xfrm>
            <a:off x="939800" y="4978400"/>
            <a:ext cx="3098800" cy="365760"/>
          </a:xfrm>
          <a:prstGeom prst="rect">
            <a:avLst/>
          </a:prstGeom>
        </p:spPr>
        <p:txBody>
          <a:bodyPr wrap="square" anchor="t">
            <a:noAutofit/>
          </a:bodyPr>
          <a:lstStyle/>
          <a:p>
            <a:pPr algn="l">
              <a:spcAft>
                <a:spcPts val="400"/>
              </a:spcAft>
            </a:pPr>
            <a:r>
              <a:rPr sz="1100" b="1">
                <a:solidFill>
                  <a:srgbClr val="1B7DA3"/>
                </a:solidFill>
              </a:rPr>
              <a:t>Ansvar: KUB-projektet</a:t>
            </a:r>
            <a:endParaRPr sz="1100" b="1">
              <a:solidFill>
                <a:srgbClr val="1B7DA3"/>
              </a:solidFill>
            </a:endParaRPr>
          </a:p>
        </p:txBody>
      </p:sp>
      <p:sp>
        <p:nvSpPr>
          <p:cNvPr id="516" name="Rectangle 22"/>
          <p:cNvSpPr/>
          <p:nvPr/>
        </p:nvSpPr>
        <p:spPr>
          <a:xfrm>
            <a:off x="4381500" y="3556000"/>
            <a:ext cx="3429000" cy="1778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17" name="Oval 23"/>
          <p:cNvSpPr/>
          <p:nvPr/>
        </p:nvSpPr>
        <p:spPr>
          <a:xfrm>
            <a:off x="4559300" y="3708400"/>
            <a:ext cx="431800" cy="4318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5</a:t>
            </a:r>
            <a:endParaRPr sz="1500" b="1">
              <a:solidFill>
                <a:srgbClr val="FFFFFF"/>
              </a:solidFill>
            </a:endParaRPr>
          </a:p>
        </p:txBody>
      </p:sp>
      <p:sp>
        <p:nvSpPr>
          <p:cNvPr id="518" name="TextBox 24"/>
          <p:cNvSpPr txBox="1"/>
          <p:nvPr/>
        </p:nvSpPr>
        <p:spPr>
          <a:xfrm>
            <a:off x="5118100" y="3733800"/>
            <a:ext cx="2590800" cy="365760"/>
          </a:xfrm>
          <a:prstGeom prst="rect">
            <a:avLst/>
          </a:prstGeom>
        </p:spPr>
        <p:txBody>
          <a:bodyPr wrap="square" anchor="ctr">
            <a:noAutofit/>
          </a:bodyPr>
          <a:lstStyle/>
          <a:p>
            <a:pPr algn="l">
              <a:spcAft>
                <a:spcPts val="400"/>
              </a:spcAft>
            </a:pPr>
            <a:r>
              <a:rPr sz="1500" b="1">
                <a:solidFill>
                  <a:srgbClr val="11222F"/>
                </a:solidFill>
              </a:rPr>
              <a:t>Lagring och integritet</a:t>
            </a:r>
            <a:endParaRPr sz="1500" b="1">
              <a:solidFill>
                <a:srgbClr val="11222F"/>
              </a:solidFill>
            </a:endParaRPr>
          </a:p>
        </p:txBody>
      </p:sp>
      <p:sp>
        <p:nvSpPr>
          <p:cNvPr id="519" name="TextBox 25"/>
          <p:cNvSpPr txBox="1"/>
          <p:nvPr/>
        </p:nvSpPr>
        <p:spPr>
          <a:xfrm>
            <a:off x="4559300" y="4241800"/>
            <a:ext cx="3098800" cy="914400"/>
          </a:xfrm>
          <a:prstGeom prst="rect">
            <a:avLst/>
          </a:prstGeom>
        </p:spPr>
        <p:txBody>
          <a:bodyPr wrap="square" anchor="t">
            <a:noAutofit/>
          </a:bodyPr>
          <a:lstStyle/>
          <a:p>
            <a:pPr algn="l">
              <a:spcAft>
                <a:spcPts val="400"/>
              </a:spcAft>
            </a:pPr>
            <a:r>
              <a:rPr sz="1200" b="0">
                <a:solidFill>
                  <a:srgbClr val="11222F"/>
                </a:solidFill>
              </a:rPr>
              <a:t>Paketen lagras. Integritet, spårbarhet och återläsning kontrolleras.</a:t>
            </a:r>
            <a:endParaRPr sz="1200" b="0">
              <a:solidFill>
                <a:srgbClr val="11222F"/>
              </a:solidFill>
            </a:endParaRPr>
          </a:p>
        </p:txBody>
      </p:sp>
      <p:sp>
        <p:nvSpPr>
          <p:cNvPr id="520" name="TextBox 26"/>
          <p:cNvSpPr txBox="1"/>
          <p:nvPr/>
        </p:nvSpPr>
        <p:spPr>
          <a:xfrm>
            <a:off x="4559300" y="4978400"/>
            <a:ext cx="3098800" cy="365760"/>
          </a:xfrm>
          <a:prstGeom prst="rect">
            <a:avLst/>
          </a:prstGeom>
        </p:spPr>
        <p:txBody>
          <a:bodyPr wrap="square" anchor="t">
            <a:noAutofit/>
          </a:bodyPr>
          <a:lstStyle/>
          <a:p>
            <a:pPr algn="l">
              <a:spcAft>
                <a:spcPts val="400"/>
              </a:spcAft>
            </a:pPr>
            <a:r>
              <a:rPr sz="1100" b="1">
                <a:solidFill>
                  <a:srgbClr val="1B7DA3"/>
                </a:solidFill>
              </a:rPr>
              <a:t>Ansvar: KUB med KSD</a:t>
            </a:r>
            <a:endParaRPr sz="1100" b="1">
              <a:solidFill>
                <a:srgbClr val="1B7DA3"/>
              </a:solidFill>
            </a:endParaRPr>
          </a:p>
        </p:txBody>
      </p:sp>
      <p:sp>
        <p:nvSpPr>
          <p:cNvPr id="521" name="Rectangle 27"/>
          <p:cNvSpPr/>
          <p:nvPr/>
        </p:nvSpPr>
        <p:spPr>
          <a:xfrm>
            <a:off x="8001000" y="3556000"/>
            <a:ext cx="3429000" cy="1778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22" name="Oval 28"/>
          <p:cNvSpPr/>
          <p:nvPr/>
        </p:nvSpPr>
        <p:spPr>
          <a:xfrm>
            <a:off x="8178800" y="3708400"/>
            <a:ext cx="431800" cy="4318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6</a:t>
            </a:r>
            <a:endParaRPr sz="1500" b="1">
              <a:solidFill>
                <a:srgbClr val="FFFFFF"/>
              </a:solidFill>
            </a:endParaRPr>
          </a:p>
        </p:txBody>
      </p:sp>
      <p:sp>
        <p:nvSpPr>
          <p:cNvPr id="523" name="TextBox 29"/>
          <p:cNvSpPr txBox="1"/>
          <p:nvPr/>
        </p:nvSpPr>
        <p:spPr>
          <a:xfrm>
            <a:off x="8737600" y="3733800"/>
            <a:ext cx="2590800" cy="365760"/>
          </a:xfrm>
          <a:prstGeom prst="rect">
            <a:avLst/>
          </a:prstGeom>
        </p:spPr>
        <p:txBody>
          <a:bodyPr wrap="square" anchor="ctr">
            <a:noAutofit/>
          </a:bodyPr>
          <a:lstStyle/>
          <a:p>
            <a:pPr algn="l">
              <a:spcAft>
                <a:spcPts val="400"/>
              </a:spcAft>
            </a:pPr>
            <a:r>
              <a:rPr sz="1500" b="1">
                <a:solidFill>
                  <a:srgbClr val="11222F"/>
                </a:solidFill>
              </a:rPr>
              <a:t>Uppföljning</a:t>
            </a:r>
            <a:endParaRPr sz="1500" b="1">
              <a:solidFill>
                <a:srgbClr val="11222F"/>
              </a:solidFill>
            </a:endParaRPr>
          </a:p>
        </p:txBody>
      </p:sp>
      <p:sp>
        <p:nvSpPr>
          <p:cNvPr id="524" name="TextBox 30"/>
          <p:cNvSpPr txBox="1"/>
          <p:nvPr/>
        </p:nvSpPr>
        <p:spPr>
          <a:xfrm>
            <a:off x="8178800" y="4241800"/>
            <a:ext cx="3098800" cy="1188720"/>
          </a:xfrm>
          <a:prstGeom prst="rect">
            <a:avLst/>
          </a:prstGeom>
        </p:spPr>
        <p:txBody>
          <a:bodyPr wrap="square" anchor="t">
            <a:noAutofit/>
          </a:bodyPr>
          <a:lstStyle/>
          <a:p>
            <a:pPr algn="l">
              <a:spcAft>
                <a:spcPts val="400"/>
              </a:spcAft>
            </a:pPr>
            <a:r>
              <a:rPr sz="1200" b="0">
                <a:solidFill>
                  <a:srgbClr val="11222F"/>
                </a:solidFill>
              </a:rPr>
              <a:t>Resultat och avvikelser dokumenteras inför bedömning av uppskalning.</a:t>
            </a:r>
            <a:endParaRPr sz="1200" b="0">
              <a:solidFill>
                <a:srgbClr val="11222F"/>
              </a:solidFill>
            </a:endParaRPr>
          </a:p>
        </p:txBody>
      </p:sp>
      <p:sp>
        <p:nvSpPr>
          <p:cNvPr id="525" name="TextBox 31"/>
          <p:cNvSpPr txBox="1"/>
          <p:nvPr/>
        </p:nvSpPr>
        <p:spPr>
          <a:xfrm>
            <a:off x="8178800" y="4978400"/>
            <a:ext cx="3098800" cy="365760"/>
          </a:xfrm>
          <a:prstGeom prst="rect">
            <a:avLst/>
          </a:prstGeom>
        </p:spPr>
        <p:txBody>
          <a:bodyPr wrap="square" anchor="t">
            <a:noAutofit/>
          </a:bodyPr>
          <a:lstStyle/>
          <a:p>
            <a:pPr algn="l">
              <a:spcAft>
                <a:spcPts val="400"/>
              </a:spcAft>
            </a:pPr>
            <a:r>
              <a:rPr sz="1100" b="1">
                <a:solidFill>
                  <a:srgbClr val="1B7DA3"/>
                </a:solidFill>
              </a:rPr>
              <a:t>Ansvar: Projektledaren</a:t>
            </a:r>
            <a:endParaRPr sz="1100" b="1">
              <a:solidFill>
                <a:srgbClr val="1B7DA3"/>
              </a:solidFill>
            </a:endParaRPr>
          </a:p>
        </p:txBody>
      </p:sp>
      <p:sp>
        <p:nvSpPr>
          <p:cNvPr id="526" name="Rectangle 32"/>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Standarder som prövas: OAIS (ISO 14721), Dublin Core, PREMIS och METS.</a:t>
            </a:r>
            <a:endParaRPr sz="1500" b="1">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Title 1"/>
          <p:cNvSpPr>
            <a:spLocks noGrp="1"/>
          </p:cNvSpPr>
          <p:nvPr>
            <p:ph type="title"/>
          </p:nvPr>
        </p:nvSpPr>
        <p:spPr/>
        <p:txBody>
          <a:bodyPr/>
          <a:lstStyle/>
          <a:p>
            <a:r>
              <a:rPr/>
              <a:t>Tidplan 2026–2027</a:t>
            </a:r>
          </a:p>
        </p:txBody>
      </p:sp>
      <p:sp>
        <p:nvSpPr>
          <p:cNvPr id="529" name="Rectangle 2"/>
          <p:cNvSpPr/>
          <p:nvPr/>
        </p:nvSpPr>
        <p:spPr>
          <a:xfrm>
            <a:off x="3683000" y="1625600"/>
            <a:ext cx="11049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B7DA3"/>
                </a:solidFill>
              </a:rPr>
              <a:t>2026</a:t>
            </a:r>
            <a:endParaRPr sz="1200" b="1">
              <a:solidFill>
                <a:srgbClr val="1B7DA3"/>
              </a:solidFill>
            </a:endParaRPr>
          </a:p>
        </p:txBody>
      </p:sp>
      <p:sp>
        <p:nvSpPr>
          <p:cNvPr id="530" name="Rectangle 3"/>
          <p:cNvSpPr/>
          <p:nvPr/>
        </p:nvSpPr>
        <p:spPr>
          <a:xfrm>
            <a:off x="4787900" y="1625600"/>
            <a:ext cx="66294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B7DA3"/>
                </a:solidFill>
              </a:rPr>
              <a:t>2027</a:t>
            </a:r>
            <a:endParaRPr sz="1200" b="1">
              <a:solidFill>
                <a:srgbClr val="1B7DA3"/>
              </a:solidFill>
            </a:endParaRPr>
          </a:p>
        </p:txBody>
      </p:sp>
      <p:sp>
        <p:nvSpPr>
          <p:cNvPr id="531" name="Rectangle 4"/>
          <p:cNvSpPr/>
          <p:nvPr/>
        </p:nvSpPr>
        <p:spPr>
          <a:xfrm>
            <a:off x="36830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N</a:t>
            </a:r>
            <a:endParaRPr sz="1100" b="0">
              <a:solidFill>
                <a:srgbClr val="51636F"/>
              </a:solidFill>
            </a:endParaRPr>
          </a:p>
        </p:txBody>
      </p:sp>
      <p:sp>
        <p:nvSpPr>
          <p:cNvPr id="532" name="Rectangle 5"/>
          <p:cNvSpPr/>
          <p:nvPr/>
        </p:nvSpPr>
        <p:spPr>
          <a:xfrm>
            <a:off x="42354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D</a:t>
            </a:r>
            <a:endParaRPr sz="1100" b="0">
              <a:solidFill>
                <a:srgbClr val="51636F"/>
              </a:solidFill>
            </a:endParaRPr>
          </a:p>
        </p:txBody>
      </p:sp>
      <p:sp>
        <p:nvSpPr>
          <p:cNvPr id="533" name="Rectangle 6"/>
          <p:cNvSpPr/>
          <p:nvPr/>
        </p:nvSpPr>
        <p:spPr>
          <a:xfrm>
            <a:off x="47879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J</a:t>
            </a:r>
            <a:endParaRPr sz="1100" b="0">
              <a:solidFill>
                <a:srgbClr val="51636F"/>
              </a:solidFill>
            </a:endParaRPr>
          </a:p>
        </p:txBody>
      </p:sp>
      <p:sp>
        <p:nvSpPr>
          <p:cNvPr id="534" name="Rectangle 7"/>
          <p:cNvSpPr/>
          <p:nvPr/>
        </p:nvSpPr>
        <p:spPr>
          <a:xfrm>
            <a:off x="53403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F</a:t>
            </a:r>
            <a:endParaRPr sz="1100" b="0">
              <a:solidFill>
                <a:srgbClr val="51636F"/>
              </a:solidFill>
            </a:endParaRPr>
          </a:p>
        </p:txBody>
      </p:sp>
      <p:sp>
        <p:nvSpPr>
          <p:cNvPr id="535" name="Rectangle 8"/>
          <p:cNvSpPr/>
          <p:nvPr/>
        </p:nvSpPr>
        <p:spPr>
          <a:xfrm>
            <a:off x="58928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M</a:t>
            </a:r>
            <a:endParaRPr sz="1100" b="0">
              <a:solidFill>
                <a:srgbClr val="51636F"/>
              </a:solidFill>
            </a:endParaRPr>
          </a:p>
        </p:txBody>
      </p:sp>
      <p:sp>
        <p:nvSpPr>
          <p:cNvPr id="536" name="Rectangle 9"/>
          <p:cNvSpPr/>
          <p:nvPr/>
        </p:nvSpPr>
        <p:spPr>
          <a:xfrm>
            <a:off x="64452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A</a:t>
            </a:r>
            <a:endParaRPr sz="1100" b="0">
              <a:solidFill>
                <a:srgbClr val="51636F"/>
              </a:solidFill>
            </a:endParaRPr>
          </a:p>
        </p:txBody>
      </p:sp>
      <p:sp>
        <p:nvSpPr>
          <p:cNvPr id="537" name="Rectangle 10"/>
          <p:cNvSpPr/>
          <p:nvPr/>
        </p:nvSpPr>
        <p:spPr>
          <a:xfrm>
            <a:off x="69977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M</a:t>
            </a:r>
            <a:endParaRPr sz="1100" b="0">
              <a:solidFill>
                <a:srgbClr val="51636F"/>
              </a:solidFill>
            </a:endParaRPr>
          </a:p>
        </p:txBody>
      </p:sp>
      <p:sp>
        <p:nvSpPr>
          <p:cNvPr id="538" name="Rectangle 11"/>
          <p:cNvSpPr/>
          <p:nvPr/>
        </p:nvSpPr>
        <p:spPr>
          <a:xfrm>
            <a:off x="75501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J</a:t>
            </a:r>
            <a:endParaRPr sz="1100" b="0">
              <a:solidFill>
                <a:srgbClr val="51636F"/>
              </a:solidFill>
            </a:endParaRPr>
          </a:p>
        </p:txBody>
      </p:sp>
      <p:sp>
        <p:nvSpPr>
          <p:cNvPr id="539" name="Rectangle 12"/>
          <p:cNvSpPr/>
          <p:nvPr/>
        </p:nvSpPr>
        <p:spPr>
          <a:xfrm>
            <a:off x="81026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J</a:t>
            </a:r>
            <a:endParaRPr sz="1100" b="0">
              <a:solidFill>
                <a:srgbClr val="51636F"/>
              </a:solidFill>
            </a:endParaRPr>
          </a:p>
        </p:txBody>
      </p:sp>
      <p:sp>
        <p:nvSpPr>
          <p:cNvPr id="540" name="Rectangle 13"/>
          <p:cNvSpPr/>
          <p:nvPr/>
        </p:nvSpPr>
        <p:spPr>
          <a:xfrm>
            <a:off x="86550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A</a:t>
            </a:r>
            <a:endParaRPr sz="1100" b="0">
              <a:solidFill>
                <a:srgbClr val="51636F"/>
              </a:solidFill>
            </a:endParaRPr>
          </a:p>
        </p:txBody>
      </p:sp>
      <p:sp>
        <p:nvSpPr>
          <p:cNvPr id="541" name="Rectangle 14"/>
          <p:cNvSpPr/>
          <p:nvPr/>
        </p:nvSpPr>
        <p:spPr>
          <a:xfrm>
            <a:off x="92075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S</a:t>
            </a:r>
            <a:endParaRPr sz="1100" b="0">
              <a:solidFill>
                <a:srgbClr val="51636F"/>
              </a:solidFill>
            </a:endParaRPr>
          </a:p>
        </p:txBody>
      </p:sp>
      <p:sp>
        <p:nvSpPr>
          <p:cNvPr id="542" name="Rectangle 15"/>
          <p:cNvSpPr/>
          <p:nvPr/>
        </p:nvSpPr>
        <p:spPr>
          <a:xfrm>
            <a:off x="97599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O</a:t>
            </a:r>
            <a:endParaRPr sz="1100" b="0">
              <a:solidFill>
                <a:srgbClr val="51636F"/>
              </a:solidFill>
            </a:endParaRPr>
          </a:p>
        </p:txBody>
      </p:sp>
      <p:sp>
        <p:nvSpPr>
          <p:cNvPr id="543" name="Rectangle 16"/>
          <p:cNvSpPr/>
          <p:nvPr/>
        </p:nvSpPr>
        <p:spPr>
          <a:xfrm>
            <a:off x="1031240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N</a:t>
            </a:r>
            <a:endParaRPr sz="1100" b="0">
              <a:solidFill>
                <a:srgbClr val="51636F"/>
              </a:solidFill>
            </a:endParaRPr>
          </a:p>
        </p:txBody>
      </p:sp>
      <p:sp>
        <p:nvSpPr>
          <p:cNvPr id="544" name="Rectangle 17"/>
          <p:cNvSpPr/>
          <p:nvPr/>
        </p:nvSpPr>
        <p:spPr>
          <a:xfrm>
            <a:off x="10864850" y="1854200"/>
            <a:ext cx="55245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0">
                <a:solidFill>
                  <a:srgbClr val="51636F"/>
                </a:solidFill>
              </a:rPr>
              <a:t>D</a:t>
            </a:r>
            <a:endParaRPr sz="1100" b="0">
              <a:solidFill>
                <a:srgbClr val="51636F"/>
              </a:solidFill>
            </a:endParaRPr>
          </a:p>
        </p:txBody>
      </p:sp>
      <p:sp>
        <p:nvSpPr>
          <p:cNvPr id="545" name="Rectangle 18"/>
          <p:cNvSpPr/>
          <p:nvPr/>
        </p:nvSpPr>
        <p:spPr>
          <a:xfrm>
            <a:off x="762000" y="2184400"/>
            <a:ext cx="10668000" cy="4826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46" name="Rectangle 19"/>
          <p:cNvSpPr/>
          <p:nvPr/>
        </p:nvSpPr>
        <p:spPr>
          <a:xfrm>
            <a:off x="863600" y="2184400"/>
            <a:ext cx="2794000" cy="48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1222F"/>
                </a:solidFill>
              </a:rPr>
              <a:t>1  Teknisk testmiljö</a:t>
            </a:r>
            <a:endParaRPr sz="1200" b="1">
              <a:solidFill>
                <a:srgbClr val="11222F"/>
              </a:solidFill>
            </a:endParaRPr>
          </a:p>
        </p:txBody>
      </p:sp>
      <p:sp>
        <p:nvSpPr>
          <p:cNvPr id="547" name="Rectangle 20"/>
          <p:cNvSpPr/>
          <p:nvPr/>
        </p:nvSpPr>
        <p:spPr>
          <a:xfrm>
            <a:off x="3708400" y="2260600"/>
            <a:ext cx="3263900" cy="3302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1">
                <a:solidFill>
                  <a:srgbClr val="FFFFFF"/>
                </a:solidFill>
              </a:rPr>
              <a:t>Fas 1–2</a:t>
            </a:r>
            <a:endParaRPr sz="1100" b="1">
              <a:solidFill>
                <a:srgbClr val="FFFFFF"/>
              </a:solidFill>
            </a:endParaRPr>
          </a:p>
        </p:txBody>
      </p:sp>
      <p:sp>
        <p:nvSpPr>
          <p:cNvPr id="548" name="Rectangle 21"/>
          <p:cNvSpPr/>
          <p:nvPr/>
        </p:nvSpPr>
        <p:spPr>
          <a:xfrm>
            <a:off x="762000" y="2743200"/>
            <a:ext cx="10668000" cy="482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49" name="Rectangle 22"/>
          <p:cNvSpPr/>
          <p:nvPr/>
        </p:nvSpPr>
        <p:spPr>
          <a:xfrm>
            <a:off x="863600" y="2743200"/>
            <a:ext cx="2794000" cy="48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1222F"/>
                </a:solidFill>
              </a:rPr>
              <a:t>2  Förberedelser och kravställning</a:t>
            </a:r>
            <a:endParaRPr sz="1200" b="1">
              <a:solidFill>
                <a:srgbClr val="11222F"/>
              </a:solidFill>
            </a:endParaRPr>
          </a:p>
        </p:txBody>
      </p:sp>
      <p:sp>
        <p:nvSpPr>
          <p:cNvPr id="550" name="Rectangle 23"/>
          <p:cNvSpPr/>
          <p:nvPr/>
        </p:nvSpPr>
        <p:spPr>
          <a:xfrm>
            <a:off x="4813300" y="2819400"/>
            <a:ext cx="2159000" cy="3302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1">
                <a:solidFill>
                  <a:srgbClr val="FFFFFF"/>
                </a:solidFill>
              </a:rPr>
              <a:t>Fas 2</a:t>
            </a:r>
            <a:endParaRPr sz="1100" b="1">
              <a:solidFill>
                <a:srgbClr val="FFFFFF"/>
              </a:solidFill>
            </a:endParaRPr>
          </a:p>
        </p:txBody>
      </p:sp>
      <p:sp>
        <p:nvSpPr>
          <p:cNvPr id="551" name="Rectangle 24"/>
          <p:cNvSpPr/>
          <p:nvPr/>
        </p:nvSpPr>
        <p:spPr>
          <a:xfrm>
            <a:off x="762000" y="3302000"/>
            <a:ext cx="10668000" cy="4826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52" name="Rectangle 25"/>
          <p:cNvSpPr/>
          <p:nvPr/>
        </p:nvSpPr>
        <p:spPr>
          <a:xfrm>
            <a:off x="863600" y="3302000"/>
            <a:ext cx="2794000" cy="48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1222F"/>
                </a:solidFill>
              </a:rPr>
              <a:t>3  Urval och förberedelse av data</a:t>
            </a:r>
            <a:endParaRPr sz="1200" b="1">
              <a:solidFill>
                <a:srgbClr val="11222F"/>
              </a:solidFill>
            </a:endParaRPr>
          </a:p>
        </p:txBody>
      </p:sp>
      <p:sp>
        <p:nvSpPr>
          <p:cNvPr id="553" name="Rectangle 26"/>
          <p:cNvSpPr/>
          <p:nvPr/>
        </p:nvSpPr>
        <p:spPr>
          <a:xfrm>
            <a:off x="6470650" y="3378200"/>
            <a:ext cx="1606550" cy="3302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1">
                <a:solidFill>
                  <a:srgbClr val="FFFFFF"/>
                </a:solidFill>
              </a:rPr>
              <a:t>Fas 3</a:t>
            </a:r>
            <a:endParaRPr sz="1100" b="1">
              <a:solidFill>
                <a:srgbClr val="FFFFFF"/>
              </a:solidFill>
            </a:endParaRPr>
          </a:p>
        </p:txBody>
      </p:sp>
      <p:sp>
        <p:nvSpPr>
          <p:cNvPr id="554" name="Rectangle 27"/>
          <p:cNvSpPr/>
          <p:nvPr/>
        </p:nvSpPr>
        <p:spPr>
          <a:xfrm>
            <a:off x="762000" y="3860800"/>
            <a:ext cx="10668000" cy="482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55" name="Rectangle 28"/>
          <p:cNvSpPr/>
          <p:nvPr/>
        </p:nvSpPr>
        <p:spPr>
          <a:xfrm>
            <a:off x="863600" y="3860800"/>
            <a:ext cx="2794000" cy="48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1222F"/>
                </a:solidFill>
              </a:rPr>
              <a:t>4  Export från Primus</a:t>
            </a:r>
            <a:endParaRPr sz="1200" b="1">
              <a:solidFill>
                <a:srgbClr val="11222F"/>
              </a:solidFill>
            </a:endParaRPr>
          </a:p>
        </p:txBody>
      </p:sp>
      <p:sp>
        <p:nvSpPr>
          <p:cNvPr id="556" name="Rectangle 29"/>
          <p:cNvSpPr/>
          <p:nvPr/>
        </p:nvSpPr>
        <p:spPr>
          <a:xfrm>
            <a:off x="7023100" y="3937000"/>
            <a:ext cx="2711450" cy="3302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1">
                <a:solidFill>
                  <a:srgbClr val="FFFFFF"/>
                </a:solidFill>
              </a:rPr>
              <a:t>Fas 3</a:t>
            </a:r>
            <a:endParaRPr sz="1100" b="1">
              <a:solidFill>
                <a:srgbClr val="FFFFFF"/>
              </a:solidFill>
            </a:endParaRPr>
          </a:p>
        </p:txBody>
      </p:sp>
      <p:sp>
        <p:nvSpPr>
          <p:cNvPr id="557" name="Rectangle 30"/>
          <p:cNvSpPr/>
          <p:nvPr/>
        </p:nvSpPr>
        <p:spPr>
          <a:xfrm>
            <a:off x="762000" y="4419600"/>
            <a:ext cx="10668000" cy="4826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58" name="Rectangle 31"/>
          <p:cNvSpPr/>
          <p:nvPr/>
        </p:nvSpPr>
        <p:spPr>
          <a:xfrm>
            <a:off x="863600" y="4419600"/>
            <a:ext cx="2794000" cy="48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1222F"/>
                </a:solidFill>
              </a:rPr>
              <a:t>5  Ingest, paketering och lagring</a:t>
            </a:r>
            <a:endParaRPr sz="1200" b="1">
              <a:solidFill>
                <a:srgbClr val="11222F"/>
              </a:solidFill>
            </a:endParaRPr>
          </a:p>
        </p:txBody>
      </p:sp>
      <p:sp>
        <p:nvSpPr>
          <p:cNvPr id="559" name="Rectangle 32"/>
          <p:cNvSpPr/>
          <p:nvPr/>
        </p:nvSpPr>
        <p:spPr>
          <a:xfrm>
            <a:off x="8680450" y="4495800"/>
            <a:ext cx="2159000" cy="3302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1">
                <a:solidFill>
                  <a:srgbClr val="FFFFFF"/>
                </a:solidFill>
              </a:rPr>
              <a:t>Fas 3</a:t>
            </a:r>
            <a:endParaRPr sz="1100" b="1">
              <a:solidFill>
                <a:srgbClr val="FFFFFF"/>
              </a:solidFill>
            </a:endParaRPr>
          </a:p>
        </p:txBody>
      </p:sp>
      <p:sp>
        <p:nvSpPr>
          <p:cNvPr id="560" name="Rectangle 33"/>
          <p:cNvSpPr/>
          <p:nvPr/>
        </p:nvSpPr>
        <p:spPr>
          <a:xfrm>
            <a:off x="762000" y="4978400"/>
            <a:ext cx="10668000" cy="482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61" name="Rectangle 34"/>
          <p:cNvSpPr/>
          <p:nvPr/>
        </p:nvSpPr>
        <p:spPr>
          <a:xfrm>
            <a:off x="863600" y="4978400"/>
            <a:ext cx="2794000" cy="48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r>
              <a:rPr sz="1200" b="1">
                <a:solidFill>
                  <a:srgbClr val="11222F"/>
                </a:solidFill>
              </a:rPr>
              <a:t>6  Utvärdering och rekommendation</a:t>
            </a:r>
            <a:endParaRPr sz="1200" b="1">
              <a:solidFill>
                <a:srgbClr val="11222F"/>
              </a:solidFill>
            </a:endParaRPr>
          </a:p>
        </p:txBody>
      </p:sp>
      <p:sp>
        <p:nvSpPr>
          <p:cNvPr id="562" name="Rectangle 35"/>
          <p:cNvSpPr/>
          <p:nvPr/>
        </p:nvSpPr>
        <p:spPr>
          <a:xfrm>
            <a:off x="9785350" y="5054600"/>
            <a:ext cx="1606550" cy="3302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100" b="1">
                <a:solidFill>
                  <a:srgbClr val="FFFFFF"/>
                </a:solidFill>
              </a:rPr>
              <a:t>Fas 4</a:t>
            </a:r>
            <a:endParaRPr sz="1100" b="1">
              <a:solidFill>
                <a:srgbClr val="FFFFFF"/>
              </a:solidFill>
            </a:endParaRPr>
          </a:p>
        </p:txBody>
      </p:sp>
      <p:sp>
        <p:nvSpPr>
          <p:cNvPr id="563" name="Rectangle 36"/>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Verksamhetsspåret startar i Fas 2. Urval, export och tester genomförs huvudsakligen i Fas 3.</a:t>
            </a:r>
            <a:endParaRPr sz="1500" b="1">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Title 1"/>
          <p:cNvSpPr>
            <a:spLocks noGrp="1"/>
          </p:cNvSpPr>
          <p:nvPr>
            <p:ph type="title"/>
          </p:nvPr>
        </p:nvSpPr>
        <p:spPr/>
        <p:txBody>
          <a:bodyPr/>
          <a:lstStyle/>
          <a:p>
            <a:r>
              <a:rPr/>
              <a:t>Utvärderingskriterier</a:t>
            </a:r>
          </a:p>
        </p:txBody>
      </p:sp>
      <p:sp>
        <p:nvSpPr>
          <p:cNvPr id="566" name="Rectangle 2"/>
          <p:cNvSpPr/>
          <p:nvPr/>
        </p:nvSpPr>
        <p:spPr>
          <a:xfrm>
            <a:off x="762000" y="1651000"/>
            <a:ext cx="5207000" cy="20066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67" name="Oval 3"/>
          <p:cNvSpPr/>
          <p:nvPr/>
        </p:nvSpPr>
        <p:spPr>
          <a:xfrm>
            <a:off x="965200" y="18288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A</a:t>
            </a:r>
            <a:endParaRPr sz="1600" b="1">
              <a:solidFill>
                <a:srgbClr val="FFFFFF"/>
              </a:solidFill>
            </a:endParaRPr>
          </a:p>
        </p:txBody>
      </p:sp>
      <p:sp>
        <p:nvSpPr>
          <p:cNvPr id="568" name="TextBox 4"/>
          <p:cNvSpPr txBox="1"/>
          <p:nvPr/>
        </p:nvSpPr>
        <p:spPr>
          <a:xfrm>
            <a:off x="1574800" y="1803400"/>
            <a:ext cx="4241800" cy="365760"/>
          </a:xfrm>
          <a:prstGeom prst="rect">
            <a:avLst/>
          </a:prstGeom>
        </p:spPr>
        <p:txBody>
          <a:bodyPr wrap="square" anchor="t">
            <a:noAutofit/>
          </a:bodyPr>
          <a:lstStyle/>
          <a:p>
            <a:pPr algn="l">
              <a:spcAft>
                <a:spcPts val="400"/>
              </a:spcAft>
            </a:pPr>
            <a:r>
              <a:rPr sz="1600" b="1">
                <a:solidFill>
                  <a:srgbClr val="11222F"/>
                </a:solidFill>
              </a:rPr>
              <a:t>Teknik och export</a:t>
            </a:r>
            <a:endParaRPr sz="1600" b="1">
              <a:solidFill>
                <a:srgbClr val="11222F"/>
              </a:solidFill>
            </a:endParaRPr>
          </a:p>
        </p:txBody>
      </p:sp>
      <p:sp>
        <p:nvSpPr>
          <p:cNvPr id="569" name="TextBox 5"/>
          <p:cNvSpPr txBox="1"/>
          <p:nvPr/>
        </p:nvSpPr>
        <p:spPr>
          <a:xfrm>
            <a:off x="965200" y="2362200"/>
            <a:ext cx="4800600" cy="2286000"/>
          </a:xfrm>
          <a:prstGeom prst="rect">
            <a:avLst/>
          </a:prstGeom>
        </p:spPr>
        <p:txBody>
          <a:bodyPr wrap="square" anchor="t">
            <a:noAutofit/>
          </a:bodyPr>
          <a:lstStyle/>
          <a:p>
            <a:pPr marL="177800" indent="-177800" algn="l">
              <a:spcAft>
                <a:spcPts val="400"/>
              </a:spcAft>
              <a:buClr>
                <a:srgbClr val="1B7DA3"/>
              </a:buClr>
              <a:buChar char="•"/>
            </a:pPr>
            <a:r>
              <a:rPr sz="1100" b="0">
                <a:solidFill>
                  <a:srgbClr val="11222F"/>
                </a:solidFill>
              </a:rPr>
              <a:t>Teknisk miljö: RODA och RODA-in kan installeras och användas i dokumenterad testmiljö</a:t>
            </a:r>
            <a:endParaRPr sz="1100" b="0">
              <a:solidFill>
                <a:srgbClr val="11222F"/>
              </a:solidFill>
            </a:endParaRPr>
          </a:p>
          <a:p>
            <a:pPr marL="177800" indent="-177800" algn="l">
              <a:spcAft>
                <a:spcPts val="400"/>
              </a:spcAft>
              <a:buClr>
                <a:srgbClr val="1B7DA3"/>
              </a:buClr>
              <a:buChar char="•"/>
            </a:pPr>
            <a:r>
              <a:rPr sz="1100" b="0">
                <a:solidFill>
                  <a:srgbClr val="11222F"/>
                </a:solidFill>
              </a:rPr>
              <a:t>Export från Primus: objekt och metadata kan exporteras repeterbart</a:t>
            </a:r>
            <a:endParaRPr sz="1100" b="0">
              <a:solidFill>
                <a:srgbClr val="11222F"/>
              </a:solidFill>
            </a:endParaRPr>
          </a:p>
          <a:p>
            <a:pPr marL="177800" indent="-177800" algn="l">
              <a:spcAft>
                <a:spcPts val="400"/>
              </a:spcAft>
              <a:buClr>
                <a:srgbClr val="1B7DA3"/>
              </a:buClr>
              <a:buChar char="•"/>
            </a:pPr>
            <a:r>
              <a:rPr sz="1100" b="0">
                <a:solidFill>
                  <a:srgbClr val="11222F"/>
                </a:solidFill>
              </a:rPr>
              <a:t>Standarder: format och metadata hanteras enligt bevarandemodellen och Cesars specifikation</a:t>
            </a:r>
            <a:endParaRPr sz="1100" b="0">
              <a:solidFill>
                <a:srgbClr val="11222F"/>
              </a:solidFill>
            </a:endParaRPr>
          </a:p>
        </p:txBody>
      </p:sp>
      <p:sp>
        <p:nvSpPr>
          <p:cNvPr id="570" name="Rectangle 6"/>
          <p:cNvSpPr/>
          <p:nvPr/>
        </p:nvSpPr>
        <p:spPr>
          <a:xfrm>
            <a:off x="6223000" y="1651000"/>
            <a:ext cx="5207000" cy="20066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71" name="Oval 7"/>
          <p:cNvSpPr/>
          <p:nvPr/>
        </p:nvSpPr>
        <p:spPr>
          <a:xfrm>
            <a:off x="6426200" y="18288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B</a:t>
            </a:r>
            <a:endParaRPr sz="1600" b="1">
              <a:solidFill>
                <a:srgbClr val="FFFFFF"/>
              </a:solidFill>
            </a:endParaRPr>
          </a:p>
        </p:txBody>
      </p:sp>
      <p:sp>
        <p:nvSpPr>
          <p:cNvPr id="572" name="TextBox 8"/>
          <p:cNvSpPr txBox="1"/>
          <p:nvPr/>
        </p:nvSpPr>
        <p:spPr>
          <a:xfrm>
            <a:off x="7035800" y="1803400"/>
            <a:ext cx="4241800" cy="365760"/>
          </a:xfrm>
          <a:prstGeom prst="rect">
            <a:avLst/>
          </a:prstGeom>
        </p:spPr>
        <p:txBody>
          <a:bodyPr wrap="square" anchor="t">
            <a:noAutofit/>
          </a:bodyPr>
          <a:lstStyle/>
          <a:p>
            <a:pPr algn="l">
              <a:spcAft>
                <a:spcPts val="400"/>
              </a:spcAft>
            </a:pPr>
            <a:r>
              <a:rPr sz="1600" b="1">
                <a:solidFill>
                  <a:srgbClr val="11222F"/>
                </a:solidFill>
              </a:rPr>
              <a:t>Innehåll och paketering</a:t>
            </a:r>
            <a:endParaRPr sz="1600" b="1">
              <a:solidFill>
                <a:srgbClr val="11222F"/>
              </a:solidFill>
            </a:endParaRPr>
          </a:p>
        </p:txBody>
      </p:sp>
      <p:sp>
        <p:nvSpPr>
          <p:cNvPr id="573" name="TextBox 9"/>
          <p:cNvSpPr txBox="1"/>
          <p:nvPr/>
        </p:nvSpPr>
        <p:spPr>
          <a:xfrm>
            <a:off x="6426200" y="2362200"/>
            <a:ext cx="4800600" cy="1737360"/>
          </a:xfrm>
          <a:prstGeom prst="rect">
            <a:avLst/>
          </a:prstGeom>
        </p:spPr>
        <p:txBody>
          <a:bodyPr wrap="square" anchor="t">
            <a:noAutofit/>
          </a:bodyPr>
          <a:lstStyle/>
          <a:p>
            <a:pPr marL="177800" indent="-177800" algn="l">
              <a:spcAft>
                <a:spcPts val="400"/>
              </a:spcAft>
              <a:buClr>
                <a:srgbClr val="1B7DA3"/>
              </a:buClr>
              <a:buChar char="•"/>
            </a:pPr>
            <a:r>
              <a:rPr sz="1100" b="0">
                <a:solidFill>
                  <a:srgbClr val="11222F"/>
                </a:solidFill>
              </a:rPr>
              <a:t>Metadata: obligatoriska metadata och identifierare förs över korrekt</a:t>
            </a:r>
            <a:endParaRPr sz="1100" b="0">
              <a:solidFill>
                <a:srgbClr val="11222F"/>
              </a:solidFill>
            </a:endParaRPr>
          </a:p>
          <a:p>
            <a:pPr marL="177800" indent="-177800" algn="l">
              <a:spcAft>
                <a:spcPts val="400"/>
              </a:spcAft>
              <a:buClr>
                <a:srgbClr val="1B7DA3"/>
              </a:buClr>
              <a:buChar char="•"/>
            </a:pPr>
            <a:r>
              <a:rPr sz="1100" b="0">
                <a:solidFill>
                  <a:srgbClr val="11222F"/>
                </a:solidFill>
              </a:rPr>
              <a:t>Ingest: materialet behandlas utan oupptäckta fel</a:t>
            </a:r>
            <a:endParaRPr sz="1100" b="0">
              <a:solidFill>
                <a:srgbClr val="11222F"/>
              </a:solidFill>
            </a:endParaRPr>
          </a:p>
          <a:p>
            <a:pPr marL="177800" indent="-177800" algn="l">
              <a:spcAft>
                <a:spcPts val="400"/>
              </a:spcAft>
              <a:buClr>
                <a:srgbClr val="1B7DA3"/>
              </a:buClr>
              <a:buChar char="•"/>
            </a:pPr>
            <a:r>
              <a:rPr sz="1100" b="0">
                <a:solidFill>
                  <a:srgbClr val="11222F"/>
                </a:solidFill>
              </a:rPr>
              <a:t>Paketering: paketens innehåll och struktur kan verifieras mot kraven</a:t>
            </a:r>
            <a:endParaRPr sz="1100" b="0">
              <a:solidFill>
                <a:srgbClr val="11222F"/>
              </a:solidFill>
            </a:endParaRPr>
          </a:p>
        </p:txBody>
      </p:sp>
      <p:sp>
        <p:nvSpPr>
          <p:cNvPr id="574" name="Rectangle 10"/>
          <p:cNvSpPr/>
          <p:nvPr/>
        </p:nvSpPr>
        <p:spPr>
          <a:xfrm>
            <a:off x="762000" y="3733800"/>
            <a:ext cx="5207000" cy="1905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75" name="Oval 11"/>
          <p:cNvSpPr/>
          <p:nvPr/>
        </p:nvSpPr>
        <p:spPr>
          <a:xfrm>
            <a:off x="965200" y="39116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C</a:t>
            </a:r>
            <a:endParaRPr sz="1600" b="1">
              <a:solidFill>
                <a:srgbClr val="FFFFFF"/>
              </a:solidFill>
            </a:endParaRPr>
          </a:p>
        </p:txBody>
      </p:sp>
      <p:sp>
        <p:nvSpPr>
          <p:cNvPr id="576" name="TextBox 12"/>
          <p:cNvSpPr txBox="1"/>
          <p:nvPr/>
        </p:nvSpPr>
        <p:spPr>
          <a:xfrm>
            <a:off x="1574800" y="3886200"/>
            <a:ext cx="4241800" cy="365760"/>
          </a:xfrm>
          <a:prstGeom prst="rect">
            <a:avLst/>
          </a:prstGeom>
        </p:spPr>
        <p:txBody>
          <a:bodyPr wrap="square" anchor="t">
            <a:noAutofit/>
          </a:bodyPr>
          <a:lstStyle/>
          <a:p>
            <a:pPr algn="l">
              <a:spcAft>
                <a:spcPts val="400"/>
              </a:spcAft>
            </a:pPr>
            <a:r>
              <a:rPr sz="1600" b="1">
                <a:solidFill>
                  <a:srgbClr val="11222F"/>
                </a:solidFill>
              </a:rPr>
              <a:t>Säker lagring</a:t>
            </a:r>
            <a:endParaRPr sz="1600" b="1">
              <a:solidFill>
                <a:srgbClr val="11222F"/>
              </a:solidFill>
            </a:endParaRPr>
          </a:p>
        </p:txBody>
      </p:sp>
      <p:sp>
        <p:nvSpPr>
          <p:cNvPr id="577" name="TextBox 13"/>
          <p:cNvSpPr txBox="1"/>
          <p:nvPr/>
        </p:nvSpPr>
        <p:spPr>
          <a:xfrm>
            <a:off x="965200" y="4445000"/>
            <a:ext cx="4800600" cy="1737360"/>
          </a:xfrm>
          <a:prstGeom prst="rect">
            <a:avLst/>
          </a:prstGeom>
        </p:spPr>
        <p:txBody>
          <a:bodyPr wrap="square" anchor="t">
            <a:noAutofit/>
          </a:bodyPr>
          <a:lstStyle/>
          <a:p>
            <a:pPr marL="177800" indent="-177800" algn="l">
              <a:spcAft>
                <a:spcPts val="400"/>
              </a:spcAft>
              <a:buClr>
                <a:srgbClr val="1B7DA3"/>
              </a:buClr>
              <a:buChar char="•"/>
            </a:pPr>
            <a:r>
              <a:rPr sz="1100" b="0">
                <a:solidFill>
                  <a:srgbClr val="11222F"/>
                </a:solidFill>
              </a:rPr>
              <a:t>Lagring: avsedd lagringsyta med dokumenterat skydd och åtkomst</a:t>
            </a:r>
            <a:endParaRPr sz="1100" b="0">
              <a:solidFill>
                <a:srgbClr val="11222F"/>
              </a:solidFill>
            </a:endParaRPr>
          </a:p>
          <a:p>
            <a:pPr marL="177800" indent="-177800" algn="l">
              <a:spcAft>
                <a:spcPts val="400"/>
              </a:spcAft>
              <a:buClr>
                <a:srgbClr val="1B7DA3"/>
              </a:buClr>
              <a:buChar char="•"/>
            </a:pPr>
            <a:r>
              <a:rPr sz="1100" b="0">
                <a:solidFill>
                  <a:srgbClr val="11222F"/>
                </a:solidFill>
              </a:rPr>
              <a:t>Integritet: kontrollsummor upptäcker förändringar och skador</a:t>
            </a:r>
            <a:endParaRPr sz="1100" b="0">
              <a:solidFill>
                <a:srgbClr val="11222F"/>
              </a:solidFill>
            </a:endParaRPr>
          </a:p>
          <a:p>
            <a:pPr marL="177800" indent="-177800" algn="l">
              <a:spcAft>
                <a:spcPts val="400"/>
              </a:spcAft>
              <a:buClr>
                <a:srgbClr val="1B7DA3"/>
              </a:buClr>
              <a:buChar char="•"/>
            </a:pPr>
            <a:r>
              <a:rPr sz="1100" b="0">
                <a:solidFill>
                  <a:srgbClr val="11222F"/>
                </a:solidFill>
              </a:rPr>
              <a:t>Återläsning: material kan hämtas och verifieras mot ursprunget</a:t>
            </a:r>
            <a:endParaRPr sz="1100" b="0">
              <a:solidFill>
                <a:srgbClr val="11222F"/>
              </a:solidFill>
            </a:endParaRPr>
          </a:p>
        </p:txBody>
      </p:sp>
      <p:sp>
        <p:nvSpPr>
          <p:cNvPr id="578" name="Rectangle 14"/>
          <p:cNvSpPr/>
          <p:nvPr/>
        </p:nvSpPr>
        <p:spPr>
          <a:xfrm>
            <a:off x="6223000" y="3733800"/>
            <a:ext cx="5207000" cy="19050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79" name="Oval 15"/>
          <p:cNvSpPr/>
          <p:nvPr/>
        </p:nvSpPr>
        <p:spPr>
          <a:xfrm>
            <a:off x="6426200" y="39116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D</a:t>
            </a:r>
            <a:endParaRPr sz="1600" b="1">
              <a:solidFill>
                <a:srgbClr val="FFFFFF"/>
              </a:solidFill>
            </a:endParaRPr>
          </a:p>
        </p:txBody>
      </p:sp>
      <p:sp>
        <p:nvSpPr>
          <p:cNvPr id="580" name="TextBox 16"/>
          <p:cNvSpPr txBox="1"/>
          <p:nvPr/>
        </p:nvSpPr>
        <p:spPr>
          <a:xfrm>
            <a:off x="7035800" y="3886200"/>
            <a:ext cx="4241800" cy="365760"/>
          </a:xfrm>
          <a:prstGeom prst="rect">
            <a:avLst/>
          </a:prstGeom>
        </p:spPr>
        <p:txBody>
          <a:bodyPr wrap="square" anchor="t">
            <a:noAutofit/>
          </a:bodyPr>
          <a:lstStyle/>
          <a:p>
            <a:pPr algn="l">
              <a:spcAft>
                <a:spcPts val="400"/>
              </a:spcAft>
            </a:pPr>
            <a:r>
              <a:rPr sz="1600" b="1">
                <a:solidFill>
                  <a:srgbClr val="11222F"/>
                </a:solidFill>
              </a:rPr>
              <a:t>Arbetssätt och förvaltning</a:t>
            </a:r>
            <a:endParaRPr sz="1600" b="1">
              <a:solidFill>
                <a:srgbClr val="11222F"/>
              </a:solidFill>
            </a:endParaRPr>
          </a:p>
        </p:txBody>
      </p:sp>
      <p:sp>
        <p:nvSpPr>
          <p:cNvPr id="581" name="TextBox 17"/>
          <p:cNvSpPr txBox="1"/>
          <p:nvPr/>
        </p:nvSpPr>
        <p:spPr>
          <a:xfrm>
            <a:off x="6426200" y="4445000"/>
            <a:ext cx="4800600" cy="1463040"/>
          </a:xfrm>
          <a:prstGeom prst="rect">
            <a:avLst/>
          </a:prstGeom>
        </p:spPr>
        <p:txBody>
          <a:bodyPr wrap="square" anchor="t">
            <a:noAutofit/>
          </a:bodyPr>
          <a:lstStyle/>
          <a:p>
            <a:pPr marL="177800" indent="-177800" algn="l">
              <a:spcAft>
                <a:spcPts val="400"/>
              </a:spcAft>
              <a:buClr>
                <a:srgbClr val="1B7DA3"/>
              </a:buClr>
              <a:buChar char="•"/>
            </a:pPr>
            <a:r>
              <a:rPr sz="1100" b="0">
                <a:solidFill>
                  <a:srgbClr val="11222F"/>
                </a:solidFill>
              </a:rPr>
              <a:t>Arbetssätt: dokumenterade rutiner, tydliga ansvarspunkter, ingen onödig administration</a:t>
            </a:r>
            <a:endParaRPr sz="1100" b="0">
              <a:solidFill>
                <a:srgbClr val="11222F"/>
              </a:solidFill>
            </a:endParaRPr>
          </a:p>
          <a:p>
            <a:pPr marL="177800" indent="-177800" algn="l">
              <a:spcAft>
                <a:spcPts val="400"/>
              </a:spcAft>
              <a:buClr>
                <a:srgbClr val="1B7DA3"/>
              </a:buClr>
              <a:buChar char="•"/>
            </a:pPr>
            <a:r>
              <a:rPr sz="1100" b="0">
                <a:solidFill>
                  <a:srgbClr val="11222F"/>
                </a:solidFill>
              </a:rPr>
              <a:t>Förvaltning: underlag för drift, kostnader, kompetensbehov och ansvar</a:t>
            </a:r>
            <a:endParaRPr sz="1100" b="0">
              <a:solidFill>
                <a:srgbClr val="11222F"/>
              </a:solidFill>
            </a:endParaRPr>
          </a:p>
        </p:txBody>
      </p:sp>
      <p:sp>
        <p:nvSpPr>
          <p:cNvPr id="582" name="Rectangle 18"/>
          <p:cNvSpPr/>
          <p:nvPr/>
        </p:nvSpPr>
        <p:spPr>
          <a:xfrm>
            <a:off x="762000" y="5740400"/>
            <a:ext cx="10668000" cy="558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400" b="1">
                <a:solidFill>
                  <a:srgbClr val="FFFFFF"/>
                </a:solidFill>
              </a:rPr>
              <a:t>Kriterierna fastställs i Fas 2, innan testerna påbörjas – de är grunden för beslutet om långsiktig lösning.</a:t>
            </a:r>
            <a:endParaRPr sz="1400" b="1">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Title 1"/>
          <p:cNvSpPr>
            <a:spLocks noGrp="1"/>
          </p:cNvSpPr>
          <p:nvPr>
            <p:ph type="title"/>
          </p:nvPr>
        </p:nvSpPr>
        <p:spPr/>
        <p:txBody>
          <a:bodyPr/>
          <a:lstStyle/>
          <a:p>
            <a:r>
              <a:rPr/>
              <a:t>Slutrekommendation</a:t>
            </a:r>
          </a:p>
        </p:txBody>
      </p:sp>
      <p:sp>
        <p:nvSpPr>
          <p:cNvPr id="585" name="Rectangle 2"/>
          <p:cNvSpPr/>
          <p:nvPr/>
        </p:nvSpPr>
        <p:spPr>
          <a:xfrm>
            <a:off x="762000" y="1727200"/>
            <a:ext cx="5715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86" name="Oval 3"/>
          <p:cNvSpPr/>
          <p:nvPr/>
        </p:nvSpPr>
        <p:spPr>
          <a:xfrm>
            <a:off x="965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a:t>
            </a:r>
            <a:endParaRPr sz="1600" b="1">
              <a:solidFill>
                <a:srgbClr val="FFFFFF"/>
              </a:solidFill>
            </a:endParaRPr>
          </a:p>
        </p:txBody>
      </p:sp>
      <p:sp>
        <p:nvSpPr>
          <p:cNvPr id="587" name="TextBox 4"/>
          <p:cNvSpPr txBox="1"/>
          <p:nvPr/>
        </p:nvSpPr>
        <p:spPr>
          <a:xfrm>
            <a:off x="1574800" y="1879600"/>
            <a:ext cx="4749800" cy="365760"/>
          </a:xfrm>
          <a:prstGeom prst="rect">
            <a:avLst/>
          </a:prstGeom>
        </p:spPr>
        <p:txBody>
          <a:bodyPr wrap="square" anchor="t">
            <a:noAutofit/>
          </a:bodyPr>
          <a:lstStyle/>
          <a:p>
            <a:pPr algn="l">
              <a:spcAft>
                <a:spcPts val="400"/>
              </a:spcAft>
            </a:pPr>
            <a:r>
              <a:rPr sz="1600" b="1">
                <a:solidFill>
                  <a:srgbClr val="11222F"/>
                </a:solidFill>
              </a:rPr>
              <a:t>Ledningsgruppen tar ställning till</a:t>
            </a:r>
            <a:endParaRPr sz="1600" b="1">
              <a:solidFill>
                <a:srgbClr val="11222F"/>
              </a:solidFill>
            </a:endParaRPr>
          </a:p>
        </p:txBody>
      </p:sp>
      <p:sp>
        <p:nvSpPr>
          <p:cNvPr id="588" name="TextBox 5"/>
          <p:cNvSpPr txBox="1"/>
          <p:nvPr/>
        </p:nvSpPr>
        <p:spPr>
          <a:xfrm>
            <a:off x="965200" y="2438400"/>
            <a:ext cx="5308600" cy="2560320"/>
          </a:xfrm>
          <a:prstGeom prst="rect">
            <a:avLst/>
          </a:prstGeom>
        </p:spPr>
        <p:txBody>
          <a:bodyPr wrap="square" anchor="t">
            <a:noAutofit/>
          </a:bodyPr>
          <a:lstStyle/>
          <a:p>
            <a:pPr marL="177800" indent="-177800" algn="l">
              <a:spcAft>
                <a:spcPts val="400"/>
              </a:spcAft>
              <a:buClr>
                <a:srgbClr val="1B7DA3"/>
              </a:buClr>
              <a:buChar char="•"/>
            </a:pPr>
            <a:r>
              <a:rPr sz="1400" b="0">
                <a:solidFill>
                  <a:srgbClr val="11222F"/>
                </a:solidFill>
              </a:rPr>
              <a:t>Är RODA lämpligt, och ska inriktningen mot Cesar bekräftas?</a:t>
            </a:r>
            <a:endParaRPr sz="1400" b="0">
              <a:solidFill>
                <a:srgbClr val="11222F"/>
              </a:solidFill>
            </a:endParaRPr>
          </a:p>
          <a:p>
            <a:pPr marL="177800" indent="-177800" algn="l">
              <a:spcAft>
                <a:spcPts val="400"/>
              </a:spcAft>
              <a:buClr>
                <a:srgbClr val="1B7DA3"/>
              </a:buClr>
              <a:buChar char="•"/>
            </a:pPr>
            <a:r>
              <a:rPr sz="1400" b="0">
                <a:solidFill>
                  <a:srgbClr val="11222F"/>
                </a:solidFill>
              </a:rPr>
              <a:t>Kan Primus vara utgångspunkt för urval och export?</a:t>
            </a:r>
            <a:endParaRPr sz="1400" b="0">
              <a:solidFill>
                <a:srgbClr val="11222F"/>
              </a:solidFill>
            </a:endParaRPr>
          </a:p>
          <a:p>
            <a:pPr marL="177800" indent="-177800" algn="l">
              <a:spcAft>
                <a:spcPts val="400"/>
              </a:spcAft>
              <a:buClr>
                <a:srgbClr val="1B7DA3"/>
              </a:buClr>
              <a:buChar char="•"/>
            </a:pPr>
            <a:r>
              <a:rPr sz="1400" b="0">
                <a:solidFill>
                  <a:srgbClr val="11222F"/>
                </a:solidFill>
              </a:rPr>
              <a:t>Vilka kompletteringar krävs i metadata, integration och arbetssätt?</a:t>
            </a:r>
            <a:endParaRPr sz="1400" b="0">
              <a:solidFill>
                <a:srgbClr val="11222F"/>
              </a:solidFill>
            </a:endParaRPr>
          </a:p>
          <a:p>
            <a:pPr marL="177800" indent="-177800" algn="l">
              <a:spcAft>
                <a:spcPts val="400"/>
              </a:spcAft>
              <a:buClr>
                <a:srgbClr val="1B7DA3"/>
              </a:buClr>
              <a:buChar char="•"/>
            </a:pPr>
            <a:r>
              <a:rPr sz="1400" b="0">
                <a:solidFill>
                  <a:srgbClr val="11222F"/>
                </a:solidFill>
              </a:rPr>
              <a:t>Vilken lagrings- och driftsmodell ska användas?</a:t>
            </a:r>
            <a:endParaRPr sz="1400" b="0">
              <a:solidFill>
                <a:srgbClr val="11222F"/>
              </a:solidFill>
            </a:endParaRPr>
          </a:p>
          <a:p>
            <a:pPr marL="177800" indent="-177800" algn="l">
              <a:spcAft>
                <a:spcPts val="400"/>
              </a:spcAft>
              <a:buClr>
                <a:srgbClr val="1B7DA3"/>
              </a:buClr>
              <a:buChar char="•"/>
            </a:pPr>
            <a:r>
              <a:rPr sz="1400" b="0">
                <a:solidFill>
                  <a:srgbClr val="11222F"/>
                </a:solidFill>
              </a:rPr>
              <a:t>Vilka resurser och vilken finansiering krävs?</a:t>
            </a:r>
            <a:endParaRPr sz="1400" b="0">
              <a:solidFill>
                <a:srgbClr val="11222F"/>
              </a:solidFill>
            </a:endParaRPr>
          </a:p>
          <a:p>
            <a:pPr marL="177800" indent="-177800" algn="l">
              <a:spcAft>
                <a:spcPts val="400"/>
              </a:spcAft>
              <a:buClr>
                <a:srgbClr val="1B7DA3"/>
              </a:buClr>
              <a:buChar char="•"/>
            </a:pPr>
            <a:r>
              <a:rPr sz="1400" b="0">
                <a:solidFill>
                  <a:srgbClr val="11222F"/>
                </a:solidFill>
              </a:rPr>
              <a:t>Hur ska ansvar och förvaltning organiseras?</a:t>
            </a:r>
            <a:endParaRPr sz="1400" b="0">
              <a:solidFill>
                <a:srgbClr val="11222F"/>
              </a:solidFill>
            </a:endParaRPr>
          </a:p>
        </p:txBody>
      </p:sp>
      <p:sp>
        <p:nvSpPr>
          <p:cNvPr id="589" name="Rectangle 6"/>
          <p:cNvSpPr/>
          <p:nvPr/>
        </p:nvSpPr>
        <p:spPr>
          <a:xfrm>
            <a:off x="6731000" y="1727200"/>
            <a:ext cx="4699000" cy="3759200"/>
          </a:xfrm>
          <a:prstGeom prst="rect">
            <a:avLst/>
          </a:prstGeom>
          <a:solidFill>
            <a:srgbClr val="E6F1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90" name="Oval 7"/>
          <p:cNvSpPr/>
          <p:nvPr/>
        </p:nvSpPr>
        <p:spPr>
          <a:xfrm>
            <a:off x="6934200" y="1905000"/>
            <a:ext cx="482600" cy="482600"/>
          </a:xfrm>
          <a:prstGeom prst="ellipse">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600" b="1">
                <a:solidFill>
                  <a:srgbClr val="FFFFFF"/>
                </a:solidFill>
              </a:rPr>
              <a:t>→</a:t>
            </a:r>
            <a:endParaRPr sz="1600" b="1">
              <a:solidFill>
                <a:srgbClr val="FFFFFF"/>
              </a:solidFill>
            </a:endParaRPr>
          </a:p>
        </p:txBody>
      </p:sp>
      <p:sp>
        <p:nvSpPr>
          <p:cNvPr id="591" name="TextBox 8"/>
          <p:cNvSpPr txBox="1"/>
          <p:nvPr/>
        </p:nvSpPr>
        <p:spPr>
          <a:xfrm>
            <a:off x="7543800" y="1879600"/>
            <a:ext cx="3733800" cy="365760"/>
          </a:xfrm>
          <a:prstGeom prst="rect">
            <a:avLst/>
          </a:prstGeom>
        </p:spPr>
        <p:txBody>
          <a:bodyPr wrap="square" anchor="t">
            <a:noAutofit/>
          </a:bodyPr>
          <a:lstStyle/>
          <a:p>
            <a:pPr algn="l">
              <a:spcAft>
                <a:spcPts val="400"/>
              </a:spcAft>
            </a:pPr>
            <a:r>
              <a:rPr sz="1600" b="1">
                <a:solidFill>
                  <a:srgbClr val="11222F"/>
                </a:solidFill>
              </a:rPr>
              <a:t>Möjliga vägval</a:t>
            </a:r>
            <a:endParaRPr sz="1600" b="1">
              <a:solidFill>
                <a:srgbClr val="11222F"/>
              </a:solidFill>
            </a:endParaRPr>
          </a:p>
        </p:txBody>
      </p:sp>
      <p:sp>
        <p:nvSpPr>
          <p:cNvPr id="592" name="TextBox 9"/>
          <p:cNvSpPr txBox="1"/>
          <p:nvPr/>
        </p:nvSpPr>
        <p:spPr>
          <a:xfrm>
            <a:off x="7543800" y="2159000"/>
            <a:ext cx="3733800" cy="365760"/>
          </a:xfrm>
          <a:prstGeom prst="rect">
            <a:avLst/>
          </a:prstGeom>
        </p:spPr>
        <p:txBody>
          <a:bodyPr wrap="square" anchor="t">
            <a:noAutofit/>
          </a:bodyPr>
          <a:lstStyle/>
          <a:p>
            <a:pPr algn="l">
              <a:spcAft>
                <a:spcPts val="400"/>
              </a:spcAft>
            </a:pPr>
            <a:r>
              <a:rPr sz="1100" b="0">
                <a:solidFill>
                  <a:srgbClr val="51636F"/>
                </a:solidFill>
              </a:rPr>
              <a:t>Beslutas av ledningsgruppen</a:t>
            </a:r>
            <a:endParaRPr sz="1100" b="0">
              <a:solidFill>
                <a:srgbClr val="51636F"/>
              </a:solidFill>
            </a:endParaRPr>
          </a:p>
        </p:txBody>
      </p:sp>
      <p:sp>
        <p:nvSpPr>
          <p:cNvPr id="593" name="TextBox 10"/>
          <p:cNvSpPr txBox="1"/>
          <p:nvPr/>
        </p:nvSpPr>
        <p:spPr>
          <a:xfrm>
            <a:off x="6934200" y="2540000"/>
            <a:ext cx="4292600" cy="1188720"/>
          </a:xfrm>
          <a:prstGeom prst="rect">
            <a:avLst/>
          </a:prstGeom>
        </p:spPr>
        <p:txBody>
          <a:bodyPr wrap="square" anchor="t">
            <a:noAutofit/>
          </a:bodyPr>
          <a:lstStyle/>
          <a:p>
            <a:pPr marL="177800" indent="-177800" algn="l">
              <a:spcAft>
                <a:spcPts val="400"/>
              </a:spcAft>
              <a:buClr>
                <a:srgbClr val="1B7DA3"/>
              </a:buClr>
              <a:buChar char="•"/>
            </a:pPr>
            <a:r>
              <a:rPr sz="1600" b="0">
                <a:solidFill>
                  <a:srgbClr val="11222F"/>
                </a:solidFill>
              </a:rPr>
              <a:t>Vidareutveckla lösningen</a:t>
            </a:r>
            <a:endParaRPr sz="1600" b="0">
              <a:solidFill>
                <a:srgbClr val="11222F"/>
              </a:solidFill>
            </a:endParaRPr>
          </a:p>
          <a:p>
            <a:pPr marL="177800" indent="-177800" algn="l">
              <a:spcAft>
                <a:spcPts val="400"/>
              </a:spcAft>
              <a:buClr>
                <a:srgbClr val="1B7DA3"/>
              </a:buClr>
              <a:buChar char="•"/>
            </a:pPr>
            <a:r>
              <a:rPr sz="1600" b="0">
                <a:solidFill>
                  <a:srgbClr val="11222F"/>
                </a:solidFill>
              </a:rPr>
              <a:t>Genomföra ytterligare en pilot</a:t>
            </a:r>
            <a:endParaRPr sz="1600" b="0">
              <a:solidFill>
                <a:srgbClr val="11222F"/>
              </a:solidFill>
            </a:endParaRPr>
          </a:p>
          <a:p>
            <a:pPr marL="177800" indent="-177800" algn="l">
              <a:spcAft>
                <a:spcPts val="400"/>
              </a:spcAft>
              <a:buClr>
                <a:srgbClr val="1B7DA3"/>
              </a:buClr>
              <a:buChar char="•"/>
            </a:pPr>
            <a:r>
              <a:rPr sz="1600" b="0">
                <a:solidFill>
                  <a:srgbClr val="11222F"/>
                </a:solidFill>
              </a:rPr>
              <a:t>Införa stegvis vid fler museer, med planerad överföring till Cesar</a:t>
            </a:r>
            <a:endParaRPr sz="1600" b="0">
              <a:solidFill>
                <a:srgbClr val="11222F"/>
              </a:solidFill>
            </a:endParaRPr>
          </a:p>
        </p:txBody>
      </p:sp>
      <p:sp>
        <p:nvSpPr>
          <p:cNvPr id="594" name="Rectangle 11"/>
          <p:cNvSpPr/>
          <p:nvPr/>
        </p:nvSpPr>
        <p:spPr>
          <a:xfrm>
            <a:off x="762000" y="5664200"/>
            <a:ext cx="10668000" cy="685800"/>
          </a:xfrm>
          <a:prstGeom prst="roundRect">
            <a:avLst/>
          </a:prstGeom>
          <a:solidFill>
            <a:srgbClr val="1B7D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sz="1500" b="1">
                <a:solidFill>
                  <a:srgbClr val="FFFFFF"/>
                </a:solidFill>
              </a:rPr>
              <a:t>Slutrapport med rekommendation i Fas 4 (oktober–december 2027) – därefter beslut om långsiktig lösning.</a:t>
            </a:r>
            <a:endParaRPr sz="1500" b="1">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Harbor">
  <a:themeElements>
    <a:clrScheme name="Harbor">
      <a:dk1>
        <a:srgbClr val="0B1F2A"/>
      </a:dk1>
      <a:lt1>
        <a:srgbClr val="FFFFFF"/>
      </a:lt1>
      <a:dk2>
        <a:srgbClr val="12384D"/>
      </a:dk2>
      <a:lt2>
        <a:srgbClr val="E4EEF2"/>
      </a:lt2>
      <a:accent1>
        <a:srgbClr val="1B7FA6"/>
      </a:accent1>
      <a:accent2>
        <a:srgbClr val="36B3A8"/>
      </a:accent2>
      <a:accent3>
        <a:srgbClr val="F2C14E"/>
      </a:accent3>
      <a:accent4>
        <a:srgbClr val="F78154"/>
      </a:accent4>
      <a:accent5>
        <a:srgbClr val="5D576B"/>
      </a:accent5>
      <a:accent6>
        <a:srgbClr val="8AA29E"/>
      </a:accent6>
      <a:hlink>
        <a:srgbClr val="1B7FA6"/>
      </a:hlink>
      <a:folHlink>
        <a:srgbClr val="5D576B"/>
      </a:folHlink>
    </a:clrScheme>
    <a:fontScheme name="Harbor">
      <a:majorFont>
        <a:latin typeface="Merriweather"/>
        <a:ea typeface=""/>
        <a:cs typeface=""/>
      </a:majorFont>
      <a:minorFont>
        <a:latin typeface="Open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Harbor">
  <a:themeElements>
    <a:clrScheme name="Harbor">
      <a:dk1>
        <a:srgbClr val="0B1F2A"/>
      </a:dk1>
      <a:lt1>
        <a:srgbClr val="FFFFFF"/>
      </a:lt1>
      <a:dk2>
        <a:srgbClr val="12384D"/>
      </a:dk2>
      <a:lt2>
        <a:srgbClr val="E4EEF2"/>
      </a:lt2>
      <a:accent1>
        <a:srgbClr val="1B7FA6"/>
      </a:accent1>
      <a:accent2>
        <a:srgbClr val="36B3A8"/>
      </a:accent2>
      <a:accent3>
        <a:srgbClr val="F2C14E"/>
      </a:accent3>
      <a:accent4>
        <a:srgbClr val="F78154"/>
      </a:accent4>
      <a:accent5>
        <a:srgbClr val="5D576B"/>
      </a:accent5>
      <a:accent6>
        <a:srgbClr val="8AA29E"/>
      </a:accent6>
      <a:hlink>
        <a:srgbClr val="1B7FA6"/>
      </a:hlink>
      <a:folHlink>
        <a:srgbClr val="5D576B"/>
      </a:folHlink>
    </a:clrScheme>
    <a:fontScheme name="Harbor">
      <a:majorFont>
        <a:latin typeface="Merriweather"/>
        <a:ea typeface=""/>
        <a:cs typeface=""/>
      </a:majorFont>
      <a:minorFont>
        <a:latin typeface="Open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9</Slides>
  <Notes>9</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