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theme" Target="theme/theme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906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857250" y="1143000"/>
            <a:ext cx="51435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846320"/>
            <a:ext cx="5486400" cy="3291840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906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  <a:lvl2pPr marL="457200" algn="l">
      <a:defRPr sz="1200">
        <a:solidFill>
          <a:schemeClr val="tx1"/>
        </a:solidFill>
        <a:latin typeface="+mn-lt"/>
      </a:defRPr>
    </a:lvl2pPr>
    <a:lvl3pPr marL="914400" algn="l">
      <a:defRPr sz="1200">
        <a:solidFill>
          <a:schemeClr val="tx1"/>
        </a:solidFill>
        <a:latin typeface="+mn-lt"/>
      </a:defRPr>
    </a:lvl3pPr>
    <a:lvl4pPr marL="1371600" algn="l">
      <a:defRPr sz="1200">
        <a:solidFill>
          <a:schemeClr val="tx1"/>
        </a:solidFill>
        <a:latin typeface="+mn-lt"/>
      </a:defRPr>
    </a:lvl4pPr>
    <a:lvl5pPr marL="1828800" algn="l">
      <a:defRPr sz="1200">
        <a:solidFill>
          <a:schemeClr val="tx1"/>
        </a:solidFill>
        <a:latin typeface="+mn-lt"/>
      </a:defRPr>
    </a:lvl5pPr>
    <a:lvl6pPr marL="2286000" algn="l">
      <a:defRPr sz="1200">
        <a:solidFill>
          <a:schemeClr val="tx1"/>
        </a:solidFill>
        <a:latin typeface="+mn-lt"/>
      </a:defRPr>
    </a:lvl6pPr>
    <a:lvl7pPr marL="2743200" algn="l">
      <a:defRPr sz="1200">
        <a:solidFill>
          <a:schemeClr val="tx1"/>
        </a:solidFill>
        <a:latin typeface="+mn-lt"/>
      </a:defRPr>
    </a:lvl7pPr>
    <a:lvl8pPr marL="3200400" algn="l">
      <a:defRPr sz="1200">
        <a:solidFill>
          <a:schemeClr val="tx1"/>
        </a:solidFill>
        <a:latin typeface="+mn-lt"/>
      </a:defRPr>
    </a:lvl8pPr>
    <a:lvl9pPr marL="3657600" algn="l">
      <a:defRPr sz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KUB har inventerat hur museerna skapar, lagrar och skyddar sitt digitala kulturarv. Presentationen sammanfattar nuläge, rekommenderad inriktning, pilotprojekt och de beslut som föreslås.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Materialet ligger utspritt och enhetliga rutiner saknas. Samtidigt är digitalt kulturarv klassat som samhällsviktig verksamhet och hotbilden ökar.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Regionens nätverksdiskar är säkerhetskopiering, inte bevarande. Bevarandepaket i RODA bär med sig metadata och hanterar format- och programbyten över tid.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Cesar-teamet är hårt belastat och har preliminärt aviserat att kulturarvsmaterial kan påbörjas tidigast 2028.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Verksamheten äger innehållet och kunskapen om sina behov. KUB-teamet och KSD stöder med teknik, struktur och frågor. Måluppfyllelse: utvärdering av RODA, fastställt urval, metadatamappning, beprövade rutiner, testade bevarandepaket och dokumenterad ansvarsfördelning.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Underlaget anger åtta fördelar. Här är de sammanfogade till sex: minskad risk för förlust ingår i att bristerna åtgärdas nu, och återanvändbart arbete ingår i kortare väg in i Cesar.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Verksamheten äger innehållet. KUB-projektet och KSD stöder med teknik, struktur och metodfrågor.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Längden på varje fas är ungefärlig. Det tekniska arbetet drivs av KUB-projektet i direkt samarbete med KSD:s bevarandeprojekt och KSD Infrastruktur. Cesar-projektet är bollplank under hela piloten.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Om förutsättningarna inte kan uppfyllas återkopplar KUB-projektet med förslag till justerat upplägg.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Harb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Strategisk rekommendation – KUB</a:t>
            </a:r>
          </a:p>
        </p:txBody>
      </p:sp>
      <p:sp>
        <p:nvSpPr>
          <p:cNvPr id="262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/>
              <a:t>Digitalt kulturarv och bevarande</a:t>
            </a:r>
          </a:p>
          <a:p>
            <a:r>
              <a:rPr/>
              <a:t>Underlag till ledningsgruppen · 2026-10-19 · version 7</a:t>
            </a:r>
          </a:p>
        </p:txBody>
      </p:sp>
      <p:sp>
        <p:nvSpPr>
          <p:cNvPr id="263" name="Rectangle 3"/>
          <p:cNvSpPr/>
          <p:nvPr/>
        </p:nvSpPr>
        <p:spPr>
          <a:xfrm>
            <a:off x="0" y="0"/>
            <a:ext cx="355600" cy="6858000"/>
          </a:xfrm>
          <a:prstGeom prst="rect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4" name="Rectangle 4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1022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3000"/>
              <a:t>Samhällsviktigt kulturarv – utan tillräckligt skydd</a:t>
            </a:r>
            <a:endParaRPr sz="3000"/>
          </a:p>
        </p:txBody>
      </p:sp>
      <p:sp>
        <p:nvSpPr>
          <p:cNvPr id="267" name="Rectangle 2"/>
          <p:cNvSpPr/>
          <p:nvPr/>
        </p:nvSpPr>
        <p:spPr>
          <a:xfrm>
            <a:off x="762000" y="1778000"/>
            <a:ext cx="3505200" cy="19050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8" name="Rectangle 3"/>
          <p:cNvSpPr/>
          <p:nvPr/>
        </p:nvSpPr>
        <p:spPr>
          <a:xfrm>
            <a:off x="762000" y="1778000"/>
            <a:ext cx="76200" cy="1905000"/>
          </a:xfrm>
          <a:prstGeom prst="rect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9" name="TextBox 4"/>
          <p:cNvSpPr txBox="1"/>
          <p:nvPr/>
        </p:nvSpPr>
        <p:spPr>
          <a:xfrm>
            <a:off x="990600" y="1905000"/>
            <a:ext cx="31242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700" b="1">
                <a:solidFill>
                  <a:srgbClr val="1B7DA3"/>
                </a:solidFill>
              </a:rPr>
              <a:t>Samhällsviktig verksamhet</a:t>
            </a:r>
            <a:endParaRPr sz="1700" b="1">
              <a:solidFill>
                <a:srgbClr val="1B7DA3"/>
              </a:solidFill>
            </a:endParaRPr>
          </a:p>
        </p:txBody>
      </p:sp>
      <p:sp>
        <p:nvSpPr>
          <p:cNvPr id="270" name="TextBox 5"/>
          <p:cNvSpPr txBox="1"/>
          <p:nvPr/>
        </p:nvSpPr>
        <p:spPr>
          <a:xfrm>
            <a:off x="990600" y="2336800"/>
            <a:ext cx="3124200" cy="118872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500">
                <a:solidFill>
                  <a:srgbClr val="10222F"/>
                </a:solidFill>
              </a:rPr>
              <a:t>Myndigheten för civilt försvar har klassat digitalt kulturarv som samhällsviktig verksamhet.</a:t>
            </a:r>
            <a:endParaRPr sz="1500">
              <a:solidFill>
                <a:srgbClr val="10222F"/>
              </a:solidFill>
            </a:endParaRPr>
          </a:p>
        </p:txBody>
      </p:sp>
      <p:sp>
        <p:nvSpPr>
          <p:cNvPr id="271" name="Rectangle 6"/>
          <p:cNvSpPr/>
          <p:nvPr/>
        </p:nvSpPr>
        <p:spPr>
          <a:xfrm>
            <a:off x="4521200" y="1778000"/>
            <a:ext cx="3505200" cy="19050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2" name="Rectangle 7"/>
          <p:cNvSpPr/>
          <p:nvPr/>
        </p:nvSpPr>
        <p:spPr>
          <a:xfrm>
            <a:off x="4521200" y="1778000"/>
            <a:ext cx="76200" cy="1905000"/>
          </a:xfrm>
          <a:prstGeom prst="rect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3" name="TextBox 8"/>
          <p:cNvSpPr txBox="1"/>
          <p:nvPr/>
        </p:nvSpPr>
        <p:spPr>
          <a:xfrm>
            <a:off x="4749800" y="1905000"/>
            <a:ext cx="31242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700" b="1">
                <a:solidFill>
                  <a:srgbClr val="1B7DA3"/>
                </a:solidFill>
              </a:rPr>
              <a:t>Ökande hotbild</a:t>
            </a:r>
            <a:endParaRPr sz="1700" b="1">
              <a:solidFill>
                <a:srgbClr val="1B7DA3"/>
              </a:solidFill>
            </a:endParaRPr>
          </a:p>
        </p:txBody>
      </p:sp>
      <p:sp>
        <p:nvSpPr>
          <p:cNvPr id="274" name="TextBox 9"/>
          <p:cNvSpPr txBox="1"/>
          <p:nvPr/>
        </p:nvSpPr>
        <p:spPr>
          <a:xfrm>
            <a:off x="4749800" y="2336800"/>
            <a:ext cx="3124200" cy="146304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500">
                <a:solidFill>
                  <a:srgbClr val="10222F"/>
                </a:solidFill>
              </a:rPr>
              <a:t>Kriget i Ukraina samt ransomware, AI-manipulation och cyberangrepp kräver digital motståndskraft.</a:t>
            </a:r>
            <a:endParaRPr sz="1500">
              <a:solidFill>
                <a:srgbClr val="10222F"/>
              </a:solidFill>
            </a:endParaRPr>
          </a:p>
        </p:txBody>
      </p:sp>
      <p:sp>
        <p:nvSpPr>
          <p:cNvPr id="275" name="Rectangle 10"/>
          <p:cNvSpPr/>
          <p:nvPr/>
        </p:nvSpPr>
        <p:spPr>
          <a:xfrm>
            <a:off x="8280400" y="1778000"/>
            <a:ext cx="3505200" cy="19050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6" name="Rectangle 11"/>
          <p:cNvSpPr/>
          <p:nvPr/>
        </p:nvSpPr>
        <p:spPr>
          <a:xfrm>
            <a:off x="8280400" y="1778000"/>
            <a:ext cx="76200" cy="1905000"/>
          </a:xfrm>
          <a:prstGeom prst="rect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7" name="TextBox 12"/>
          <p:cNvSpPr txBox="1"/>
          <p:nvPr/>
        </p:nvSpPr>
        <p:spPr>
          <a:xfrm>
            <a:off x="8509000" y="1905000"/>
            <a:ext cx="31242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700" b="1">
                <a:solidFill>
                  <a:srgbClr val="1B7DA3"/>
                </a:solidFill>
              </a:rPr>
              <a:t>Ingen nationell lösning</a:t>
            </a:r>
            <a:endParaRPr sz="1700" b="1">
              <a:solidFill>
                <a:srgbClr val="1B7DA3"/>
              </a:solidFill>
            </a:endParaRPr>
          </a:p>
        </p:txBody>
      </p:sp>
      <p:sp>
        <p:nvSpPr>
          <p:cNvPr id="278" name="TextBox 13"/>
          <p:cNvSpPr txBox="1"/>
          <p:nvPr/>
        </p:nvSpPr>
        <p:spPr>
          <a:xfrm>
            <a:off x="8509000" y="2336800"/>
            <a:ext cx="3124200" cy="146304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500">
                <a:solidFill>
                  <a:srgbClr val="10222F"/>
                </a:solidFill>
              </a:rPr>
              <a:t>Nationell kartläggning och dialog med Riksantikvarieämbetet visar att en etablerad lösning saknas.</a:t>
            </a:r>
            <a:endParaRPr sz="1500">
              <a:solidFill>
                <a:srgbClr val="10222F"/>
              </a:solidFill>
            </a:endParaRPr>
          </a:p>
        </p:txBody>
      </p:sp>
      <p:sp>
        <p:nvSpPr>
          <p:cNvPr id="279" name="TextBox 14"/>
          <p:cNvSpPr txBox="1"/>
          <p:nvPr/>
        </p:nvSpPr>
        <p:spPr>
          <a:xfrm>
            <a:off x="762000" y="3962400"/>
            <a:ext cx="10668000" cy="6400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4A5B66"/>
                </a:solidFill>
              </a:rPr>
              <a:t>Så hanteras materialet i dag – enligt intervjuer med samtliga museer, samlingsansvariga och förvaltare</a:t>
            </a:r>
            <a:endParaRPr sz="1400" b="1">
              <a:solidFill>
                <a:srgbClr val="4A5B66"/>
              </a:solidFill>
            </a:endParaRPr>
          </a:p>
        </p:txBody>
      </p:sp>
      <p:sp>
        <p:nvSpPr>
          <p:cNvPr id="280" name="Rectangle 15"/>
          <p:cNvSpPr/>
          <p:nvPr/>
        </p:nvSpPr>
        <p:spPr>
          <a:xfrm>
            <a:off x="762000" y="4394200"/>
            <a:ext cx="2540000" cy="558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1B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400">
                <a:solidFill>
                  <a:srgbClr val="10222F"/>
                </a:solidFill>
              </a:rPr>
              <a:t>Externa hårddiskar</a:t>
            </a:r>
            <a:endParaRPr sz="1400">
              <a:solidFill>
                <a:srgbClr val="10222F"/>
              </a:solidFill>
            </a:endParaRPr>
          </a:p>
        </p:txBody>
      </p:sp>
      <p:sp>
        <p:nvSpPr>
          <p:cNvPr id="281" name="Rectangle 16"/>
          <p:cNvSpPr/>
          <p:nvPr/>
        </p:nvSpPr>
        <p:spPr>
          <a:xfrm>
            <a:off x="3505200" y="4394200"/>
            <a:ext cx="2540000" cy="558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1B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400">
                <a:solidFill>
                  <a:srgbClr val="10222F"/>
                </a:solidFill>
              </a:rPr>
              <a:t>USB-minnen</a:t>
            </a:r>
            <a:endParaRPr sz="1400">
              <a:solidFill>
                <a:srgbClr val="10222F"/>
              </a:solidFill>
            </a:endParaRPr>
          </a:p>
        </p:txBody>
      </p:sp>
      <p:sp>
        <p:nvSpPr>
          <p:cNvPr id="282" name="Rectangle 17"/>
          <p:cNvSpPr/>
          <p:nvPr/>
        </p:nvSpPr>
        <p:spPr>
          <a:xfrm>
            <a:off x="6248400" y="4394200"/>
            <a:ext cx="2540000" cy="558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1B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400">
                <a:solidFill>
                  <a:srgbClr val="10222F"/>
                </a:solidFill>
              </a:rPr>
              <a:t>Lokala datorer</a:t>
            </a:r>
            <a:endParaRPr sz="1400">
              <a:solidFill>
                <a:srgbClr val="10222F"/>
              </a:solidFill>
            </a:endParaRPr>
          </a:p>
        </p:txBody>
      </p:sp>
      <p:sp>
        <p:nvSpPr>
          <p:cNvPr id="283" name="Rectangle 18"/>
          <p:cNvSpPr/>
          <p:nvPr/>
        </p:nvSpPr>
        <p:spPr>
          <a:xfrm>
            <a:off x="8991600" y="4394200"/>
            <a:ext cx="2540000" cy="558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1B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400">
                <a:solidFill>
                  <a:srgbClr val="10222F"/>
                </a:solidFill>
              </a:rPr>
              <a:t>Nätverksdiskar</a:t>
            </a:r>
            <a:endParaRPr sz="1400">
              <a:solidFill>
                <a:srgbClr val="10222F"/>
              </a:solidFill>
            </a:endParaRPr>
          </a:p>
        </p:txBody>
      </p:sp>
      <p:sp>
        <p:nvSpPr>
          <p:cNvPr id="284" name="Rectangle 19"/>
          <p:cNvSpPr/>
          <p:nvPr/>
        </p:nvSpPr>
        <p:spPr>
          <a:xfrm>
            <a:off x="762000" y="52578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1022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/>
            <a:r>
              <a:rPr sz="1500">
                <a:solidFill>
                  <a:srgbClr val="FFFFFF"/>
                </a:solidFill>
              </a:rPr>
              <a:t>Slutsats: verksamheten uppfyller i dag inte gällande nationella regler och föreskrifter för arkivering och bevarande. Enhetliga rutiner saknas i stora delar av verksamheten.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3000"/>
              <a:t>Säkerhetskopia är inte långtidsbevarande</a:t>
            </a:r>
            <a:endParaRPr sz="3000"/>
          </a:p>
        </p:txBody>
      </p:sp>
      <p:graphicFrame>
        <p:nvGraphicFramePr>
          <p:cNvPr id="287" name="Table 2"/>
          <p:cNvGraphicFramePr>
            <a:graphicFrameLocks noGrp="1"/>
          </p:cNvGraphicFramePr>
          <p:nvPr/>
        </p:nvGraphicFramePr>
        <p:xfrm>
          <a:off x="762000" y="1778000"/>
          <a:ext cx="10668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/>
                <a:gridCol w="3683000"/>
                <a:gridCol w="4572000"/>
              </a:tblGrid>
              <a:tr h="635000">
                <a:tc>
                  <a:txBody>
                    <a:bodyPr/>
                    <a:lstStyle/>
                    <a:p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Säkerhetskopia (backup)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Långtidsbevarande</a:t>
                      </a:r>
                      <a:endParaRPr sz="1500"/>
                    </a:p>
                  </a:txBody>
                  <a:tcPr anchor="ctr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500"/>
                        <a:t>Syfte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Kortsiktig teknisk katastrofsäkring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Säkra informationens äkthet, sammanhang och läsbarhet över decennier</a:t>
                      </a:r>
                      <a:endParaRPr sz="1500"/>
                    </a:p>
                  </a:txBody>
                  <a:tcPr anchor="ctr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500"/>
                        <a:t>Exempel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Regionens nätverksdiskar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Standardiserade bevarandepaket i RODA (Cesar)</a:t>
                      </a:r>
                      <a:endParaRPr sz="1500"/>
                    </a:p>
                  </a:txBody>
                  <a:tcPr anchor="ctr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500"/>
                        <a:t>Metadata och kontext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Bevaras inte systematiskt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Bevaras tillsammans med originalfilen</a:t>
                      </a:r>
                      <a:endParaRPr sz="1500"/>
                    </a:p>
                  </a:txBody>
                  <a:tcPr anchor="ctr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500"/>
                        <a:t>Format- och programbyten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Hanteras inte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Hanteras över tid</a:t>
                      </a:r>
                      <a:endParaRPr sz="1500"/>
                    </a:p>
                  </a:txBody>
                  <a:tcPr anchor="ctr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500"/>
                        <a:t>Uppfyller arkivkrav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Nej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Ja</a:t>
                      </a:r>
                      <a:endParaRPr sz="150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8" name="TextBox 3"/>
          <p:cNvSpPr txBox="1"/>
          <p:nvPr/>
        </p:nvSpPr>
        <p:spPr>
          <a:xfrm>
            <a:off x="762000" y="5740400"/>
            <a:ext cx="106680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500" b="1">
                <a:solidFill>
                  <a:srgbClr val="1B7DA3"/>
                </a:solidFill>
              </a:rPr>
              <a:t>Projektets centrala insikt: begreppen måste hållas isär. Backup ersätter inte digitalt bevarande.</a:t>
            </a:r>
            <a:endParaRPr sz="1500" b="1">
              <a:solidFill>
                <a:srgbClr val="1B7DA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3000"/>
              <a:t>Systemlandskapet – och en tidsutmaning</a:t>
            </a:r>
            <a:endParaRPr sz="3000"/>
          </a:p>
        </p:txBody>
      </p:sp>
      <p:sp>
        <p:nvSpPr>
          <p:cNvPr id="291" name="Rectangle 2"/>
          <p:cNvSpPr/>
          <p:nvPr/>
        </p:nvSpPr>
        <p:spPr>
          <a:xfrm>
            <a:off x="762000" y="1778000"/>
            <a:ext cx="5969000" cy="13970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2" name="Rectangle 3"/>
          <p:cNvSpPr/>
          <p:nvPr/>
        </p:nvSpPr>
        <p:spPr>
          <a:xfrm>
            <a:off x="762000" y="1778000"/>
            <a:ext cx="76200" cy="1397000"/>
          </a:xfrm>
          <a:prstGeom prst="rect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3" name="TextBox 4"/>
          <p:cNvSpPr txBox="1"/>
          <p:nvPr/>
        </p:nvSpPr>
        <p:spPr>
          <a:xfrm>
            <a:off x="990600" y="1854200"/>
            <a:ext cx="55880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1B7DA3"/>
                </a:solidFill>
              </a:rPr>
              <a:t>Primus (KulturIT)</a:t>
            </a:r>
            <a:endParaRPr sz="1600" b="1">
              <a:solidFill>
                <a:srgbClr val="1B7DA3"/>
              </a:solidFill>
            </a:endParaRPr>
          </a:p>
        </p:txBody>
      </p:sp>
      <p:sp>
        <p:nvSpPr>
          <p:cNvPr id="294" name="TextBox 5"/>
          <p:cNvSpPr txBox="1"/>
          <p:nvPr/>
        </p:nvSpPr>
        <p:spPr>
          <a:xfrm>
            <a:off x="990600" y="2209800"/>
            <a:ext cx="5588000" cy="118872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00">
                <a:solidFill>
                  <a:srgbClr val="10222F"/>
                </a:solidFill>
              </a:rPr>
              <a:t>Metadatabas och sökdatabas för tillgängliggörande och forskning. Saknar funktioner för långtidsbevarande, men har redan rutiner för registrering av objekt och metadata.</a:t>
            </a:r>
            <a:endParaRPr sz="1400">
              <a:solidFill>
                <a:srgbClr val="10222F"/>
              </a:solidFill>
            </a:endParaRPr>
          </a:p>
        </p:txBody>
      </p:sp>
      <p:sp>
        <p:nvSpPr>
          <p:cNvPr id="295" name="Rectangle 6"/>
          <p:cNvSpPr/>
          <p:nvPr/>
        </p:nvSpPr>
        <p:spPr>
          <a:xfrm>
            <a:off x="762000" y="3327400"/>
            <a:ext cx="5969000" cy="13970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6" name="Rectangle 7"/>
          <p:cNvSpPr/>
          <p:nvPr/>
        </p:nvSpPr>
        <p:spPr>
          <a:xfrm>
            <a:off x="762000" y="3327400"/>
            <a:ext cx="76200" cy="1397000"/>
          </a:xfrm>
          <a:prstGeom prst="rect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7" name="TextBox 8"/>
          <p:cNvSpPr txBox="1"/>
          <p:nvPr/>
        </p:nvSpPr>
        <p:spPr>
          <a:xfrm>
            <a:off x="990600" y="3403600"/>
            <a:ext cx="55880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1B7DA3"/>
                </a:solidFill>
              </a:rPr>
              <a:t>Cesar (RODA)</a:t>
            </a:r>
            <a:endParaRPr sz="1600" b="1">
              <a:solidFill>
                <a:srgbClr val="1B7DA3"/>
              </a:solidFill>
            </a:endParaRPr>
          </a:p>
        </p:txBody>
      </p:sp>
      <p:sp>
        <p:nvSpPr>
          <p:cNvPr id="298" name="TextBox 9"/>
          <p:cNvSpPr txBox="1"/>
          <p:nvPr/>
        </p:nvSpPr>
        <p:spPr>
          <a:xfrm>
            <a:off x="990600" y="3759200"/>
            <a:ext cx="5588000" cy="118872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00">
                <a:solidFill>
                  <a:srgbClr val="10222F"/>
                </a:solidFill>
              </a:rPr>
              <a:t>Regionens bevarandeinitiativ inom KSD, baserat på öppen källkod. Fokus initialt på digitala patientjournaler. Föreslagen inriktning för kulturarvet.</a:t>
            </a:r>
            <a:endParaRPr sz="1400">
              <a:solidFill>
                <a:srgbClr val="10222F"/>
              </a:solidFill>
            </a:endParaRPr>
          </a:p>
        </p:txBody>
      </p:sp>
      <p:sp>
        <p:nvSpPr>
          <p:cNvPr id="299" name="Rectangle 10"/>
          <p:cNvSpPr/>
          <p:nvPr/>
        </p:nvSpPr>
        <p:spPr>
          <a:xfrm>
            <a:off x="762000" y="4876800"/>
            <a:ext cx="5969000" cy="13970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0" name="Rectangle 11"/>
          <p:cNvSpPr/>
          <p:nvPr/>
        </p:nvSpPr>
        <p:spPr>
          <a:xfrm>
            <a:off x="762000" y="4876800"/>
            <a:ext cx="76200" cy="1397000"/>
          </a:xfrm>
          <a:prstGeom prst="rect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1" name="TextBox 12"/>
          <p:cNvSpPr txBox="1"/>
          <p:nvPr/>
        </p:nvSpPr>
        <p:spPr>
          <a:xfrm>
            <a:off x="990600" y="4953000"/>
            <a:ext cx="55880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1B7DA3"/>
                </a:solidFill>
              </a:rPr>
              <a:t>KSD:s projekt för medialagring</a:t>
            </a:r>
            <a:endParaRPr sz="1600" b="1">
              <a:solidFill>
                <a:srgbClr val="1B7DA3"/>
              </a:solidFill>
            </a:endParaRPr>
          </a:p>
        </p:txBody>
      </p:sp>
      <p:sp>
        <p:nvSpPr>
          <p:cNvPr id="302" name="TextBox 13"/>
          <p:cNvSpPr txBox="1"/>
          <p:nvPr/>
        </p:nvSpPr>
        <p:spPr>
          <a:xfrm>
            <a:off x="990600" y="5308600"/>
            <a:ext cx="5588000" cy="91440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00">
                <a:solidFill>
                  <a:srgbClr val="10222F"/>
                </a:solidFill>
              </a:rPr>
              <a:t>Hanterar VGR:s behov av medialagring. Möjlig samverkanspart för infrastruktur och långsiktig förvaltning.</a:t>
            </a:r>
            <a:endParaRPr sz="1400">
              <a:solidFill>
                <a:srgbClr val="10222F"/>
              </a:solidFill>
            </a:endParaRPr>
          </a:p>
        </p:txBody>
      </p:sp>
      <p:sp>
        <p:nvSpPr>
          <p:cNvPr id="303" name="Rectangle 14"/>
          <p:cNvSpPr/>
          <p:nvPr/>
        </p:nvSpPr>
        <p:spPr>
          <a:xfrm>
            <a:off x="7010400" y="1778000"/>
            <a:ext cx="4419600" cy="4495800"/>
          </a:xfrm>
          <a:prstGeom prst="roundRect">
            <a:avLst>
              <a:gd name="adj" fmla="val 0"/>
            </a:avLst>
          </a:prstGeom>
          <a:solidFill>
            <a:srgbClr val="1022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4" name="TextBox 15"/>
          <p:cNvSpPr txBox="1"/>
          <p:nvPr/>
        </p:nvSpPr>
        <p:spPr>
          <a:xfrm>
            <a:off x="7264400" y="1930400"/>
            <a:ext cx="39116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200" b="1">
                <a:solidFill>
                  <a:srgbClr val="E0A030"/>
                </a:solidFill>
              </a:rPr>
              <a:t>TIDSUTMANINGEN</a:t>
            </a:r>
            <a:endParaRPr sz="1200" b="1">
              <a:solidFill>
                <a:srgbClr val="E0A030"/>
              </a:solidFill>
            </a:endParaRPr>
          </a:p>
        </p:txBody>
      </p:sp>
      <p:sp>
        <p:nvSpPr>
          <p:cNvPr id="305" name="TextBox 16"/>
          <p:cNvSpPr txBox="1"/>
          <p:nvPr/>
        </p:nvSpPr>
        <p:spPr>
          <a:xfrm>
            <a:off x="7264400" y="2235200"/>
            <a:ext cx="3911600" cy="6400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erriweather"/>
              </a:rPr>
              <a:t>Cesar kan börja med kulturarvsmaterial tidigast 2028</a:t>
            </a:r>
            <a:endParaRPr sz="2100" b="1">
              <a:solidFill>
                <a:srgbClr val="FFFFFF"/>
              </a:solidFill>
              <a:latin typeface="Merriweather"/>
            </a:endParaRPr>
          </a:p>
        </p:txBody>
      </p:sp>
      <p:sp>
        <p:nvSpPr>
          <p:cNvPr id="306" name="TextBox 17"/>
          <p:cNvSpPr txBox="1"/>
          <p:nvPr/>
        </p:nvSpPr>
        <p:spPr>
          <a:xfrm>
            <a:off x="7264400" y="3403600"/>
            <a:ext cx="3911600" cy="17373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marL="203200" indent="-203200" algn="l">
              <a:spcAft>
                <a:spcPts val="800"/>
              </a:spcAft>
              <a:buClr>
                <a:srgbClr val="1B7DA3"/>
              </a:buClr>
              <a:buFont typeface="Arial"/>
              <a:buChar char="•"/>
            </a:pPr>
            <a:r>
              <a:rPr sz="1350">
                <a:solidFill>
                  <a:srgbClr val="FFFFFF"/>
                </a:solidFill>
              </a:rPr>
              <a:t>Brister mot regelverket kvarstår till mitten av 2028</a:t>
            </a:r>
            <a:endParaRPr sz="1350">
              <a:solidFill>
                <a:srgbClr val="FFFFFF"/>
              </a:solidFill>
            </a:endParaRPr>
          </a:p>
          <a:p>
            <a:pPr marL="203200" indent="-203200" algn="l">
              <a:spcAft>
                <a:spcPts val="800"/>
              </a:spcAft>
              <a:buClr>
                <a:srgbClr val="1B7DA3"/>
              </a:buClr>
              <a:buFont typeface="Arial"/>
              <a:buChar char="•"/>
            </a:pPr>
            <a:r>
              <a:rPr sz="1350">
                <a:solidFill>
                  <a:srgbClr val="FFFFFF"/>
                </a:solidFill>
              </a:rPr>
              <a:t>Risken för förlust eller skada fortsätter</a:t>
            </a:r>
            <a:endParaRPr sz="1350">
              <a:solidFill>
                <a:srgbClr val="FFFFFF"/>
              </a:solidFill>
            </a:endParaRPr>
          </a:p>
          <a:p>
            <a:pPr marL="203200" indent="-203200" algn="l">
              <a:spcAft>
                <a:spcPts val="800"/>
              </a:spcAft>
              <a:buClr>
                <a:srgbClr val="1B7DA3"/>
              </a:buClr>
              <a:buFont typeface="Arial"/>
              <a:buChar char="•"/>
            </a:pPr>
            <a:r>
              <a:rPr sz="1350">
                <a:solidFill>
                  <a:srgbClr val="FFFFFF"/>
                </a:solidFill>
              </a:rPr>
              <a:t>Allt förberedande arbete måste göras från grunden</a:t>
            </a:r>
            <a:endParaRPr sz="1350">
              <a:solidFill>
                <a:srgbClr val="FFFFFF"/>
              </a:solidFill>
            </a:endParaRPr>
          </a:p>
        </p:txBody>
      </p:sp>
      <p:sp>
        <p:nvSpPr>
          <p:cNvPr id="307" name="TextBox 18"/>
          <p:cNvSpPr txBox="1"/>
          <p:nvPr/>
        </p:nvSpPr>
        <p:spPr>
          <a:xfrm>
            <a:off x="7264400" y="5384800"/>
            <a:ext cx="3911600" cy="6400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E0A030"/>
                </a:solidFill>
              </a:rPr>
              <a:t>Om vi bara väntar riskerar arbetet att stå still i 1,5–2 år.</a:t>
            </a:r>
            <a:endParaRPr sz="1400" b="1">
              <a:solidFill>
                <a:srgbClr val="E0A03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3000"/>
              <a:t>Rekommendation: Cesar/RODA som inriktning</a:t>
            </a:r>
            <a:endParaRPr sz="3000"/>
          </a:p>
        </p:txBody>
      </p:sp>
      <p:sp>
        <p:nvSpPr>
          <p:cNvPr id="310" name="Rectangle 2"/>
          <p:cNvSpPr/>
          <p:nvPr/>
        </p:nvSpPr>
        <p:spPr>
          <a:xfrm>
            <a:off x="762000" y="1727200"/>
            <a:ext cx="3505200" cy="36830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11" name="Oval 3"/>
          <p:cNvSpPr/>
          <p:nvPr/>
        </p:nvSpPr>
        <p:spPr>
          <a:xfrm>
            <a:off x="965200" y="1905000"/>
            <a:ext cx="508000" cy="508000"/>
          </a:xfrm>
          <a:prstGeom prst="ellipse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312" name="TextBox 4"/>
          <p:cNvSpPr txBox="1"/>
          <p:nvPr/>
        </p:nvSpPr>
        <p:spPr>
          <a:xfrm>
            <a:off x="1600200" y="1879600"/>
            <a:ext cx="2590800" cy="6400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550" b="1">
                <a:solidFill>
                  <a:srgbClr val="10222F"/>
                </a:solidFill>
              </a:rPr>
              <a:t>Verksamhetens arbete</a:t>
            </a:r>
            <a:endParaRPr sz="1550" b="1">
              <a:solidFill>
                <a:srgbClr val="10222F"/>
              </a:solidFill>
            </a:endParaRPr>
          </a:p>
        </p:txBody>
      </p:sp>
      <p:sp>
        <p:nvSpPr>
          <p:cNvPr id="313" name="TextBox 5"/>
          <p:cNvSpPr txBox="1"/>
          <p:nvPr/>
        </p:nvSpPr>
        <p:spPr>
          <a:xfrm>
            <a:off x="1600200" y="2184400"/>
            <a:ext cx="2590800" cy="6400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100">
                <a:solidFill>
                  <a:srgbClr val="4A5B66"/>
                </a:solidFill>
              </a:rPr>
              <a:t>Verksamhetens ansvar</a:t>
            </a:r>
            <a:endParaRPr sz="1100">
              <a:solidFill>
                <a:srgbClr val="4A5B66"/>
              </a:solidFill>
            </a:endParaRPr>
          </a:p>
        </p:txBody>
      </p:sp>
      <p:sp>
        <p:nvSpPr>
          <p:cNvPr id="314" name="TextBox 6"/>
          <p:cNvSpPr txBox="1"/>
          <p:nvPr/>
        </p:nvSpPr>
        <p:spPr>
          <a:xfrm>
            <a:off x="965200" y="2590800"/>
            <a:ext cx="3149600" cy="256032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marL="203200" indent="-203200" algn="l">
              <a:spcAft>
                <a:spcPts val="800"/>
              </a:spcAft>
              <a:buClr>
                <a:srgbClr val="1B7DA3"/>
              </a:buClr>
              <a:buFont typeface="Arial"/>
              <a:buChar char="•"/>
            </a:pPr>
            <a:r>
              <a:rPr sz="1400">
                <a:solidFill>
                  <a:srgbClr val="10222F"/>
                </a:solidFill>
              </a:rPr>
              <a:t>Pilotmuseum och projektgrupp med avsatt tid</a:t>
            </a:r>
            <a:endParaRPr sz="1400">
              <a:solidFill>
                <a:srgbClr val="10222F"/>
              </a:solidFill>
            </a:endParaRPr>
          </a:p>
          <a:p>
            <a:pPr marL="203200" indent="-203200" algn="l">
              <a:spcAft>
                <a:spcPts val="800"/>
              </a:spcAft>
              <a:buClr>
                <a:srgbClr val="1B7DA3"/>
              </a:buClr>
              <a:buFont typeface="Arial"/>
              <a:buChar char="•"/>
            </a:pPr>
            <a:r>
              <a:rPr sz="1400">
                <a:solidFill>
                  <a:srgbClr val="10222F"/>
                </a:solidFill>
              </a:rPr>
              <a:t>Urval utifrån samlingsförvaltningsplanen</a:t>
            </a:r>
            <a:endParaRPr sz="1400">
              <a:solidFill>
                <a:srgbClr val="10222F"/>
              </a:solidFill>
            </a:endParaRPr>
          </a:p>
          <a:p>
            <a:pPr marL="203200" indent="-203200" algn="l">
              <a:spcAft>
                <a:spcPts val="800"/>
              </a:spcAft>
              <a:buClr>
                <a:srgbClr val="1B7DA3"/>
              </a:buClr>
              <a:buFont typeface="Arial"/>
              <a:buChar char="•"/>
            </a:pPr>
            <a:r>
              <a:rPr sz="1400">
                <a:solidFill>
                  <a:srgbClr val="10222F"/>
                </a:solidFill>
              </a:rPr>
              <a:t>Metadatamappning Primus mot Cesar</a:t>
            </a:r>
            <a:endParaRPr sz="1400">
              <a:solidFill>
                <a:srgbClr val="10222F"/>
              </a:solidFill>
            </a:endParaRPr>
          </a:p>
          <a:p>
            <a:pPr marL="203200" indent="-203200" algn="l">
              <a:spcAft>
                <a:spcPts val="800"/>
              </a:spcAft>
              <a:buClr>
                <a:srgbClr val="1B7DA3"/>
              </a:buClr>
              <a:buFont typeface="Arial"/>
              <a:buChar char="•"/>
            </a:pPr>
            <a:r>
              <a:rPr sz="1400">
                <a:solidFill>
                  <a:srgbClr val="10222F"/>
                </a:solidFill>
              </a:rPr>
              <a:t>Rutiner för nytt och äldre material</a:t>
            </a:r>
            <a:endParaRPr sz="1400">
              <a:solidFill>
                <a:srgbClr val="10222F"/>
              </a:solidFill>
            </a:endParaRPr>
          </a:p>
        </p:txBody>
      </p:sp>
      <p:sp>
        <p:nvSpPr>
          <p:cNvPr id="315" name="Rectangle 7"/>
          <p:cNvSpPr/>
          <p:nvPr/>
        </p:nvSpPr>
        <p:spPr>
          <a:xfrm>
            <a:off x="4521200" y="1727200"/>
            <a:ext cx="3505200" cy="36830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16" name="Oval 8"/>
          <p:cNvSpPr/>
          <p:nvPr/>
        </p:nvSpPr>
        <p:spPr>
          <a:xfrm>
            <a:off x="4724400" y="1905000"/>
            <a:ext cx="508000" cy="508000"/>
          </a:xfrm>
          <a:prstGeom prst="ellipse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317" name="TextBox 9"/>
          <p:cNvSpPr txBox="1"/>
          <p:nvPr/>
        </p:nvSpPr>
        <p:spPr>
          <a:xfrm>
            <a:off x="5359400" y="1879600"/>
            <a:ext cx="2590800" cy="6400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550" b="1">
                <a:solidFill>
                  <a:srgbClr val="10222F"/>
                </a:solidFill>
              </a:rPr>
              <a:t>Avgränsad teknisk miljö</a:t>
            </a:r>
            <a:endParaRPr sz="1550" b="1">
              <a:solidFill>
                <a:srgbClr val="10222F"/>
              </a:solidFill>
            </a:endParaRPr>
          </a:p>
        </p:txBody>
      </p:sp>
      <p:sp>
        <p:nvSpPr>
          <p:cNvPr id="318" name="TextBox 10"/>
          <p:cNvSpPr txBox="1"/>
          <p:nvPr/>
        </p:nvSpPr>
        <p:spPr>
          <a:xfrm>
            <a:off x="5359400" y="2184400"/>
            <a:ext cx="2590800" cy="6400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100">
                <a:solidFill>
                  <a:srgbClr val="4A5B66"/>
                </a:solidFill>
              </a:rPr>
              <a:t>KUB-projektet med KSD, 2026–2027</a:t>
            </a:r>
            <a:endParaRPr sz="1100">
              <a:solidFill>
                <a:srgbClr val="4A5B66"/>
              </a:solidFill>
            </a:endParaRPr>
          </a:p>
        </p:txBody>
      </p:sp>
      <p:sp>
        <p:nvSpPr>
          <p:cNvPr id="319" name="TextBox 11"/>
          <p:cNvSpPr txBox="1"/>
          <p:nvPr/>
        </p:nvSpPr>
        <p:spPr>
          <a:xfrm>
            <a:off x="4724400" y="2590800"/>
            <a:ext cx="3149600" cy="283464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marL="203200" indent="-203200" algn="l">
              <a:spcAft>
                <a:spcPts val="800"/>
              </a:spcAft>
              <a:buClr>
                <a:srgbClr val="1B7DA3"/>
              </a:buClr>
              <a:buFont typeface="Arial"/>
              <a:buChar char="•"/>
            </a:pPr>
            <a:r>
              <a:rPr sz="1400">
                <a:solidFill>
                  <a:srgbClr val="10222F"/>
                </a:solidFill>
              </a:rPr>
              <a:t>Separat server- och lagringsmiljö med RODA och RODA-in</a:t>
            </a:r>
            <a:endParaRPr sz="1400">
              <a:solidFill>
                <a:srgbClr val="10222F"/>
              </a:solidFill>
            </a:endParaRPr>
          </a:p>
          <a:p>
            <a:pPr marL="203200" indent="-203200" algn="l">
              <a:spcAft>
                <a:spcPts val="800"/>
              </a:spcAft>
              <a:buClr>
                <a:srgbClr val="1B7DA3"/>
              </a:buClr>
              <a:buFont typeface="Arial"/>
              <a:buChar char="•"/>
            </a:pPr>
            <a:r>
              <a:rPr sz="1400">
                <a:solidFill>
                  <a:srgbClr val="10222F"/>
                </a:solidFill>
              </a:rPr>
              <a:t>IT testar installation, drift, behörigheter och paketering</a:t>
            </a:r>
            <a:endParaRPr sz="1400">
              <a:solidFill>
                <a:srgbClr val="10222F"/>
              </a:solidFill>
            </a:endParaRPr>
          </a:p>
          <a:p>
            <a:pPr marL="203200" indent="-203200" algn="l">
              <a:spcAft>
                <a:spcPts val="800"/>
              </a:spcAft>
              <a:buClr>
                <a:srgbClr val="1B7DA3"/>
              </a:buClr>
              <a:buFont typeface="Arial"/>
              <a:buChar char="•"/>
            </a:pPr>
            <a:r>
              <a:rPr sz="1400">
                <a:solidFill>
                  <a:srgbClr val="10222F"/>
                </a:solidFill>
              </a:rPr>
              <a:t>Endast behöriga har åtkomst</a:t>
            </a:r>
            <a:endParaRPr sz="1400">
              <a:solidFill>
                <a:srgbClr val="10222F"/>
              </a:solidFill>
            </a:endParaRPr>
          </a:p>
          <a:p>
            <a:pPr marL="203200" indent="-203200" algn="l">
              <a:spcAft>
                <a:spcPts val="800"/>
              </a:spcAft>
              <a:buClr>
                <a:srgbClr val="1B7DA3"/>
              </a:buClr>
              <a:buFont typeface="Arial"/>
              <a:buChar char="•"/>
            </a:pPr>
            <a:r>
              <a:rPr sz="1400">
                <a:solidFill>
                  <a:srgbClr val="10222F"/>
                </a:solidFill>
              </a:rPr>
              <a:t>Preliminärt inga stora kostnader</a:t>
            </a:r>
            <a:endParaRPr sz="1400">
              <a:solidFill>
                <a:srgbClr val="10222F"/>
              </a:solidFill>
            </a:endParaRPr>
          </a:p>
        </p:txBody>
      </p:sp>
      <p:sp>
        <p:nvSpPr>
          <p:cNvPr id="320" name="Rectangle 12"/>
          <p:cNvSpPr/>
          <p:nvPr/>
        </p:nvSpPr>
        <p:spPr>
          <a:xfrm>
            <a:off x="8280400" y="1727200"/>
            <a:ext cx="3505200" cy="36830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21" name="Oval 13"/>
          <p:cNvSpPr/>
          <p:nvPr/>
        </p:nvSpPr>
        <p:spPr>
          <a:xfrm>
            <a:off x="8483600" y="1905000"/>
            <a:ext cx="508000" cy="508000"/>
          </a:xfrm>
          <a:prstGeom prst="ellipse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322" name="TextBox 14"/>
          <p:cNvSpPr txBox="1"/>
          <p:nvPr/>
        </p:nvSpPr>
        <p:spPr>
          <a:xfrm>
            <a:off x="9118600" y="1879600"/>
            <a:ext cx="25908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550" b="1">
                <a:solidFill>
                  <a:srgbClr val="10222F"/>
                </a:solidFill>
              </a:rPr>
              <a:t>Pilotprojekt</a:t>
            </a:r>
            <a:endParaRPr sz="1550" b="1">
              <a:solidFill>
                <a:srgbClr val="10222F"/>
              </a:solidFill>
            </a:endParaRPr>
          </a:p>
        </p:txBody>
      </p:sp>
      <p:sp>
        <p:nvSpPr>
          <p:cNvPr id="323" name="TextBox 15"/>
          <p:cNvSpPr txBox="1"/>
          <p:nvPr/>
        </p:nvSpPr>
        <p:spPr>
          <a:xfrm>
            <a:off x="9118600" y="2184400"/>
            <a:ext cx="2590800" cy="6400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100">
                <a:solidFill>
                  <a:srgbClr val="4A5B66"/>
                </a:solidFill>
              </a:rPr>
              <a:t>Verksamhet och teknik tillsammans</a:t>
            </a:r>
            <a:endParaRPr sz="1100">
              <a:solidFill>
                <a:srgbClr val="4A5B66"/>
              </a:solidFill>
            </a:endParaRPr>
          </a:p>
        </p:txBody>
      </p:sp>
      <p:sp>
        <p:nvSpPr>
          <p:cNvPr id="324" name="TextBox 16"/>
          <p:cNvSpPr txBox="1"/>
          <p:nvPr/>
        </p:nvSpPr>
        <p:spPr>
          <a:xfrm>
            <a:off x="8483600" y="2590800"/>
            <a:ext cx="3149600" cy="228600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marL="203200" indent="-203200" algn="l">
              <a:spcAft>
                <a:spcPts val="800"/>
              </a:spcAft>
              <a:buClr>
                <a:srgbClr val="1B7DA3"/>
              </a:buClr>
              <a:buFont typeface="Arial"/>
              <a:buChar char="•"/>
            </a:pPr>
            <a:r>
              <a:rPr sz="1400">
                <a:solidFill>
                  <a:srgbClr val="10222F"/>
                </a:solidFill>
              </a:rPr>
              <a:t>Testar hela bevarandekedjan vid ett mindre museum</a:t>
            </a:r>
            <a:endParaRPr sz="1400">
              <a:solidFill>
                <a:srgbClr val="10222F"/>
              </a:solidFill>
            </a:endParaRPr>
          </a:p>
          <a:p>
            <a:pPr marL="203200" indent="-203200" algn="l">
              <a:spcAft>
                <a:spcPts val="800"/>
              </a:spcAft>
              <a:buClr>
                <a:srgbClr val="1B7DA3"/>
              </a:buClr>
              <a:buFont typeface="Arial"/>
              <a:buChar char="•"/>
            </a:pPr>
            <a:r>
              <a:rPr sz="1400">
                <a:solidFill>
                  <a:srgbClr val="10222F"/>
                </a:solidFill>
              </a:rPr>
              <a:t>Visar hur verksamheten arbetar med verktyget i praktiken</a:t>
            </a:r>
            <a:endParaRPr sz="1400">
              <a:solidFill>
                <a:srgbClr val="10222F"/>
              </a:solidFill>
            </a:endParaRPr>
          </a:p>
          <a:p>
            <a:pPr marL="203200" indent="-203200" algn="l">
              <a:spcAft>
                <a:spcPts val="800"/>
              </a:spcAft>
              <a:buClr>
                <a:srgbClr val="1B7DA3"/>
              </a:buClr>
              <a:buFont typeface="Arial"/>
              <a:buChar char="•"/>
            </a:pPr>
            <a:r>
              <a:rPr sz="1400">
                <a:solidFill>
                  <a:srgbClr val="10222F"/>
                </a:solidFill>
              </a:rPr>
              <a:t>Utvärderingen blir beslutsunderlag</a:t>
            </a:r>
            <a:endParaRPr sz="1400">
              <a:solidFill>
                <a:srgbClr val="10222F"/>
              </a:solidFill>
            </a:endParaRPr>
          </a:p>
        </p:txBody>
      </p:sp>
      <p:sp>
        <p:nvSpPr>
          <p:cNvPr id="325" name="Rectangle 17"/>
          <p:cNvSpPr/>
          <p:nvPr/>
        </p:nvSpPr>
        <p:spPr>
          <a:xfrm>
            <a:off x="762000" y="5588000"/>
            <a:ext cx="10668000" cy="685800"/>
          </a:xfrm>
          <a:prstGeom prst="roundRect">
            <a:avLst>
              <a:gd name="adj" fmla="val 0"/>
            </a:avLst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Det slutliga beslutet om långsiktig lösning fattas efter att pilotprojektet har utvärderats – vid slutet av 2027.</a:t>
            </a:r>
            <a:endParaRPr sz="15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3000"/>
              <a:t>Därför rekommenderas lösningen</a:t>
            </a:r>
            <a:endParaRPr sz="3000"/>
          </a:p>
        </p:txBody>
      </p:sp>
      <p:sp>
        <p:nvSpPr>
          <p:cNvPr id="328" name="Rectangle 2"/>
          <p:cNvSpPr/>
          <p:nvPr/>
        </p:nvSpPr>
        <p:spPr>
          <a:xfrm>
            <a:off x="762000" y="1727200"/>
            <a:ext cx="3505200" cy="21336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29" name="Rectangle 3"/>
          <p:cNvSpPr/>
          <p:nvPr/>
        </p:nvSpPr>
        <p:spPr>
          <a:xfrm>
            <a:off x="762000" y="1727200"/>
            <a:ext cx="3505200" cy="76200"/>
          </a:xfrm>
          <a:prstGeom prst="rect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30" name="TextBox 4"/>
          <p:cNvSpPr txBox="1"/>
          <p:nvPr/>
        </p:nvSpPr>
        <p:spPr>
          <a:xfrm>
            <a:off x="965200" y="1955800"/>
            <a:ext cx="3098800" cy="6400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1B7DA3"/>
                </a:solidFill>
              </a:rPr>
              <a:t>I linje med regionens initiativ</a:t>
            </a:r>
            <a:endParaRPr sz="1600" b="1">
              <a:solidFill>
                <a:srgbClr val="1B7DA3"/>
              </a:solidFill>
            </a:endParaRPr>
          </a:p>
        </p:txBody>
      </p:sp>
      <p:sp>
        <p:nvSpPr>
          <p:cNvPr id="331" name="TextBox 5"/>
          <p:cNvSpPr txBox="1"/>
          <p:nvPr/>
        </p:nvSpPr>
        <p:spPr>
          <a:xfrm>
            <a:off x="965200" y="2540000"/>
            <a:ext cx="3098800" cy="146304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50">
                <a:solidFill>
                  <a:srgbClr val="10222F"/>
                </a:solidFill>
              </a:rPr>
              <a:t>Bygger på Cesar/RODA som redan används inom VGR. Ingen egen bevarandeplattform behövs.</a:t>
            </a:r>
            <a:endParaRPr sz="1450">
              <a:solidFill>
                <a:srgbClr val="10222F"/>
              </a:solidFill>
            </a:endParaRPr>
          </a:p>
        </p:txBody>
      </p:sp>
      <p:sp>
        <p:nvSpPr>
          <p:cNvPr id="332" name="Rectangle 6"/>
          <p:cNvSpPr/>
          <p:nvPr/>
        </p:nvSpPr>
        <p:spPr>
          <a:xfrm>
            <a:off x="4521200" y="1727200"/>
            <a:ext cx="3505200" cy="21336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33" name="Rectangle 7"/>
          <p:cNvSpPr/>
          <p:nvPr/>
        </p:nvSpPr>
        <p:spPr>
          <a:xfrm>
            <a:off x="4521200" y="1727200"/>
            <a:ext cx="3505200" cy="76200"/>
          </a:xfrm>
          <a:prstGeom prst="rect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34" name="TextBox 8"/>
          <p:cNvSpPr txBox="1"/>
          <p:nvPr/>
        </p:nvSpPr>
        <p:spPr>
          <a:xfrm>
            <a:off x="4724400" y="1955800"/>
            <a:ext cx="30988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1B7DA3"/>
                </a:solidFill>
              </a:rPr>
              <a:t>Bristerna åtgärdas nu</a:t>
            </a:r>
            <a:endParaRPr sz="1600" b="1">
              <a:solidFill>
                <a:srgbClr val="1B7DA3"/>
              </a:solidFill>
            </a:endParaRPr>
          </a:p>
        </p:txBody>
      </p:sp>
      <p:sp>
        <p:nvSpPr>
          <p:cNvPr id="335" name="TextBox 9"/>
          <p:cNvSpPr txBox="1"/>
          <p:nvPr/>
        </p:nvSpPr>
        <p:spPr>
          <a:xfrm>
            <a:off x="4724400" y="2540000"/>
            <a:ext cx="3098800" cy="118872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50">
                <a:solidFill>
                  <a:srgbClr val="10222F"/>
                </a:solidFill>
              </a:rPr>
              <a:t>Arbetet påbörjas direkt och stegvis. Risken för förlust minskar, med det mest skyddsvärda först.</a:t>
            </a:r>
            <a:endParaRPr sz="1450">
              <a:solidFill>
                <a:srgbClr val="10222F"/>
              </a:solidFill>
            </a:endParaRPr>
          </a:p>
        </p:txBody>
      </p:sp>
      <p:sp>
        <p:nvSpPr>
          <p:cNvPr id="336" name="Rectangle 10"/>
          <p:cNvSpPr/>
          <p:nvPr/>
        </p:nvSpPr>
        <p:spPr>
          <a:xfrm>
            <a:off x="8280400" y="1727200"/>
            <a:ext cx="3505200" cy="21336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37" name="Rectangle 11"/>
          <p:cNvSpPr/>
          <p:nvPr/>
        </p:nvSpPr>
        <p:spPr>
          <a:xfrm>
            <a:off x="8280400" y="1727200"/>
            <a:ext cx="3505200" cy="76200"/>
          </a:xfrm>
          <a:prstGeom prst="rect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38" name="TextBox 12"/>
          <p:cNvSpPr txBox="1"/>
          <p:nvPr/>
        </p:nvSpPr>
        <p:spPr>
          <a:xfrm>
            <a:off x="8483600" y="1955800"/>
            <a:ext cx="30988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1B7DA3"/>
                </a:solidFill>
              </a:rPr>
              <a:t>Beslut på prövad grund</a:t>
            </a:r>
            <a:endParaRPr sz="1600" b="1">
              <a:solidFill>
                <a:srgbClr val="1B7DA3"/>
              </a:solidFill>
            </a:endParaRPr>
          </a:p>
        </p:txBody>
      </p:sp>
      <p:sp>
        <p:nvSpPr>
          <p:cNvPr id="339" name="TextBox 13"/>
          <p:cNvSpPr txBox="1"/>
          <p:nvPr/>
        </p:nvSpPr>
        <p:spPr>
          <a:xfrm>
            <a:off x="8483600" y="2540000"/>
            <a:ext cx="3098800" cy="146304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50">
                <a:solidFill>
                  <a:srgbClr val="10222F"/>
                </a:solidFill>
              </a:rPr>
              <a:t>Beslutet bygger på tekniska tester och verksamhetens praktiska erfarenheter, inte enbart teori.</a:t>
            </a:r>
            <a:endParaRPr sz="1450">
              <a:solidFill>
                <a:srgbClr val="10222F"/>
              </a:solidFill>
            </a:endParaRPr>
          </a:p>
        </p:txBody>
      </p:sp>
      <p:sp>
        <p:nvSpPr>
          <p:cNvPr id="340" name="Rectangle 14"/>
          <p:cNvSpPr/>
          <p:nvPr/>
        </p:nvSpPr>
        <p:spPr>
          <a:xfrm>
            <a:off x="762000" y="4038600"/>
            <a:ext cx="3505200" cy="21336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1" name="Rectangle 15"/>
          <p:cNvSpPr/>
          <p:nvPr/>
        </p:nvSpPr>
        <p:spPr>
          <a:xfrm>
            <a:off x="762000" y="4038600"/>
            <a:ext cx="3505200" cy="76200"/>
          </a:xfrm>
          <a:prstGeom prst="rect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2" name="TextBox 16"/>
          <p:cNvSpPr txBox="1"/>
          <p:nvPr/>
        </p:nvSpPr>
        <p:spPr>
          <a:xfrm>
            <a:off x="965200" y="4267200"/>
            <a:ext cx="30988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1B7DA3"/>
                </a:solidFill>
              </a:rPr>
              <a:t>Kortare väg in i Cesar</a:t>
            </a:r>
            <a:endParaRPr sz="1600" b="1">
              <a:solidFill>
                <a:srgbClr val="1B7DA3"/>
              </a:solidFill>
            </a:endParaRPr>
          </a:p>
        </p:txBody>
      </p:sp>
      <p:sp>
        <p:nvSpPr>
          <p:cNvPr id="343" name="TextBox 17"/>
          <p:cNvSpPr txBox="1"/>
          <p:nvPr/>
        </p:nvSpPr>
        <p:spPr>
          <a:xfrm>
            <a:off x="965200" y="4851400"/>
            <a:ext cx="3098800" cy="146304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50">
                <a:solidFill>
                  <a:srgbClr val="10222F"/>
                </a:solidFill>
              </a:rPr>
              <a:t>Paket och metadata tas fram enligt Cesars specifikation från början. Arbetet kan återanvändas även vid ett annat val.</a:t>
            </a:r>
            <a:endParaRPr sz="1450">
              <a:solidFill>
                <a:srgbClr val="10222F"/>
              </a:solidFill>
            </a:endParaRPr>
          </a:p>
        </p:txBody>
      </p:sp>
      <p:sp>
        <p:nvSpPr>
          <p:cNvPr id="344" name="Rectangle 18"/>
          <p:cNvSpPr/>
          <p:nvPr/>
        </p:nvSpPr>
        <p:spPr>
          <a:xfrm>
            <a:off x="4521200" y="4038600"/>
            <a:ext cx="3505200" cy="21336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5" name="Rectangle 19"/>
          <p:cNvSpPr/>
          <p:nvPr/>
        </p:nvSpPr>
        <p:spPr>
          <a:xfrm>
            <a:off x="4521200" y="4038600"/>
            <a:ext cx="3505200" cy="76200"/>
          </a:xfrm>
          <a:prstGeom prst="rect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6" name="TextBox 20"/>
          <p:cNvSpPr txBox="1"/>
          <p:nvPr/>
        </p:nvSpPr>
        <p:spPr>
          <a:xfrm>
            <a:off x="4724400" y="4267200"/>
            <a:ext cx="3098800" cy="6400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1B7DA3"/>
                </a:solidFill>
              </a:rPr>
              <a:t>Verksamheten äger arbetssättet</a:t>
            </a:r>
            <a:endParaRPr sz="1600" b="1">
              <a:solidFill>
                <a:srgbClr val="1B7DA3"/>
              </a:solidFill>
            </a:endParaRPr>
          </a:p>
        </p:txBody>
      </p:sp>
      <p:sp>
        <p:nvSpPr>
          <p:cNvPr id="347" name="TextBox 21"/>
          <p:cNvSpPr txBox="1"/>
          <p:nvPr/>
        </p:nvSpPr>
        <p:spPr>
          <a:xfrm>
            <a:off x="4724400" y="4851400"/>
            <a:ext cx="3098800" cy="146304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50">
                <a:solidFill>
                  <a:srgbClr val="10222F"/>
                </a:solidFill>
              </a:rPr>
              <a:t>Verksamheten utformar rutinerna själv. Det ger bättre förankring och mindre onödig administration.</a:t>
            </a:r>
            <a:endParaRPr sz="1450">
              <a:solidFill>
                <a:srgbClr val="10222F"/>
              </a:solidFill>
            </a:endParaRPr>
          </a:p>
        </p:txBody>
      </p:sp>
      <p:sp>
        <p:nvSpPr>
          <p:cNvPr id="348" name="Rectangle 22"/>
          <p:cNvSpPr/>
          <p:nvPr/>
        </p:nvSpPr>
        <p:spPr>
          <a:xfrm>
            <a:off x="8280400" y="4038600"/>
            <a:ext cx="3505200" cy="21336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9" name="Rectangle 23"/>
          <p:cNvSpPr/>
          <p:nvPr/>
        </p:nvSpPr>
        <p:spPr>
          <a:xfrm>
            <a:off x="8280400" y="4038600"/>
            <a:ext cx="3505200" cy="76200"/>
          </a:xfrm>
          <a:prstGeom prst="rect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50" name="TextBox 24"/>
          <p:cNvSpPr txBox="1"/>
          <p:nvPr/>
        </p:nvSpPr>
        <p:spPr>
          <a:xfrm>
            <a:off x="8483600" y="4267200"/>
            <a:ext cx="30988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1B7DA3"/>
                </a:solidFill>
              </a:rPr>
              <a:t>Tillgängliga medel används</a:t>
            </a:r>
            <a:endParaRPr sz="1600" b="1">
              <a:solidFill>
                <a:srgbClr val="1B7DA3"/>
              </a:solidFill>
            </a:endParaRPr>
          </a:p>
        </p:txBody>
      </p:sp>
      <p:sp>
        <p:nvSpPr>
          <p:cNvPr id="351" name="TextBox 25"/>
          <p:cNvSpPr txBox="1"/>
          <p:nvPr/>
        </p:nvSpPr>
        <p:spPr>
          <a:xfrm>
            <a:off x="8483600" y="4851400"/>
            <a:ext cx="3098800" cy="118872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50">
                <a:solidFill>
                  <a:srgbClr val="10222F"/>
                </a:solidFill>
              </a:rPr>
              <a:t>Utvecklingsmedlen för 2026 används till den tekniska grunden innan de förfaller.</a:t>
            </a:r>
            <a:endParaRPr sz="1450">
              <a:solidFill>
                <a:srgbClr val="10222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3000"/>
              <a:t>Tydlig rollfördelning</a:t>
            </a:r>
            <a:endParaRPr sz="3000"/>
          </a:p>
        </p:txBody>
      </p:sp>
      <p:sp>
        <p:nvSpPr>
          <p:cNvPr id="354" name="Rectangle 2"/>
          <p:cNvSpPr/>
          <p:nvPr/>
        </p:nvSpPr>
        <p:spPr>
          <a:xfrm>
            <a:off x="762000" y="1727200"/>
            <a:ext cx="2540000" cy="21336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55" name="Rectangle 3"/>
          <p:cNvSpPr/>
          <p:nvPr/>
        </p:nvSpPr>
        <p:spPr>
          <a:xfrm>
            <a:off x="762000" y="1727200"/>
            <a:ext cx="2540000" cy="76200"/>
          </a:xfrm>
          <a:prstGeom prst="rect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56" name="TextBox 4"/>
          <p:cNvSpPr txBox="1"/>
          <p:nvPr/>
        </p:nvSpPr>
        <p:spPr>
          <a:xfrm>
            <a:off x="914400" y="1905000"/>
            <a:ext cx="22352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1B7DA3"/>
                </a:solidFill>
              </a:rPr>
              <a:t>Ledningsgruppen</a:t>
            </a:r>
            <a:endParaRPr sz="1400" b="1">
              <a:solidFill>
                <a:srgbClr val="1B7DA3"/>
              </a:solidFill>
            </a:endParaRPr>
          </a:p>
        </p:txBody>
      </p:sp>
      <p:sp>
        <p:nvSpPr>
          <p:cNvPr id="357" name="TextBox 5"/>
          <p:cNvSpPr txBox="1"/>
          <p:nvPr/>
        </p:nvSpPr>
        <p:spPr>
          <a:xfrm>
            <a:off x="914400" y="2438400"/>
            <a:ext cx="2235200" cy="17373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300">
                <a:solidFill>
                  <a:srgbClr val="10222F"/>
                </a:solidFill>
              </a:rPr>
              <a:t>Beslutar om inriktning, uppdrag och pilotprojekt, och efter utvärderingen om långsiktig lösning.</a:t>
            </a:r>
            <a:endParaRPr sz="1300">
              <a:solidFill>
                <a:srgbClr val="10222F"/>
              </a:solidFill>
            </a:endParaRPr>
          </a:p>
        </p:txBody>
      </p:sp>
      <p:sp>
        <p:nvSpPr>
          <p:cNvPr id="358" name="Rectangle 6"/>
          <p:cNvSpPr/>
          <p:nvPr/>
        </p:nvSpPr>
        <p:spPr>
          <a:xfrm>
            <a:off x="3479800" y="1727200"/>
            <a:ext cx="2540000" cy="21336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59" name="Rectangle 7"/>
          <p:cNvSpPr/>
          <p:nvPr/>
        </p:nvSpPr>
        <p:spPr>
          <a:xfrm>
            <a:off x="3479800" y="1727200"/>
            <a:ext cx="2540000" cy="76200"/>
          </a:xfrm>
          <a:prstGeom prst="rect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0" name="TextBox 8"/>
          <p:cNvSpPr txBox="1"/>
          <p:nvPr/>
        </p:nvSpPr>
        <p:spPr>
          <a:xfrm>
            <a:off x="3632200" y="1905000"/>
            <a:ext cx="2235200" cy="6400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1B7DA3"/>
                </a:solidFill>
              </a:rPr>
              <a:t>Verksamhetschef NOK</a:t>
            </a:r>
            <a:endParaRPr sz="1400" b="1">
              <a:solidFill>
                <a:srgbClr val="1B7DA3"/>
              </a:solidFill>
            </a:endParaRPr>
          </a:p>
        </p:txBody>
      </p:sp>
      <p:sp>
        <p:nvSpPr>
          <p:cNvPr id="361" name="TextBox 9"/>
          <p:cNvSpPr txBox="1"/>
          <p:nvPr/>
        </p:nvSpPr>
        <p:spPr>
          <a:xfrm>
            <a:off x="3632200" y="2438400"/>
            <a:ext cx="2235200" cy="118872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300">
                <a:solidFill>
                  <a:srgbClr val="10222F"/>
                </a:solidFill>
              </a:rPr>
              <a:t>Ser till att pilotmuseum och projektgrupp med avsatt tid utses.</a:t>
            </a:r>
            <a:endParaRPr sz="1300">
              <a:solidFill>
                <a:srgbClr val="10222F"/>
              </a:solidFill>
            </a:endParaRPr>
          </a:p>
        </p:txBody>
      </p:sp>
      <p:sp>
        <p:nvSpPr>
          <p:cNvPr id="362" name="Rectangle 10"/>
          <p:cNvSpPr/>
          <p:nvPr/>
        </p:nvSpPr>
        <p:spPr>
          <a:xfrm>
            <a:off x="6197600" y="1727200"/>
            <a:ext cx="2540000" cy="21336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3" name="Rectangle 11"/>
          <p:cNvSpPr/>
          <p:nvPr/>
        </p:nvSpPr>
        <p:spPr>
          <a:xfrm>
            <a:off x="6197600" y="1727200"/>
            <a:ext cx="2540000" cy="76200"/>
          </a:xfrm>
          <a:prstGeom prst="rect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4" name="TextBox 12"/>
          <p:cNvSpPr txBox="1"/>
          <p:nvPr/>
        </p:nvSpPr>
        <p:spPr>
          <a:xfrm>
            <a:off x="6350000" y="1905000"/>
            <a:ext cx="2235200" cy="6400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1B7DA3"/>
                </a:solidFill>
              </a:rPr>
              <a:t>Museiverksamheten</a:t>
            </a:r>
            <a:endParaRPr sz="1400" b="1">
              <a:solidFill>
                <a:srgbClr val="1B7DA3"/>
              </a:solidFill>
            </a:endParaRPr>
          </a:p>
        </p:txBody>
      </p:sp>
      <p:sp>
        <p:nvSpPr>
          <p:cNvPr id="365" name="TextBox 13"/>
          <p:cNvSpPr txBox="1"/>
          <p:nvPr/>
        </p:nvSpPr>
        <p:spPr>
          <a:xfrm>
            <a:off x="6350000" y="2438400"/>
            <a:ext cx="2235200" cy="146304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300">
                <a:solidFill>
                  <a:srgbClr val="10222F"/>
                </a:solidFill>
              </a:rPr>
              <a:t>Äger innehållsfrågan: urval, metadata, rutiner och praktiska tester.</a:t>
            </a:r>
            <a:endParaRPr sz="1300">
              <a:solidFill>
                <a:srgbClr val="10222F"/>
              </a:solidFill>
            </a:endParaRPr>
          </a:p>
        </p:txBody>
      </p:sp>
      <p:sp>
        <p:nvSpPr>
          <p:cNvPr id="366" name="Rectangle 14"/>
          <p:cNvSpPr/>
          <p:nvPr/>
        </p:nvSpPr>
        <p:spPr>
          <a:xfrm>
            <a:off x="8915400" y="1727200"/>
            <a:ext cx="2540000" cy="21336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7" name="Rectangle 15"/>
          <p:cNvSpPr/>
          <p:nvPr/>
        </p:nvSpPr>
        <p:spPr>
          <a:xfrm>
            <a:off x="8915400" y="1727200"/>
            <a:ext cx="2540000" cy="76200"/>
          </a:xfrm>
          <a:prstGeom prst="rect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8" name="TextBox 16"/>
          <p:cNvSpPr txBox="1"/>
          <p:nvPr/>
        </p:nvSpPr>
        <p:spPr>
          <a:xfrm>
            <a:off x="9067800" y="1905000"/>
            <a:ext cx="22352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1B7DA3"/>
                </a:solidFill>
              </a:rPr>
              <a:t>KUB-projektet</a:t>
            </a:r>
            <a:endParaRPr sz="1400" b="1">
              <a:solidFill>
                <a:srgbClr val="1B7DA3"/>
              </a:solidFill>
            </a:endParaRPr>
          </a:p>
        </p:txBody>
      </p:sp>
      <p:sp>
        <p:nvSpPr>
          <p:cNvPr id="369" name="TextBox 17"/>
          <p:cNvSpPr txBox="1"/>
          <p:nvPr/>
        </p:nvSpPr>
        <p:spPr>
          <a:xfrm>
            <a:off x="9067800" y="2438400"/>
            <a:ext cx="2235200" cy="20116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300">
                <a:solidFill>
                  <a:srgbClr val="10222F"/>
                </a:solidFill>
              </a:rPr>
              <a:t>Rekommendation, huvudprojekt och teknisk projektledning. Samordnar miljö, integration och tester.</a:t>
            </a:r>
            <a:endParaRPr sz="1300">
              <a:solidFill>
                <a:srgbClr val="10222F"/>
              </a:solidFill>
            </a:endParaRPr>
          </a:p>
        </p:txBody>
      </p:sp>
      <p:sp>
        <p:nvSpPr>
          <p:cNvPr id="370" name="Rectangle 18"/>
          <p:cNvSpPr/>
          <p:nvPr/>
        </p:nvSpPr>
        <p:spPr>
          <a:xfrm>
            <a:off x="762000" y="4038600"/>
            <a:ext cx="2540000" cy="21336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1" name="Rectangle 19"/>
          <p:cNvSpPr/>
          <p:nvPr/>
        </p:nvSpPr>
        <p:spPr>
          <a:xfrm>
            <a:off x="762000" y="4038600"/>
            <a:ext cx="2540000" cy="76200"/>
          </a:xfrm>
          <a:prstGeom prst="rect">
            <a:avLst/>
          </a:prstGeom>
          <a:solidFill>
            <a:srgbClr val="1022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2" name="TextBox 20"/>
          <p:cNvSpPr txBox="1"/>
          <p:nvPr/>
        </p:nvSpPr>
        <p:spPr>
          <a:xfrm>
            <a:off x="914400" y="4216400"/>
            <a:ext cx="2235200" cy="6400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1B7DA3"/>
                </a:solidFill>
              </a:rPr>
              <a:t>Projektledare, verksamhetsspåret</a:t>
            </a:r>
            <a:endParaRPr sz="1400" b="1">
              <a:solidFill>
                <a:srgbClr val="1B7DA3"/>
              </a:solidFill>
            </a:endParaRPr>
          </a:p>
        </p:txBody>
      </p:sp>
      <p:sp>
        <p:nvSpPr>
          <p:cNvPr id="373" name="TextBox 21"/>
          <p:cNvSpPr txBox="1"/>
          <p:nvPr/>
        </p:nvSpPr>
        <p:spPr>
          <a:xfrm>
            <a:off x="914400" y="4749800"/>
            <a:ext cx="2235200" cy="146304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300">
                <a:solidFill>
                  <a:srgbClr val="10222F"/>
                </a:solidFill>
              </a:rPr>
              <a:t>Samordnar verksamhetens arbete i piloten och rapporterar till KUB-projektet.</a:t>
            </a:r>
            <a:endParaRPr sz="1300">
              <a:solidFill>
                <a:srgbClr val="10222F"/>
              </a:solidFill>
            </a:endParaRPr>
          </a:p>
        </p:txBody>
      </p:sp>
      <p:sp>
        <p:nvSpPr>
          <p:cNvPr id="374" name="Rectangle 22"/>
          <p:cNvSpPr/>
          <p:nvPr/>
        </p:nvSpPr>
        <p:spPr>
          <a:xfrm>
            <a:off x="3479800" y="4038600"/>
            <a:ext cx="2540000" cy="21336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5" name="Rectangle 23"/>
          <p:cNvSpPr/>
          <p:nvPr/>
        </p:nvSpPr>
        <p:spPr>
          <a:xfrm>
            <a:off x="3479800" y="4038600"/>
            <a:ext cx="2540000" cy="76200"/>
          </a:xfrm>
          <a:prstGeom prst="rect">
            <a:avLst/>
          </a:prstGeom>
          <a:solidFill>
            <a:srgbClr val="1022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6" name="TextBox 24"/>
          <p:cNvSpPr txBox="1"/>
          <p:nvPr/>
        </p:nvSpPr>
        <p:spPr>
          <a:xfrm>
            <a:off x="3632200" y="4216400"/>
            <a:ext cx="22352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1B7DA3"/>
                </a:solidFill>
              </a:rPr>
              <a:t>KSD</a:t>
            </a:r>
            <a:endParaRPr sz="1400" b="1">
              <a:solidFill>
                <a:srgbClr val="1B7DA3"/>
              </a:solidFill>
            </a:endParaRPr>
          </a:p>
        </p:txBody>
      </p:sp>
      <p:sp>
        <p:nvSpPr>
          <p:cNvPr id="377" name="TextBox 25"/>
          <p:cNvSpPr txBox="1"/>
          <p:nvPr/>
        </p:nvSpPr>
        <p:spPr>
          <a:xfrm>
            <a:off x="3632200" y="4749800"/>
            <a:ext cx="2235200" cy="146304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300">
                <a:solidFill>
                  <a:srgbClr val="10222F"/>
                </a:solidFill>
              </a:rPr>
              <a:t>Sätter upp och driftar server- och lagringsmiljön samt hanterar behörigheter.</a:t>
            </a:r>
            <a:endParaRPr sz="1300">
              <a:solidFill>
                <a:srgbClr val="10222F"/>
              </a:solidFill>
            </a:endParaRPr>
          </a:p>
        </p:txBody>
      </p:sp>
      <p:sp>
        <p:nvSpPr>
          <p:cNvPr id="378" name="Rectangle 26"/>
          <p:cNvSpPr/>
          <p:nvPr/>
        </p:nvSpPr>
        <p:spPr>
          <a:xfrm>
            <a:off x="6197600" y="4038600"/>
            <a:ext cx="2540000" cy="21336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9" name="Rectangle 27"/>
          <p:cNvSpPr/>
          <p:nvPr/>
        </p:nvSpPr>
        <p:spPr>
          <a:xfrm>
            <a:off x="6197600" y="4038600"/>
            <a:ext cx="2540000" cy="76200"/>
          </a:xfrm>
          <a:prstGeom prst="rect">
            <a:avLst/>
          </a:prstGeom>
          <a:solidFill>
            <a:srgbClr val="1022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0" name="TextBox 28"/>
          <p:cNvSpPr txBox="1"/>
          <p:nvPr/>
        </p:nvSpPr>
        <p:spPr>
          <a:xfrm>
            <a:off x="6350000" y="4216400"/>
            <a:ext cx="22352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1B7DA3"/>
                </a:solidFill>
              </a:rPr>
              <a:t>Cesar-teamet</a:t>
            </a:r>
            <a:endParaRPr sz="1400" b="1">
              <a:solidFill>
                <a:srgbClr val="1B7DA3"/>
              </a:solidFill>
            </a:endParaRPr>
          </a:p>
        </p:txBody>
      </p:sp>
      <p:sp>
        <p:nvSpPr>
          <p:cNvPr id="381" name="TextBox 29"/>
          <p:cNvSpPr txBox="1"/>
          <p:nvPr/>
        </p:nvSpPr>
        <p:spPr>
          <a:xfrm>
            <a:off x="6350000" y="4749800"/>
            <a:ext cx="2235200" cy="17373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300">
                <a:solidFill>
                  <a:srgbClr val="10222F"/>
                </a:solidFill>
              </a:rPr>
              <a:t>Äger RODA-specifikationen och fungerar som bollplank. Kulturarvsmaterial tidigast 2028.</a:t>
            </a:r>
            <a:endParaRPr sz="1300">
              <a:solidFill>
                <a:srgbClr val="10222F"/>
              </a:solidFill>
            </a:endParaRPr>
          </a:p>
        </p:txBody>
      </p:sp>
      <p:sp>
        <p:nvSpPr>
          <p:cNvPr id="382" name="Rectangle 30"/>
          <p:cNvSpPr/>
          <p:nvPr/>
        </p:nvSpPr>
        <p:spPr>
          <a:xfrm>
            <a:off x="8915400" y="4038600"/>
            <a:ext cx="2540000" cy="21336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3" name="Rectangle 31"/>
          <p:cNvSpPr/>
          <p:nvPr/>
        </p:nvSpPr>
        <p:spPr>
          <a:xfrm>
            <a:off x="8915400" y="4038600"/>
            <a:ext cx="2540000" cy="76200"/>
          </a:xfrm>
          <a:prstGeom prst="rect">
            <a:avLst/>
          </a:prstGeom>
          <a:solidFill>
            <a:srgbClr val="1022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4" name="TextBox 32"/>
          <p:cNvSpPr txBox="1"/>
          <p:nvPr/>
        </p:nvSpPr>
        <p:spPr>
          <a:xfrm>
            <a:off x="9067800" y="4216400"/>
            <a:ext cx="22352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1B7DA3"/>
                </a:solidFill>
              </a:rPr>
              <a:t>Stödfunktioner</a:t>
            </a:r>
            <a:endParaRPr sz="1400" b="1">
              <a:solidFill>
                <a:srgbClr val="1B7DA3"/>
              </a:solidFill>
            </a:endParaRPr>
          </a:p>
        </p:txBody>
      </p:sp>
      <p:sp>
        <p:nvSpPr>
          <p:cNvPr id="385" name="TextBox 33"/>
          <p:cNvSpPr txBox="1"/>
          <p:nvPr/>
        </p:nvSpPr>
        <p:spPr>
          <a:xfrm>
            <a:off x="9067800" y="4749800"/>
            <a:ext cx="2235200" cy="17373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300">
                <a:solidFill>
                  <a:srgbClr val="10222F"/>
                </a:solidFill>
              </a:rPr>
              <a:t>Samordningsgruppen för dataskydd och informationssäkerhet samt Ekonomi och IT.</a:t>
            </a:r>
            <a:endParaRPr sz="1300">
              <a:solidFill>
                <a:srgbClr val="10222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3000"/>
              <a:t>Färdplan: pilotprojektet tar drygt ett år</a:t>
            </a:r>
            <a:endParaRPr sz="3000"/>
          </a:p>
        </p:txBody>
      </p:sp>
      <p:sp>
        <p:nvSpPr>
          <p:cNvPr id="388" name="Arrow 2"/>
          <p:cNvSpPr/>
          <p:nvPr/>
        </p:nvSpPr>
        <p:spPr>
          <a:xfrm>
            <a:off x="762000" y="1778000"/>
            <a:ext cx="2616200" cy="685800"/>
          </a:xfrm>
          <a:prstGeom prst="homePlate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Fas 1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89" name="Rectangle 3"/>
          <p:cNvSpPr/>
          <p:nvPr/>
        </p:nvSpPr>
        <p:spPr>
          <a:xfrm>
            <a:off x="762000" y="2616200"/>
            <a:ext cx="2540000" cy="24130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90" name="TextBox 4"/>
          <p:cNvSpPr txBox="1"/>
          <p:nvPr/>
        </p:nvSpPr>
        <p:spPr>
          <a:xfrm>
            <a:off x="914400" y="2717800"/>
            <a:ext cx="22352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500" b="1">
                <a:solidFill>
                  <a:srgbClr val="1B7DA3"/>
                </a:solidFill>
              </a:rPr>
              <a:t>Teknisk etablering</a:t>
            </a:r>
            <a:endParaRPr sz="1500" b="1">
              <a:solidFill>
                <a:srgbClr val="1B7DA3"/>
              </a:solidFill>
            </a:endParaRPr>
          </a:p>
        </p:txBody>
      </p:sp>
      <p:sp>
        <p:nvSpPr>
          <p:cNvPr id="391" name="TextBox 5"/>
          <p:cNvSpPr txBox="1"/>
          <p:nvPr/>
        </p:nvSpPr>
        <p:spPr>
          <a:xfrm>
            <a:off x="914400" y="3124200"/>
            <a:ext cx="2235200" cy="17373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350">
                <a:solidFill>
                  <a:srgbClr val="10222F"/>
                </a:solidFill>
              </a:rPr>
              <a:t>Avgränsad server- och lagringsmiljö med RODA sätts upp av KUB-projektet, KSD och KSD Infrastruktur.</a:t>
            </a:r>
            <a:endParaRPr sz="1350">
              <a:solidFill>
                <a:srgbClr val="10222F"/>
              </a:solidFill>
            </a:endParaRPr>
          </a:p>
        </p:txBody>
      </p:sp>
      <p:sp>
        <p:nvSpPr>
          <p:cNvPr id="392" name="Arrow 6"/>
          <p:cNvSpPr/>
          <p:nvPr/>
        </p:nvSpPr>
        <p:spPr>
          <a:xfrm>
            <a:off x="3479800" y="1778000"/>
            <a:ext cx="2616200" cy="685800"/>
          </a:xfrm>
          <a:prstGeom prst="homePlate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Fas 2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93" name="Rectangle 7"/>
          <p:cNvSpPr/>
          <p:nvPr/>
        </p:nvSpPr>
        <p:spPr>
          <a:xfrm>
            <a:off x="3479800" y="2616200"/>
            <a:ext cx="2540000" cy="24130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94" name="TextBox 8"/>
          <p:cNvSpPr txBox="1"/>
          <p:nvPr/>
        </p:nvSpPr>
        <p:spPr>
          <a:xfrm>
            <a:off x="3632200" y="2717800"/>
            <a:ext cx="22352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500" b="1">
                <a:solidFill>
                  <a:srgbClr val="1B7DA3"/>
                </a:solidFill>
              </a:rPr>
              <a:t>Förberedelse</a:t>
            </a:r>
            <a:endParaRPr sz="1500" b="1">
              <a:solidFill>
                <a:srgbClr val="1B7DA3"/>
              </a:solidFill>
            </a:endParaRPr>
          </a:p>
        </p:txBody>
      </p:sp>
      <p:sp>
        <p:nvSpPr>
          <p:cNvPr id="395" name="TextBox 9"/>
          <p:cNvSpPr txBox="1"/>
          <p:nvPr/>
        </p:nvSpPr>
        <p:spPr>
          <a:xfrm>
            <a:off x="3632200" y="3124200"/>
            <a:ext cx="2235200" cy="283464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350">
                <a:solidFill>
                  <a:srgbClr val="10222F"/>
                </a:solidFill>
              </a:rPr>
              <a:t>Projektledare tillsätts, pilotmuseum och projektgrupp utses, utvärderingskriterier fastställs och pilotmaterialet informationsklassas.</a:t>
            </a:r>
            <a:endParaRPr sz="1350">
              <a:solidFill>
                <a:srgbClr val="10222F"/>
              </a:solidFill>
            </a:endParaRPr>
          </a:p>
        </p:txBody>
      </p:sp>
      <p:sp>
        <p:nvSpPr>
          <p:cNvPr id="396" name="Arrow 10"/>
          <p:cNvSpPr/>
          <p:nvPr/>
        </p:nvSpPr>
        <p:spPr>
          <a:xfrm>
            <a:off x="6197600" y="1778000"/>
            <a:ext cx="2616200" cy="685800"/>
          </a:xfrm>
          <a:prstGeom prst="homePlate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Fas 3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97" name="Rectangle 11"/>
          <p:cNvSpPr/>
          <p:nvPr/>
        </p:nvSpPr>
        <p:spPr>
          <a:xfrm>
            <a:off x="6197600" y="2616200"/>
            <a:ext cx="2540000" cy="24130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98" name="TextBox 12"/>
          <p:cNvSpPr txBox="1"/>
          <p:nvPr/>
        </p:nvSpPr>
        <p:spPr>
          <a:xfrm>
            <a:off x="6350000" y="2717800"/>
            <a:ext cx="22352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500" b="1">
                <a:solidFill>
                  <a:srgbClr val="1B7DA3"/>
                </a:solidFill>
              </a:rPr>
              <a:t>Genomförande</a:t>
            </a:r>
            <a:endParaRPr sz="1500" b="1">
              <a:solidFill>
                <a:srgbClr val="1B7DA3"/>
              </a:solidFill>
            </a:endParaRPr>
          </a:p>
        </p:txBody>
      </p:sp>
      <p:sp>
        <p:nvSpPr>
          <p:cNvPr id="399" name="TextBox 13"/>
          <p:cNvSpPr txBox="1"/>
          <p:nvPr/>
        </p:nvSpPr>
        <p:spPr>
          <a:xfrm>
            <a:off x="6350000" y="3124200"/>
            <a:ext cx="2235200" cy="20116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350">
                <a:solidFill>
                  <a:srgbClr val="10222F"/>
                </a:solidFill>
              </a:rPr>
              <a:t>Verksamhetsspår: urval och arbetssätt. Tekniskt spår: hela kedjan från Primus till lagring i RODA testas.</a:t>
            </a:r>
            <a:endParaRPr sz="1350">
              <a:solidFill>
                <a:srgbClr val="10222F"/>
              </a:solidFill>
            </a:endParaRPr>
          </a:p>
        </p:txBody>
      </p:sp>
      <p:sp>
        <p:nvSpPr>
          <p:cNvPr id="400" name="Arrow 14"/>
          <p:cNvSpPr/>
          <p:nvPr/>
        </p:nvSpPr>
        <p:spPr>
          <a:xfrm>
            <a:off x="8915400" y="1778000"/>
            <a:ext cx="2616200" cy="685800"/>
          </a:xfrm>
          <a:prstGeom prst="homePlate">
            <a:avLst/>
          </a:prstGeom>
          <a:solidFill>
            <a:srgbClr val="1022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Fas 4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401" name="Rectangle 15"/>
          <p:cNvSpPr/>
          <p:nvPr/>
        </p:nvSpPr>
        <p:spPr>
          <a:xfrm>
            <a:off x="8915400" y="2616200"/>
            <a:ext cx="2540000" cy="24130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2" name="TextBox 16"/>
          <p:cNvSpPr txBox="1"/>
          <p:nvPr/>
        </p:nvSpPr>
        <p:spPr>
          <a:xfrm>
            <a:off x="9067800" y="2717800"/>
            <a:ext cx="22352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500" b="1">
                <a:solidFill>
                  <a:srgbClr val="1B7DA3"/>
                </a:solidFill>
              </a:rPr>
              <a:t>Utvärdering</a:t>
            </a:r>
            <a:endParaRPr sz="1500" b="1">
              <a:solidFill>
                <a:srgbClr val="1B7DA3"/>
              </a:solidFill>
            </a:endParaRPr>
          </a:p>
        </p:txBody>
      </p:sp>
      <p:sp>
        <p:nvSpPr>
          <p:cNvPr id="403" name="TextBox 17"/>
          <p:cNvSpPr txBox="1"/>
          <p:nvPr/>
        </p:nvSpPr>
        <p:spPr>
          <a:xfrm>
            <a:off x="9067800" y="3124200"/>
            <a:ext cx="2235200" cy="17373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350">
                <a:solidFill>
                  <a:srgbClr val="10222F"/>
                </a:solidFill>
              </a:rPr>
              <a:t>Resultat utvärderas mot kriterierna och ett beslutsunderlag om långsiktig lösning tas fram.</a:t>
            </a:r>
            <a:endParaRPr sz="1350">
              <a:solidFill>
                <a:srgbClr val="10222F"/>
              </a:solidFill>
            </a:endParaRPr>
          </a:p>
        </p:txBody>
      </p:sp>
      <p:sp>
        <p:nvSpPr>
          <p:cNvPr id="404" name="Rectangle 18"/>
          <p:cNvSpPr/>
          <p:nvPr/>
        </p:nvSpPr>
        <p:spPr>
          <a:xfrm>
            <a:off x="762000" y="5207000"/>
            <a:ext cx="5181600" cy="1066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1B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5" name="TextBox 19"/>
          <p:cNvSpPr txBox="1"/>
          <p:nvPr/>
        </p:nvSpPr>
        <p:spPr>
          <a:xfrm>
            <a:off x="965200" y="5283200"/>
            <a:ext cx="48260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500" b="1">
                <a:solidFill>
                  <a:srgbClr val="1B7DA3"/>
                </a:solidFill>
              </a:rPr>
              <a:t>Start november 2026</a:t>
            </a:r>
            <a:endParaRPr sz="1500" b="1">
              <a:solidFill>
                <a:srgbClr val="1B7DA3"/>
              </a:solidFill>
            </a:endParaRPr>
          </a:p>
        </p:txBody>
      </p:sp>
      <p:sp>
        <p:nvSpPr>
          <p:cNvPr id="406" name="TextBox 20"/>
          <p:cNvSpPr txBox="1"/>
          <p:nvPr/>
        </p:nvSpPr>
        <p:spPr>
          <a:xfrm>
            <a:off x="965200" y="5613400"/>
            <a:ext cx="4826000" cy="91440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250">
                <a:solidFill>
                  <a:srgbClr val="10222F"/>
                </a:solidFill>
              </a:rPr>
              <a:t>Informationsklassning och bedömning av personuppgifter görs i Fas 2. Inget material förs in i miljön innan dess.</a:t>
            </a:r>
            <a:endParaRPr sz="1250">
              <a:solidFill>
                <a:srgbClr val="10222F"/>
              </a:solidFill>
            </a:endParaRPr>
          </a:p>
        </p:txBody>
      </p:sp>
      <p:sp>
        <p:nvSpPr>
          <p:cNvPr id="407" name="Rectangle 21"/>
          <p:cNvSpPr/>
          <p:nvPr/>
        </p:nvSpPr>
        <p:spPr>
          <a:xfrm>
            <a:off x="6248400" y="5207000"/>
            <a:ext cx="5181600" cy="1066800"/>
          </a:xfrm>
          <a:prstGeom prst="roundRect">
            <a:avLst>
              <a:gd name="adj" fmla="val 0"/>
            </a:avLst>
          </a:prstGeom>
          <a:solidFill>
            <a:srgbClr val="1022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8" name="TextBox 22"/>
          <p:cNvSpPr txBox="1"/>
          <p:nvPr/>
        </p:nvSpPr>
        <p:spPr>
          <a:xfrm>
            <a:off x="6451600" y="5283200"/>
            <a:ext cx="48260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500" b="1">
                <a:solidFill>
                  <a:srgbClr val="E0A030"/>
                </a:solidFill>
              </a:rPr>
              <a:t>Beslut om långsiktig lösning slutet av 2027</a:t>
            </a:r>
            <a:endParaRPr sz="1500" b="1">
              <a:solidFill>
                <a:srgbClr val="E0A030"/>
              </a:solidFill>
            </a:endParaRPr>
          </a:p>
        </p:txBody>
      </p:sp>
      <p:sp>
        <p:nvSpPr>
          <p:cNvPr id="409" name="TextBox 23"/>
          <p:cNvSpPr txBox="1"/>
          <p:nvPr/>
        </p:nvSpPr>
        <p:spPr>
          <a:xfrm>
            <a:off x="6451600" y="5613400"/>
            <a:ext cx="4826000" cy="91440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250">
                <a:solidFill>
                  <a:srgbClr val="FFFFFF"/>
                </a:solidFill>
              </a:rPr>
              <a:t>Piloten startar först när förutsättningarna är uppfyllda (BP3). Lösningen beslutas efter utvärderingen (BP4).</a:t>
            </a:r>
            <a:endParaRPr sz="12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3000"/>
              <a:t>Beslut som ledningsgruppen föreslås fatta</a:t>
            </a:r>
            <a:endParaRPr sz="3000"/>
          </a:p>
        </p:txBody>
      </p:sp>
      <p:sp>
        <p:nvSpPr>
          <p:cNvPr id="412" name="Rectangle 2"/>
          <p:cNvSpPr/>
          <p:nvPr/>
        </p:nvSpPr>
        <p:spPr>
          <a:xfrm>
            <a:off x="762000" y="1727200"/>
            <a:ext cx="6858000" cy="9398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13" name="Oval 3"/>
          <p:cNvSpPr/>
          <p:nvPr/>
        </p:nvSpPr>
        <p:spPr>
          <a:xfrm>
            <a:off x="914400" y="1943100"/>
            <a:ext cx="508000" cy="508000"/>
          </a:xfrm>
          <a:prstGeom prst="ellipse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414" name="TextBox 4"/>
          <p:cNvSpPr txBox="1"/>
          <p:nvPr/>
        </p:nvSpPr>
        <p:spPr>
          <a:xfrm>
            <a:off x="1600200" y="1803400"/>
            <a:ext cx="58928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500" b="1">
                <a:solidFill>
                  <a:srgbClr val="1B7DA3"/>
                </a:solidFill>
              </a:rPr>
              <a:t>Inriktning</a:t>
            </a:r>
            <a:endParaRPr sz="1500" b="1">
              <a:solidFill>
                <a:srgbClr val="1B7DA3"/>
              </a:solidFill>
            </a:endParaRPr>
          </a:p>
        </p:txBody>
      </p:sp>
      <p:sp>
        <p:nvSpPr>
          <p:cNvPr id="415" name="TextBox 5"/>
          <p:cNvSpPr txBox="1"/>
          <p:nvPr/>
        </p:nvSpPr>
        <p:spPr>
          <a:xfrm>
            <a:off x="1600200" y="2108200"/>
            <a:ext cx="5892800" cy="6400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250">
                <a:solidFill>
                  <a:srgbClr val="10222F"/>
                </a:solidFill>
              </a:rPr>
              <a:t>Ställa sig bakom Cesar/RODA som inriktning för långsiktigt digitalt bevarande.</a:t>
            </a:r>
            <a:endParaRPr sz="1250">
              <a:solidFill>
                <a:srgbClr val="10222F"/>
              </a:solidFill>
            </a:endParaRPr>
          </a:p>
        </p:txBody>
      </p:sp>
      <p:sp>
        <p:nvSpPr>
          <p:cNvPr id="416" name="Rectangle 6"/>
          <p:cNvSpPr/>
          <p:nvPr/>
        </p:nvSpPr>
        <p:spPr>
          <a:xfrm>
            <a:off x="762000" y="2794000"/>
            <a:ext cx="6858000" cy="9398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17" name="Oval 7"/>
          <p:cNvSpPr/>
          <p:nvPr/>
        </p:nvSpPr>
        <p:spPr>
          <a:xfrm>
            <a:off x="914400" y="3009900"/>
            <a:ext cx="508000" cy="508000"/>
          </a:xfrm>
          <a:prstGeom prst="ellipse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418" name="TextBox 8"/>
          <p:cNvSpPr txBox="1"/>
          <p:nvPr/>
        </p:nvSpPr>
        <p:spPr>
          <a:xfrm>
            <a:off x="1600200" y="2870200"/>
            <a:ext cx="58928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500" b="1">
                <a:solidFill>
                  <a:srgbClr val="1B7DA3"/>
                </a:solidFill>
              </a:rPr>
              <a:t>Uppdrag till verksamheten</a:t>
            </a:r>
            <a:endParaRPr sz="1500" b="1">
              <a:solidFill>
                <a:srgbClr val="1B7DA3"/>
              </a:solidFill>
            </a:endParaRPr>
          </a:p>
        </p:txBody>
      </p:sp>
      <p:sp>
        <p:nvSpPr>
          <p:cNvPr id="419" name="TextBox 9"/>
          <p:cNvSpPr txBox="1"/>
          <p:nvPr/>
        </p:nvSpPr>
        <p:spPr>
          <a:xfrm>
            <a:off x="1600200" y="3175000"/>
            <a:ext cx="5892800" cy="6400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250">
                <a:solidFill>
                  <a:srgbClr val="10222F"/>
                </a:solidFill>
              </a:rPr>
              <a:t>NOK utser pilotmuseum och projektgrupp med namngivna representanter och avsatt tid.</a:t>
            </a:r>
            <a:endParaRPr sz="1250">
              <a:solidFill>
                <a:srgbClr val="10222F"/>
              </a:solidFill>
            </a:endParaRPr>
          </a:p>
        </p:txBody>
      </p:sp>
      <p:sp>
        <p:nvSpPr>
          <p:cNvPr id="420" name="Rectangle 10"/>
          <p:cNvSpPr/>
          <p:nvPr/>
        </p:nvSpPr>
        <p:spPr>
          <a:xfrm>
            <a:off x="762000" y="3860800"/>
            <a:ext cx="6858000" cy="9398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21" name="Oval 11"/>
          <p:cNvSpPr/>
          <p:nvPr/>
        </p:nvSpPr>
        <p:spPr>
          <a:xfrm>
            <a:off x="914400" y="4076700"/>
            <a:ext cx="508000" cy="508000"/>
          </a:xfrm>
          <a:prstGeom prst="ellipse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422" name="TextBox 12"/>
          <p:cNvSpPr txBox="1"/>
          <p:nvPr/>
        </p:nvSpPr>
        <p:spPr>
          <a:xfrm>
            <a:off x="1600200" y="3937000"/>
            <a:ext cx="58928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500" b="1">
                <a:solidFill>
                  <a:srgbClr val="1B7DA3"/>
                </a:solidFill>
              </a:rPr>
              <a:t>Teknisk miljö</a:t>
            </a:r>
            <a:endParaRPr sz="1500" b="1">
              <a:solidFill>
                <a:srgbClr val="1B7DA3"/>
              </a:solidFill>
            </a:endParaRPr>
          </a:p>
        </p:txBody>
      </p:sp>
      <p:sp>
        <p:nvSpPr>
          <p:cNvPr id="423" name="TextBox 13"/>
          <p:cNvSpPr txBox="1"/>
          <p:nvPr/>
        </p:nvSpPr>
        <p:spPr>
          <a:xfrm>
            <a:off x="1600200" y="4241800"/>
            <a:ext cx="5892800" cy="6400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250">
                <a:solidFill>
                  <a:srgbClr val="10222F"/>
                </a:solidFill>
              </a:rPr>
              <a:t>KUB-projektet får mandat att etablera en avgränsad teknisk miljö som pilotens första fas.</a:t>
            </a:r>
            <a:endParaRPr sz="1250">
              <a:solidFill>
                <a:srgbClr val="10222F"/>
              </a:solidFill>
            </a:endParaRPr>
          </a:p>
        </p:txBody>
      </p:sp>
      <p:sp>
        <p:nvSpPr>
          <p:cNvPr id="424" name="Rectangle 14"/>
          <p:cNvSpPr/>
          <p:nvPr/>
        </p:nvSpPr>
        <p:spPr>
          <a:xfrm>
            <a:off x="762000" y="4927600"/>
            <a:ext cx="6858000" cy="939800"/>
          </a:xfrm>
          <a:prstGeom prst="roundRect">
            <a:avLst>
              <a:gd name="adj" fmla="val 0"/>
            </a:avLst>
          </a:prstGeom>
          <a:solidFill>
            <a:srgbClr val="E6F1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25" name="Oval 15"/>
          <p:cNvSpPr/>
          <p:nvPr/>
        </p:nvSpPr>
        <p:spPr>
          <a:xfrm>
            <a:off x="914400" y="5143500"/>
            <a:ext cx="508000" cy="508000"/>
          </a:xfrm>
          <a:prstGeom prst="ellipse">
            <a:avLst/>
          </a:prstGeom>
          <a:solidFill>
            <a:srgbClr val="1B7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426" name="TextBox 16"/>
          <p:cNvSpPr txBox="1"/>
          <p:nvPr/>
        </p:nvSpPr>
        <p:spPr>
          <a:xfrm>
            <a:off x="1600200" y="5003800"/>
            <a:ext cx="58928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500" b="1">
                <a:solidFill>
                  <a:srgbClr val="1B7DA3"/>
                </a:solidFill>
              </a:rPr>
              <a:t>Pilotprojekt</a:t>
            </a:r>
            <a:endParaRPr sz="1500" b="1">
              <a:solidFill>
                <a:srgbClr val="1B7DA3"/>
              </a:solidFill>
            </a:endParaRPr>
          </a:p>
        </p:txBody>
      </p:sp>
      <p:sp>
        <p:nvSpPr>
          <p:cNvPr id="427" name="TextBox 17"/>
          <p:cNvSpPr txBox="1"/>
          <p:nvPr/>
        </p:nvSpPr>
        <p:spPr>
          <a:xfrm>
            <a:off x="1600200" y="5308600"/>
            <a:ext cx="5892800" cy="91440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250">
                <a:solidFill>
                  <a:srgbClr val="10222F"/>
                </a:solidFill>
              </a:rPr>
              <a:t>Genomförs enligt färdplanen från november 2026. KUB undersöker en projektledare (cirka 20 %) för Fas 3.</a:t>
            </a:r>
            <a:endParaRPr sz="1250">
              <a:solidFill>
                <a:srgbClr val="10222F"/>
              </a:solidFill>
            </a:endParaRPr>
          </a:p>
        </p:txBody>
      </p:sp>
      <p:sp>
        <p:nvSpPr>
          <p:cNvPr id="428" name="Rectangle 18"/>
          <p:cNvSpPr/>
          <p:nvPr/>
        </p:nvSpPr>
        <p:spPr>
          <a:xfrm>
            <a:off x="7874000" y="1727200"/>
            <a:ext cx="3556000" cy="4140200"/>
          </a:xfrm>
          <a:prstGeom prst="roundRect">
            <a:avLst>
              <a:gd name="adj" fmla="val 0"/>
            </a:avLst>
          </a:prstGeom>
          <a:solidFill>
            <a:srgbClr val="1022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29" name="TextBox 19"/>
          <p:cNvSpPr txBox="1"/>
          <p:nvPr/>
        </p:nvSpPr>
        <p:spPr>
          <a:xfrm>
            <a:off x="8128000" y="1905000"/>
            <a:ext cx="30480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200" b="1">
                <a:solidFill>
                  <a:srgbClr val="E0A030"/>
                </a:solidFill>
              </a:rPr>
              <a:t>BUDGET 2026</a:t>
            </a:r>
            <a:endParaRPr sz="1200" b="1">
              <a:solidFill>
                <a:srgbClr val="E0A030"/>
              </a:solidFill>
            </a:endParaRPr>
          </a:p>
        </p:txBody>
      </p:sp>
      <p:sp>
        <p:nvSpPr>
          <p:cNvPr id="430" name="TextBox 20"/>
          <p:cNvSpPr txBox="1"/>
          <p:nvPr/>
        </p:nvSpPr>
        <p:spPr>
          <a:xfrm>
            <a:off x="8128000" y="2235200"/>
            <a:ext cx="3048000" cy="36576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erriweather"/>
              </a:rPr>
              <a:t>500 000 kr</a:t>
            </a:r>
            <a:endParaRPr sz="3200" b="1">
              <a:solidFill>
                <a:srgbClr val="FFFFFF"/>
              </a:solidFill>
              <a:latin typeface="Merriweather"/>
            </a:endParaRPr>
          </a:p>
        </p:txBody>
      </p:sp>
      <p:sp>
        <p:nvSpPr>
          <p:cNvPr id="431" name="TextBox 21"/>
          <p:cNvSpPr txBox="1"/>
          <p:nvPr/>
        </p:nvSpPr>
        <p:spPr>
          <a:xfrm>
            <a:off x="8128000" y="3098800"/>
            <a:ext cx="3048000" cy="20116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</a:rPr>
              <a:t>KSD:s bevarandeprojekt finansierar den tekniska etableringen av server- och lagringsmiljön med RODA.</a:t>
            </a:r>
            <a:endParaRPr sz="1300">
              <a:solidFill>
                <a:srgbClr val="FFFFFF"/>
              </a:solidFill>
            </a:endParaRP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</a:rPr>
              <a:t>KSD kan även bidra under 2027.</a:t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432" name="TextBox 22"/>
          <p:cNvSpPr txBox="1"/>
          <p:nvPr/>
        </p:nvSpPr>
        <p:spPr>
          <a:xfrm>
            <a:off x="8128000" y="4927600"/>
            <a:ext cx="3048000" cy="91440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300" b="1">
                <a:solidFill>
                  <a:srgbClr val="E0A030"/>
                </a:solidFill>
              </a:rPr>
              <a:t>Slutligt beslut om långsiktig lösning fattas efter utvärderingen.</a:t>
            </a:r>
            <a:endParaRPr sz="1300" b="1">
              <a:solidFill>
                <a:srgbClr val="E0A030"/>
              </a:solidFill>
            </a:endParaRPr>
          </a:p>
        </p:txBody>
      </p:sp>
      <p:sp>
        <p:nvSpPr>
          <p:cNvPr id="433" name="TextBox 23"/>
          <p:cNvSpPr txBox="1"/>
          <p:nvPr/>
        </p:nvSpPr>
        <p:spPr>
          <a:xfrm>
            <a:off x="762000" y="5969000"/>
            <a:ext cx="10668000" cy="64008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/>
            <a:r>
              <a:rPr sz="1150">
                <a:solidFill>
                  <a:srgbClr val="4A5B66"/>
                </a:solidFill>
              </a:rPr>
              <a:t>Riksarkivets uppdrag om digital beredskap bedöms inte påverka KUB:s arbete 2026–2027. KUB följer utvecklingen.</a:t>
            </a:r>
            <a:endParaRPr sz="1150">
              <a:solidFill>
                <a:srgbClr val="4A5B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arbor">
  <a:themeElements>
    <a:clrScheme name="Harbor">
      <a:dk1>
        <a:srgbClr val="0B1F2A"/>
      </a:dk1>
      <a:lt1>
        <a:srgbClr val="FFFFFF"/>
      </a:lt1>
      <a:dk2>
        <a:srgbClr val="12384D"/>
      </a:dk2>
      <a:lt2>
        <a:srgbClr val="E4EEF2"/>
      </a:lt2>
      <a:accent1>
        <a:srgbClr val="1B7FA6"/>
      </a:accent1>
      <a:accent2>
        <a:srgbClr val="36B3A8"/>
      </a:accent2>
      <a:accent3>
        <a:srgbClr val="F2C14E"/>
      </a:accent3>
      <a:accent4>
        <a:srgbClr val="F78154"/>
      </a:accent4>
      <a:accent5>
        <a:srgbClr val="5D576B"/>
      </a:accent5>
      <a:accent6>
        <a:srgbClr val="8AA29E"/>
      </a:accent6>
      <a:hlink>
        <a:srgbClr val="1B7FA6"/>
      </a:hlink>
      <a:folHlink>
        <a:srgbClr val="5D576B"/>
      </a:folHlink>
    </a:clrScheme>
    <a:fontScheme name="Harbor">
      <a:majorFont>
        <a:latin typeface="Merriweather"/>
        <a:ea typeface=""/>
        <a:cs typeface=""/>
      </a:majorFont>
      <a:minorFont>
        <a:latin typeface="Open Sans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xmlns:r="http://schemas.openxmlformats.org/officeDocument/2006/relationships" name="Harbor">
  <a:themeElements>
    <a:clrScheme name="Harbor">
      <a:dk1>
        <a:srgbClr val="0B1F2A"/>
      </a:dk1>
      <a:lt1>
        <a:srgbClr val="FFFFFF"/>
      </a:lt1>
      <a:dk2>
        <a:srgbClr val="12384D"/>
      </a:dk2>
      <a:lt2>
        <a:srgbClr val="E4EEF2"/>
      </a:lt2>
      <a:accent1>
        <a:srgbClr val="1B7FA6"/>
      </a:accent1>
      <a:accent2>
        <a:srgbClr val="36B3A8"/>
      </a:accent2>
      <a:accent3>
        <a:srgbClr val="F2C14E"/>
      </a:accent3>
      <a:accent4>
        <a:srgbClr val="F78154"/>
      </a:accent4>
      <a:accent5>
        <a:srgbClr val="5D576B"/>
      </a:accent5>
      <a:accent6>
        <a:srgbClr val="8AA29E"/>
      </a:accent6>
      <a:hlink>
        <a:srgbClr val="1B7FA6"/>
      </a:hlink>
      <a:folHlink>
        <a:srgbClr val="5D576B"/>
      </a:folHlink>
    </a:clrScheme>
    <a:fontScheme name="Harbor">
      <a:majorFont>
        <a:latin typeface="Merriweather"/>
        <a:ea typeface=""/>
        <a:cs typeface=""/>
      </a:majorFont>
      <a:minorFont>
        <a:latin typeface="Open Sans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9</Slides>
  <Notes>9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