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theme" Target="theme/theme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457200"/>
          </a:xfrm>
          <a:prstGeom prst="rect">
            <a:avLst/>
          </a:prstGeom>
        </p:spPr>
        <p:txBody>
          <a:bodyPr/>
          <a:lstStyle/>
          <a:p/>
        </p:txBody>
      </p:sp>
      <p:sp>
        <p:nvSpPr>
          <p:cNvPr id="3" name="Date Placeholder 2"/>
          <p:cNvSpPr>
            <a:spLocks noGrp="1"/>
          </p:cNvSpPr>
          <p:nvPr>
            <p:ph type="dt" sz="quarter" idx="1"/>
          </p:nvPr>
        </p:nvSpPr>
        <p:spPr>
          <a:xfrm>
            <a:off x="3909060" y="0"/>
            <a:ext cx="2948940" cy="457200"/>
          </a:xfrm>
          <a:prstGeom prst="rect">
            <a:avLst/>
          </a:prstGeom>
        </p:spPr>
        <p:txBody>
          <a:bodyPr/>
          <a:lstStyle/>
          <a:p/>
        </p:txBody>
      </p:sp>
      <p:sp>
        <p:nvSpPr>
          <p:cNvPr id="4" name="Slide Image Placeholder 3"/>
          <p:cNvSpPr>
            <a:spLocks noGrp="1"/>
          </p:cNvSpPr>
          <p:nvPr>
            <p:ph type="sldImg" idx="2"/>
          </p:nvPr>
        </p:nvSpPr>
        <p:spPr>
          <a:xfrm>
            <a:off x="857250" y="1143000"/>
            <a:ext cx="5143500" cy="3429000"/>
          </a:xfrm>
          <a:prstGeom prst="rect">
            <a:avLst/>
          </a:prstGeom>
          <a:noFill/>
          <a:ln w="12700">
            <a:solidFill>
              <a:srgbClr val="000000"/>
            </a:solidFill>
          </a:ln>
        </p:spPr>
      </p:sp>
      <p:sp>
        <p:nvSpPr>
          <p:cNvPr id="5" name="Notes Placeholder 4"/>
          <p:cNvSpPr>
            <a:spLocks noGrp="1"/>
          </p:cNvSpPr>
          <p:nvPr>
            <p:ph type="body" sz="quarter" idx="3"/>
          </p:nvPr>
        </p:nvSpPr>
        <p:spPr>
          <a:xfrm>
            <a:off x="685800" y="4846320"/>
            <a:ext cx="5486400" cy="329184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8686800"/>
            <a:ext cx="2948940" cy="457200"/>
          </a:xfrm>
          <a:prstGeom prst="rect">
            <a:avLst/>
          </a:prstGeom>
        </p:spPr>
        <p:txBody>
          <a:bodyPr/>
          <a:lstStyle/>
          <a:p/>
        </p:txBody>
      </p:sp>
      <p:sp>
        <p:nvSpPr>
          <p:cNvPr id="7" name="Slide Number Placeholder 6"/>
          <p:cNvSpPr>
            <a:spLocks noGrp="1"/>
          </p:cNvSpPr>
          <p:nvPr>
            <p:ph type="sldNum" sz="quarter" idx="5"/>
          </p:nvPr>
        </p:nvSpPr>
        <p:spPr>
          <a:xfrm>
            <a:off x="3909060" y="8686800"/>
            <a:ext cx="2948940" cy="4572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inledning, exempelobjekt och sammanfattande principer. Flödet gäller den digitala dokumentationen av föremålet, inte det fysiska föremålet.</a:t>
            </a:r>
          </a:p>
          <a:p>
            <a:r>
              <a:rPr/>
              <a:t>Presentationen sammanfattar ett förslag, inte verifierad driftsättning. Källhänvisningarna i underlaget har inte kontrollerats externt.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flödesdiagrammet och faserna 1–6. SIP = Submission Information Package; AIP = Archival Information Package; DIP = Dissemination Information Package. Efter säkrad lagring fortsätter både löpande bevarande och åtkomst.</a:t>
            </a:r>
          </a:p>
          <a:p>
            <a:r>
              <a:rPr/>
              <a:t>Presentationen sammanfattar ett förslag, inte verifierad driftsättning. Källhänvisningarna i underlaget har inte kontrollerats externt.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avsnitt 1, Roll- och ansvarsfördelning mellan standarderna. OAIS är en konceptuell referensmodell, inte ett program. RODA är ett system, inte en standard. METS strukturerar paketet; Dublin Core beskriver innehållet; PREMIS dokumenterar bevarandet.</a:t>
            </a:r>
          </a:p>
          <a:p>
            <a:r>
              <a:rPr/>
              <a:t>Presentationen sammanfattar ett förslag, inte verifierad driftsättning. Källhänvisningarna i underlaget har inte kontrollerats externt.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fas 1, steg 1–2. Formaten är exempel från underlaget och ska styras av museets beslutade digitaliseringspolicy och bevarandebehov. Registrering och kvalitetssäkring sker i ordinarie samlingssystem; ingen manuell dubbelregistrering i lösa XML-filer.</a:t>
            </a:r>
          </a:p>
          <a:p>
            <a:r>
              <a:rPr/>
              <a:t>Presentationen sammanfattar ett förslag, inte verifierad driftsättning. Källhänvisningarna i underlaget har inte kontrollerats externt.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fas 2, steg 3–4. Export och mappning kräver ett lämpligt verktyg eller skript. METS.xml förtecknar filer och checksummor, exempelvis SHA-256. En checksumma är ett digitalt kontrollvärde som gör det möjligt att upptäcka förändringar i en fil.</a:t>
            </a:r>
          </a:p>
          <a:p>
            <a:r>
              <a:rPr/>
              <a:t>Presentationen sammanfattar ett förslag, inte verifierad driftsättning. Källhänvisningarna i underlaget har inte kontrollerats externt.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fas 3, steg 5. Funktionerna kräver konfiguration och tillgängliga verktyg. Underlaget nämner Siegfried/DROID för formatidentifiering och JHOVE för teknisk validering. Visningskopior skapas bara om en sådan åtgärd är aktiv. PREMIS registrerar utförda händelser. Virusskanning minskar risk men garanterar inte att all skadlig kod upptäcks.</a:t>
            </a:r>
          </a:p>
          <a:p>
            <a:r>
              <a:rPr/>
              <a:t>Presentationen sammanfattar ett förslag, inte verifierad driftsättning. Källhänvisningarna i underlaget har inte kontrollerats externt.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fas 4, steg 6–7 och sammanfattande princip 2. AIP = bevarandepaket. Lagringsarkitektur, skydd och återställningsrutiner måste beslutas, konfigureras och förvaltas. Bilden återger förslagets skyddsprinciper och gör ingen självständig juridisk bedömning av dess hänvisningar.</a:t>
            </a:r>
          </a:p>
          <a:p>
            <a:r>
              <a:rPr/>
              <a:t>Presentationen sammanfattar ett förslag, inte verifierad driftsättning. Källhänvisningarna i underlaget har inte kontrollerats externt.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fas 5, steg 8–9. Fixitet betyder kontroll av att filen inte har förändrats. Kontrollintervall bestäms i museets bevarandeplan; underlagets kvartal eller halvår är exempel, inte beslutade krav. Migrering föregås av analys, provkonvertering och beslut. Originalet bevaras intakt, och åtgärden loggas i PREMIS.</a:t>
            </a:r>
          </a:p>
          <a:p>
            <a:r>
              <a:rPr/>
              <a:t>Presentationen sammanfattar ett förslag, inte verifierad driftsättning. Källhänvisningarna i underlaget har inte kontrollerats externt.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fas 6, steg 10–11. DIP = uttagspaket. Åtkomst baseras på beställarens behörighet. Publicering kräver en separat integrationsväg och anpassning till mottagaren. API/OAI-PMH nämns som exempel i underlaget; en färdig anslutning är inte verifierad.</a:t>
            </a:r>
          </a:p>
          <a:p>
            <a:r>
              <a:rPr/>
              <a:t>Presentationen sammanfattar ett förslag, inte verifierad driftsättning. Källhänvisningarna i underlaget har inte kontrollerats externt.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Underlag: Workspace\AJ-dok\forslag-workflow.md.</a:t>
            </a:r>
          </a:p>
          <a:p>
            <a:r>
              <a:rPr/>
              <a:t>Källa: sammanfattande principer och ansvar i faserna 1–6. Frågorna är en sammanfattande checklista härledd ur förslaget, inte nya beslut. Huvudbudskap: automation med mänsklig kontroll, bevarande i driften och ingen manuell metadatadubblering.</a:t>
            </a:r>
          </a:p>
          <a:p>
            <a:r>
              <a:rPr/>
              <a:t>Presentationen sammanfattar ett förslag, inte verifierad driftsättning. Källhänvisningarna i underlaget har inte kontrollerats externt.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17600"/>
            <a:ext cx="9144000" cy="2387600"/>
          </a:xfrm>
          <a:prstGeom prst="rect">
            <a:avLst/>
          </a:prstGeom>
        </p:spPr>
        <p:txBody>
          <a:bodyPr anchor="b">
            <a:normAutofit fontScale="100000"/>
          </a:bodyPr>
          <a:lstStyle>
            <a:lvl1pPr algn="ctr">
              <a:defRPr sz="6000"/>
            </a:lvl1pPr>
          </a:lstStyle>
          <a:p/>
        </p:txBody>
      </p:sp>
      <p:sp>
        <p:nvSpPr>
          <p:cNvPr id="8" name="Subtitle 2"/>
          <p:cNvSpPr>
            <a:spLocks noGrp="1"/>
          </p:cNvSpPr>
          <p:nvPr>
            <p:ph type="subTitle" idx="1"/>
          </p:nvPr>
        </p:nvSpPr>
        <p:spPr>
          <a:xfrm>
            <a:off x="1524000" y="3606800"/>
            <a:ext cx="9144000" cy="1651000"/>
          </a:xfrm>
          <a:prstGeom prst="rect">
            <a:avLst/>
          </a:prstGeom>
        </p:spPr>
        <p:txBody>
          <a:bodyPr anchor="t">
            <a:normAutofit fontScale="100000"/>
          </a:bodyPr>
          <a:lstStyle>
            <a:lvl1pPr marL="0" indent="0" algn="ctr">
              <a:buNone/>
              <a:defRPr sz="2400"/>
            </a:lvl1pPr>
          </a:lstStyle>
          <a:p/>
        </p:txBody>
      </p:sp>
      <p:sp>
        <p:nvSpPr>
          <p:cNvPr id="9"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0"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1"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DC6D5D-A00E-4AA9-84F2-364CBECE0EEA}" type="slidenum">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14" name="Content Placeholder 2"/>
          <p:cNvSpPr>
            <a:spLocks noGrp="1"/>
          </p:cNvSpPr>
          <p:nvPr>
            <p:ph idx="1"/>
          </p:nvPr>
        </p:nvSpPr>
        <p:spPr>
          <a:xfrm>
            <a:off x="762000" y="1828800"/>
            <a:ext cx="10668000" cy="4356100"/>
          </a:xfrm>
          <a:prstGeom prst="rect">
            <a:avLst/>
          </a:prstGeom>
        </p:spPr>
        <p:txBody>
          <a:bodyPr anchor="t">
            <a:normAutofit fontScale="100000"/>
          </a:bodyPr>
          <a:lstStyle/>
          <a:p/>
        </p:txBody>
      </p:sp>
      <p:sp>
        <p:nvSpPr>
          <p:cNvPr id="15"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6"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7"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EDCD0F9E-EF7E-4C26-8662-25A73F2263DD}" type="slidenum">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Title 1"/>
          <p:cNvSpPr>
            <a:spLocks noGrp="1"/>
          </p:cNvSpPr>
          <p:nvPr>
            <p:ph type="title"/>
          </p:nvPr>
        </p:nvSpPr>
        <p:spPr>
          <a:xfrm>
            <a:off x="825500" y="1714500"/>
            <a:ext cx="10541000" cy="2857500"/>
          </a:xfrm>
          <a:prstGeom prst="rect">
            <a:avLst/>
          </a:prstGeom>
        </p:spPr>
        <p:txBody>
          <a:bodyPr anchor="b"/>
          <a:lstStyle>
            <a:lvl1pPr>
              <a:defRPr sz="6000"/>
            </a:lvl1pPr>
          </a:lstStyle>
          <a:p/>
        </p:txBody>
      </p:sp>
      <p:sp>
        <p:nvSpPr>
          <p:cNvPr id="20" name="Text Placeholder 2"/>
          <p:cNvSpPr>
            <a:spLocks noGrp="1"/>
          </p:cNvSpPr>
          <p:nvPr>
            <p:ph type="body" idx="1"/>
          </p:nvPr>
        </p:nvSpPr>
        <p:spPr>
          <a:xfrm>
            <a:off x="825500" y="4597400"/>
            <a:ext cx="10541000" cy="1498600"/>
          </a:xfrm>
          <a:prstGeom prst="rect">
            <a:avLst/>
          </a:prstGeom>
        </p:spPr>
        <p:txBody>
          <a:bodyPr anchor="t">
            <a:normAutofit fontScale="100000"/>
          </a:bodyPr>
          <a:lstStyle>
            <a:lvl1pPr marL="0" indent="0">
              <a:buNone/>
              <a:defRPr sz="2400">
                <a:solidFill>
                  <a:schemeClr val="tx1">
                    <a:tint val="82000"/>
                  </a:schemeClr>
                </a:solidFill>
              </a:defRPr>
            </a:lvl1pPr>
          </a:lstStyle>
          <a:p/>
        </p:txBody>
      </p:sp>
      <p:sp>
        <p:nvSpPr>
          <p:cNvPr id="21"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2"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23"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7C18080-B33E-4073-8615-72D8F5AE8F78}" type="slidenum">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5"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26" name="Content Placeholder 2"/>
          <p:cNvSpPr>
            <a:spLocks noGrp="1"/>
          </p:cNvSpPr>
          <p:nvPr>
            <p:ph idx="1"/>
          </p:nvPr>
        </p:nvSpPr>
        <p:spPr>
          <a:xfrm>
            <a:off x="762000" y="1828800"/>
            <a:ext cx="5232400" cy="4356100"/>
          </a:xfrm>
          <a:prstGeom prst="rect">
            <a:avLst/>
          </a:prstGeom>
        </p:spPr>
        <p:txBody>
          <a:bodyPr anchor="t">
            <a:normAutofit fontScale="100000"/>
          </a:bodyPr>
          <a:lstStyle/>
          <a:p/>
        </p:txBody>
      </p:sp>
      <p:sp>
        <p:nvSpPr>
          <p:cNvPr id="27" name="Content Placeholder 3"/>
          <p:cNvSpPr>
            <a:spLocks noGrp="1"/>
          </p:cNvSpPr>
          <p:nvPr>
            <p:ph idx="2"/>
          </p:nvPr>
        </p:nvSpPr>
        <p:spPr>
          <a:xfrm>
            <a:off x="6197600" y="1828800"/>
            <a:ext cx="5232400" cy="4356100"/>
          </a:xfrm>
          <a:prstGeom prst="rect">
            <a:avLst/>
          </a:prstGeom>
        </p:spPr>
        <p:txBody>
          <a:bodyPr anchor="t">
            <a:normAutofit fontScale="100000"/>
          </a:bodyPr>
          <a:lstStyle/>
          <a:p/>
        </p:txBody>
      </p:sp>
      <p:sp>
        <p:nvSpPr>
          <p:cNvPr id="28"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9"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0"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5CB9569-04AF-4288-8880-64CE52ABE7A3}" type="slidenum">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2"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33" name="Text Placeholder 2"/>
          <p:cNvSpPr>
            <a:spLocks noGrp="1"/>
          </p:cNvSpPr>
          <p:nvPr>
            <p:ph type="body" idx="1"/>
          </p:nvPr>
        </p:nvSpPr>
        <p:spPr>
          <a:xfrm>
            <a:off x="762000" y="1689100"/>
            <a:ext cx="5232400" cy="787400"/>
          </a:xfrm>
          <a:prstGeom prst="rect">
            <a:avLst/>
          </a:prstGeom>
        </p:spPr>
        <p:txBody>
          <a:bodyPr anchor="b"/>
          <a:lstStyle>
            <a:lvl1pPr marL="0" indent="0">
              <a:buNone/>
              <a:defRPr sz="2400" b="1"/>
            </a:lvl1pPr>
          </a:lstStyle>
          <a:p/>
        </p:txBody>
      </p:sp>
      <p:sp>
        <p:nvSpPr>
          <p:cNvPr id="34" name="Content Placeholder 3"/>
          <p:cNvSpPr>
            <a:spLocks noGrp="1"/>
          </p:cNvSpPr>
          <p:nvPr>
            <p:ph idx="2"/>
          </p:nvPr>
        </p:nvSpPr>
        <p:spPr>
          <a:xfrm>
            <a:off x="762000" y="2514600"/>
            <a:ext cx="5232400" cy="3670300"/>
          </a:xfrm>
          <a:prstGeom prst="rect">
            <a:avLst/>
          </a:prstGeom>
        </p:spPr>
        <p:txBody>
          <a:bodyPr anchor="t">
            <a:normAutofit fontScale="100000"/>
          </a:bodyPr>
          <a:lstStyle/>
          <a:p/>
        </p:txBody>
      </p:sp>
      <p:sp>
        <p:nvSpPr>
          <p:cNvPr id="35" name="Text Placeholder 4"/>
          <p:cNvSpPr>
            <a:spLocks noGrp="1"/>
          </p:cNvSpPr>
          <p:nvPr>
            <p:ph type="body" idx="3"/>
          </p:nvPr>
        </p:nvSpPr>
        <p:spPr>
          <a:xfrm>
            <a:off x="6197600" y="1689100"/>
            <a:ext cx="5232400" cy="787400"/>
          </a:xfrm>
          <a:prstGeom prst="rect">
            <a:avLst/>
          </a:prstGeom>
        </p:spPr>
        <p:txBody>
          <a:bodyPr anchor="b"/>
          <a:lstStyle>
            <a:lvl1pPr marL="0" indent="0">
              <a:buNone/>
              <a:defRPr sz="2400" b="1"/>
            </a:lvl1pPr>
          </a:lstStyle>
          <a:p/>
        </p:txBody>
      </p:sp>
      <p:sp>
        <p:nvSpPr>
          <p:cNvPr id="36" name="Content Placeholder 5"/>
          <p:cNvSpPr>
            <a:spLocks noGrp="1"/>
          </p:cNvSpPr>
          <p:nvPr>
            <p:ph idx="4"/>
          </p:nvPr>
        </p:nvSpPr>
        <p:spPr>
          <a:xfrm>
            <a:off x="6197600" y="2514600"/>
            <a:ext cx="5232400" cy="3670300"/>
          </a:xfrm>
          <a:prstGeom prst="rect">
            <a:avLst/>
          </a:prstGeom>
        </p:spPr>
        <p:txBody>
          <a:bodyPr anchor="t">
            <a:normAutofit fontScale="100000"/>
          </a:bodyPr>
          <a:lstStyle/>
          <a:p/>
        </p:txBody>
      </p:sp>
      <p:sp>
        <p:nvSpPr>
          <p:cNvPr id="37"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38"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9"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BF533E07-937E-4FED-8300-891295843456}" type="slidenum">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4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A28B55B-FA15-48BA-860D-0231187503D9}" type="slidenum">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00E0EBC0-ADA9-4FA7-889C-9287646BC794}" type="slidenum">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0"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1" name="Content Placeholder 2"/>
          <p:cNvSpPr>
            <a:spLocks noGrp="1"/>
          </p:cNvSpPr>
          <p:nvPr>
            <p:ph idx="1"/>
          </p:nvPr>
        </p:nvSpPr>
        <p:spPr>
          <a:xfrm>
            <a:off x="5232400" y="990600"/>
            <a:ext cx="6197600" cy="4876800"/>
          </a:xfrm>
          <a:prstGeom prst="rect">
            <a:avLst/>
          </a:prstGeom>
        </p:spPr>
        <p:txBody>
          <a:bodyPr anchor="t">
            <a:normAutofit fontScale="100000"/>
          </a:bodyPr>
          <a:lstStyle/>
          <a:p/>
        </p:txBody>
      </p:sp>
      <p:sp>
        <p:nvSpPr>
          <p:cNvPr id="52"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53"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4"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55"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A25AB8-FB3A-479C-8780-0B7E5F586C0F}" type="slidenum">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7"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8" name="Picture Placeholder 2"/>
          <p:cNvSpPr>
            <a:spLocks noGrp="1"/>
          </p:cNvSpPr>
          <p:nvPr>
            <p:ph type="pic" idx="1"/>
          </p:nvPr>
        </p:nvSpPr>
        <p:spPr>
          <a:xfrm>
            <a:off x="5232400" y="990600"/>
            <a:ext cx="6197600" cy="4876800"/>
          </a:xfrm>
          <a:prstGeom prst="rect">
            <a:avLst/>
          </a:prstGeom>
        </p:spPr>
        <p:txBody>
          <a:bodyPr/>
          <a:lstStyle/>
          <a:p/>
        </p:txBody>
      </p:sp>
      <p:sp>
        <p:nvSpPr>
          <p:cNvPr id="59"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60"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1"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2"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5AEFC29A-6C4F-4141-86E3-1A3E2D58E3A2}" type="slidenum">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4"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65" name="Vertical Text Placeholder 2"/>
          <p:cNvSpPr>
            <a:spLocks noGrp="1"/>
          </p:cNvSpPr>
          <p:nvPr>
            <p:ph type="body" orient="vert" idx="1"/>
          </p:nvPr>
        </p:nvSpPr>
        <p:spPr>
          <a:xfrm>
            <a:off x="762000" y="1828800"/>
            <a:ext cx="10668000" cy="4356100"/>
          </a:xfrm>
          <a:prstGeom prst="rect">
            <a:avLst/>
          </a:prstGeom>
        </p:spPr>
        <p:txBody>
          <a:bodyPr vert="eaVert" anchor="t">
            <a:normAutofit fontScale="100000"/>
          </a:bodyPr>
          <a:lstStyle/>
          <a:p/>
        </p:txBody>
      </p:sp>
      <p:sp>
        <p:nvSpPr>
          <p:cNvPr id="6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DE19C649-D3E0-46CB-87C1-67136E4226A6}" type="slidenum">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0" name="Vertical Title 1"/>
          <p:cNvSpPr>
            <a:spLocks noGrp="1"/>
          </p:cNvSpPr>
          <p:nvPr>
            <p:ph type="title" orient="vert"/>
          </p:nvPr>
        </p:nvSpPr>
        <p:spPr>
          <a:xfrm>
            <a:off x="8724900" y="368300"/>
            <a:ext cx="2705100" cy="5816600"/>
          </a:xfrm>
          <a:prstGeom prst="rect">
            <a:avLst/>
          </a:prstGeom>
        </p:spPr>
        <p:txBody>
          <a:bodyPr vert="eaVert"/>
          <a:lstStyle/>
          <a:p/>
        </p:txBody>
      </p:sp>
      <p:sp>
        <p:nvSpPr>
          <p:cNvPr id="71" name="Vertical Text Placeholder 2"/>
          <p:cNvSpPr>
            <a:spLocks noGrp="1"/>
          </p:cNvSpPr>
          <p:nvPr>
            <p:ph type="body" orient="vert" idx="1"/>
          </p:nvPr>
        </p:nvSpPr>
        <p:spPr>
          <a:xfrm>
            <a:off x="762000" y="368300"/>
            <a:ext cx="7772400" cy="5816600"/>
          </a:xfrm>
          <a:prstGeom prst="rect">
            <a:avLst/>
          </a:prstGeom>
        </p:spPr>
        <p:txBody>
          <a:bodyPr vert="eaVert" anchor="t">
            <a:normAutofit fontScale="100000"/>
          </a:bodyPr>
          <a:lstStyle/>
          <a:p/>
        </p:txBody>
      </p:sp>
      <p:sp>
        <p:nvSpPr>
          <p:cNvPr id="7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7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7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20EBE78A-EB3E-401E-81B5-D7F53201DAF3}" type="slidenum">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eckCraf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68300"/>
            <a:ext cx="10668000" cy="1320800"/>
          </a:xfrm>
          <a:prstGeom prst="rect">
            <a:avLst/>
          </a:prstGeom>
        </p:spPr>
        <p:txBody>
          <a:bodyPr anchor="ctr">
            <a:normAutofit fontScale="100000"/>
          </a:bodyPr>
          <a:lstStyle/>
          <a:p>
            <a:r>
              <a:rPr/>
              <a:t>Click to edit Master title style</a:t>
            </a:r>
          </a:p>
        </p:txBody>
      </p:sp>
      <p:sp>
        <p:nvSpPr>
          <p:cNvPr id="3" name="Text Placeholder 2"/>
          <p:cNvSpPr>
            <a:spLocks noGrp="1"/>
          </p:cNvSpPr>
          <p:nvPr>
            <p:ph type="body" idx="1"/>
          </p:nvPr>
        </p:nvSpPr>
        <p:spPr>
          <a:xfrm>
            <a:off x="762000" y="1828800"/>
            <a:ext cx="10668000" cy="4356100"/>
          </a:xfrm>
          <a:prstGeom prst="rect">
            <a:avLst/>
          </a:prstGeom>
        </p:spPr>
        <p:txBody>
          <a:bodyPr anchor="t">
            <a:normAutofit fontScale="100000"/>
          </a:bodyPr>
          <a:lstStyle/>
          <a:p>
            <a:r>
              <a:rPr/>
              <a:t>Click to edit Master text styles</a:t>
            </a:r>
          </a:p>
        </p:txBody>
      </p:sp>
      <p:sp>
        <p:nvSpPr>
          <p:cNvPr id="4"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473D6AB1-0FDA-49F1-8390-8828CE9E6676}" type="slidenum">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kern="1200">
          <a:solidFill>
            <a:schemeClr val="tx1"/>
          </a:solidFill>
          <a:latin typeface="+mj-lt"/>
        </a:defRPr>
      </a:lvl1pPr>
    </p:titleStyle>
    <p:bodyStyle>
      <a:lvl1pPr marL="228600" indent="-228600" algn="l">
        <a:lnSpc>
          <a:spcPct val="90000"/>
        </a:lnSpc>
        <a:spcBef>
          <a:spcPts val="1000"/>
        </a:spcBef>
        <a:buFont typeface="Arial"/>
        <a:buChar char="•"/>
        <a:defRPr sz="2800" kern="1200">
          <a:solidFill>
            <a:schemeClr val="tx1"/>
          </a:solidFill>
          <a:latin typeface="+mn-lt"/>
        </a:defRPr>
      </a:lvl1pPr>
      <a:lvl2pPr marL="685800" indent="-228600" algn="l">
        <a:lnSpc>
          <a:spcPct val="90000"/>
        </a:lnSpc>
        <a:spcBef>
          <a:spcPts val="500"/>
        </a:spcBef>
        <a:buFont typeface="Arial"/>
        <a:buChar char="•"/>
        <a:defRPr sz="2400" kern="1200">
          <a:solidFill>
            <a:schemeClr val="tx1"/>
          </a:solidFill>
          <a:latin typeface="+mn-lt"/>
        </a:defRPr>
      </a:lvl2pPr>
      <a:lvl3pPr marL="1143000" indent="-228600" algn="l">
        <a:lnSpc>
          <a:spcPct val="90000"/>
        </a:lnSpc>
        <a:spcBef>
          <a:spcPts val="500"/>
        </a:spcBef>
        <a:buFont typeface="Arial"/>
        <a:buChar char="•"/>
        <a:defRPr sz="2000" kern="1200">
          <a:solidFill>
            <a:schemeClr val="tx1"/>
          </a:solidFill>
          <a:latin typeface="+mn-lt"/>
        </a:defRPr>
      </a:lvl3pPr>
      <a:lvl4pPr marL="1600200" indent="-228600" algn="l">
        <a:lnSpc>
          <a:spcPct val="90000"/>
        </a:lnSpc>
        <a:spcBef>
          <a:spcPts val="500"/>
        </a:spcBef>
        <a:buFont typeface="Arial"/>
        <a:buChar char="•"/>
        <a:defRPr sz="1800" kern="1200">
          <a:solidFill>
            <a:schemeClr val="tx1"/>
          </a:solidFill>
          <a:latin typeface="+mn-lt"/>
        </a:defRPr>
      </a:lvl4pPr>
      <a:lvl5pPr marL="2057400" indent="-228600" algn="l">
        <a:lnSpc>
          <a:spcPct val="90000"/>
        </a:lnSpc>
        <a:spcBef>
          <a:spcPts val="500"/>
        </a:spcBef>
        <a:buFont typeface="Arial"/>
        <a:buChar char="•"/>
        <a:defRPr sz="1800" kern="1200">
          <a:solidFill>
            <a:schemeClr val="tx1"/>
          </a:solidFill>
          <a:latin typeface="+mn-lt"/>
        </a:defRPr>
      </a:lvl5pPr>
      <a:lvl6pPr marL="2514600" indent="-228600" algn="l">
        <a:lnSpc>
          <a:spcPct val="90000"/>
        </a:lnSpc>
        <a:spcBef>
          <a:spcPts val="500"/>
        </a:spcBef>
        <a:buFont typeface="Arial"/>
        <a:buChar char="•"/>
        <a:defRPr sz="1800" kern="1200">
          <a:solidFill>
            <a:schemeClr val="tx1"/>
          </a:solidFill>
          <a:latin typeface="+mn-lt"/>
        </a:defRPr>
      </a:lvl6pPr>
      <a:lvl7pPr marL="2971800" indent="-228600" algn="l">
        <a:lnSpc>
          <a:spcPct val="90000"/>
        </a:lnSpc>
        <a:spcBef>
          <a:spcPts val="500"/>
        </a:spcBef>
        <a:buFont typeface="Arial"/>
        <a:buChar char="•"/>
        <a:defRPr sz="1800" kern="1200">
          <a:solidFill>
            <a:schemeClr val="tx1"/>
          </a:solidFill>
          <a:latin typeface="+mn-lt"/>
        </a:defRPr>
      </a:lvl7pPr>
      <a:lvl8pPr marL="3429000" indent="-228600" algn="l">
        <a:lnSpc>
          <a:spcPct val="90000"/>
        </a:lnSpc>
        <a:spcBef>
          <a:spcPts val="500"/>
        </a:spcBef>
        <a:buFont typeface="Arial"/>
        <a:buChar char="•"/>
        <a:defRPr sz="1800" kern="1200">
          <a:solidFill>
            <a:schemeClr val="tx1"/>
          </a:solidFill>
          <a:latin typeface="+mn-lt"/>
        </a:defRPr>
      </a:lvl8pPr>
      <a:lvl9pPr marL="3886200" indent="-228600" algn="l">
        <a:lnSpc>
          <a:spcPct val="90000"/>
        </a:lnSpc>
        <a:spcBef>
          <a:spcPts val="500"/>
        </a:spcBef>
        <a:buFont typeface="Arial"/>
        <a:buChar char="•"/>
        <a:defRPr sz="1800" kern="1200">
          <a:solidFill>
            <a:schemeClr val="tx1"/>
          </a:solidFill>
          <a:latin typeface="+mn-lt"/>
        </a:defRPr>
      </a:lvl9pPr>
    </p:bodyStyle>
    <p:other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2"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3"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Från museiföremål till digitalt långtidsbevarande</a:t>
            </a:r>
            <a:endParaRPr sz="3200">
              <a:solidFill>
                <a:srgbClr val="172D45"/>
              </a:solidFill>
              <a:latin typeface="Arial"/>
            </a:endParaRPr>
          </a:p>
        </p:txBody>
      </p:sp>
      <p:sp>
        <p:nvSpPr>
          <p:cNvPr id="264"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Ett enkelt flöde för att välja, säkra, bevara och återanvända digital dokumentation.</a:t>
            </a:r>
            <a:endParaRPr sz="2000">
              <a:solidFill>
                <a:srgbClr val="496176"/>
              </a:solidFill>
              <a:latin typeface="Arial"/>
            </a:endParaRPr>
          </a:p>
        </p:txBody>
      </p:sp>
      <p:sp>
        <p:nvSpPr>
          <p:cNvPr id="265"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266"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1 / 10</a:t>
            </a:r>
            <a:endParaRPr sz="1200">
              <a:solidFill>
                <a:srgbClr val="496176"/>
              </a:solidFill>
              <a:latin typeface="Arial"/>
            </a:endParaRPr>
          </a:p>
        </p:txBody>
      </p:sp>
      <p:sp>
        <p:nvSpPr>
          <p:cNvPr id="267" name="Rectangle 7"/>
          <p:cNvSpPr/>
          <p:nvPr/>
        </p:nvSpPr>
        <p:spPr>
          <a:xfrm>
            <a:off x="508000" y="2184400"/>
            <a:ext cx="11176000" cy="2882900"/>
          </a:xfrm>
          <a:prstGeom prst="roundRect">
            <a:avLst/>
          </a:prstGeom>
          <a:solidFill>
            <a:srgbClr val="172D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8" name="TextBox 8"/>
          <p:cNvSpPr txBox="1"/>
          <p:nvPr/>
        </p:nvSpPr>
        <p:spPr>
          <a:xfrm>
            <a:off x="838200" y="2438400"/>
            <a:ext cx="10477500" cy="579120"/>
          </a:xfrm>
          <a:prstGeom prst="rect">
            <a:avLst/>
          </a:prstGeom>
        </p:spPr>
        <p:txBody>
          <a:bodyPr wrap="square">
            <a:spAutoFit/>
          </a:bodyPr>
          <a:lstStyle/>
          <a:p>
            <a:r>
              <a:rPr sz="3200">
                <a:solidFill>
                  <a:srgbClr val="FFFFFF"/>
                </a:solidFill>
                <a:latin typeface="Arial"/>
              </a:rPr>
              <a:t>Bevara informationen. Behåll sammanhanget.</a:t>
            </a:r>
            <a:endParaRPr sz="3200">
              <a:solidFill>
                <a:srgbClr val="FFFFFF"/>
              </a:solidFill>
              <a:latin typeface="Arial"/>
            </a:endParaRPr>
          </a:p>
        </p:txBody>
      </p:sp>
      <p:sp>
        <p:nvSpPr>
          <p:cNvPr id="269" name="TextBox 9"/>
          <p:cNvSpPr txBox="1"/>
          <p:nvPr/>
        </p:nvSpPr>
        <p:spPr>
          <a:xfrm>
            <a:off x="838200" y="3454400"/>
            <a:ext cx="10160000" cy="822960"/>
          </a:xfrm>
          <a:prstGeom prst="rect">
            <a:avLst/>
          </a:prstGeom>
        </p:spPr>
        <p:txBody>
          <a:bodyPr wrap="square">
            <a:spAutoFit/>
          </a:bodyPr>
          <a:lstStyle/>
          <a:p>
            <a:r>
              <a:rPr sz="2400">
                <a:solidFill>
                  <a:srgbClr val="FFFFFF"/>
                </a:solidFill>
                <a:latin typeface="Arial"/>
              </a:rPr>
              <a:t>Exempel: Karmstol i gustaviansk stil</a:t>
            </a:r>
            <a:endParaRPr sz="2400">
              <a:solidFill>
                <a:srgbClr val="FFFFFF"/>
              </a:solidFill>
              <a:latin typeface="Arial"/>
            </a:endParaRPr>
          </a:p>
          <a:p>
            <a:r>
              <a:rPr sz="2400">
                <a:solidFill>
                  <a:srgbClr val="FFFFFF"/>
                </a:solidFill>
                <a:latin typeface="Arial"/>
              </a:rPr>
              <a:t>MUS-2026-0042  |  Fotografier och dokumentation</a:t>
            </a:r>
            <a:endParaRPr sz="2400">
              <a:solidFill>
                <a:srgbClr val="FFFFFF"/>
              </a:solidFill>
              <a:latin typeface="Arial"/>
            </a:endParaRPr>
          </a:p>
        </p:txBody>
      </p:sp>
      <p:sp>
        <p:nvSpPr>
          <p:cNvPr id="270" name="TextBox 10"/>
          <p:cNvSpPr txBox="1"/>
          <p:nvPr/>
        </p:nvSpPr>
        <p:spPr>
          <a:xfrm>
            <a:off x="558800" y="5422900"/>
            <a:ext cx="10985500" cy="457200"/>
          </a:xfrm>
          <a:prstGeom prst="rect">
            <a:avLst/>
          </a:prstGeom>
        </p:spPr>
        <p:txBody>
          <a:bodyPr wrap="square">
            <a:spAutoFit/>
          </a:bodyPr>
          <a:lstStyle/>
          <a:p>
            <a:r>
              <a:rPr sz="2400">
                <a:solidFill>
                  <a:srgbClr val="172D45"/>
                </a:solidFill>
                <a:latin typeface="Arial"/>
              </a:rPr>
              <a:t>RODA är systemstödet. Museet beslutar. Driften säkrar bevarandet.</a:t>
            </a:r>
            <a:endParaRPr sz="2400">
              <a:solidFill>
                <a:srgbClr val="172D45"/>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73"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74"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Hela flödet på en bild</a:t>
            </a:r>
            <a:endParaRPr sz="3200">
              <a:solidFill>
                <a:srgbClr val="172D45"/>
              </a:solidFill>
              <a:latin typeface="Arial"/>
            </a:endParaRPr>
          </a:p>
        </p:txBody>
      </p:sp>
      <p:sp>
        <p:nvSpPr>
          <p:cNvPr id="275"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Tre paket följer materialet: inleverans (SIP), bevarande (AIP) och uttag (DIP).</a:t>
            </a:r>
            <a:endParaRPr sz="2000">
              <a:solidFill>
                <a:srgbClr val="496176"/>
              </a:solidFill>
              <a:latin typeface="Arial"/>
            </a:endParaRPr>
          </a:p>
        </p:txBody>
      </p:sp>
      <p:sp>
        <p:nvSpPr>
          <p:cNvPr id="276"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277"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2 / 10</a:t>
            </a:r>
            <a:endParaRPr sz="1200">
              <a:solidFill>
                <a:srgbClr val="496176"/>
              </a:solidFill>
              <a:latin typeface="Arial"/>
            </a:endParaRPr>
          </a:p>
        </p:txBody>
      </p:sp>
      <p:sp>
        <p:nvSpPr>
          <p:cNvPr id="278" name="Rectangle 7"/>
          <p:cNvSpPr/>
          <p:nvPr/>
        </p:nvSpPr>
        <p:spPr>
          <a:xfrm>
            <a:off x="508000" y="2247900"/>
            <a:ext cx="3530600" cy="1422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79" name="TextBox 8"/>
          <p:cNvSpPr txBox="1"/>
          <p:nvPr/>
        </p:nvSpPr>
        <p:spPr>
          <a:xfrm>
            <a:off x="698500" y="2374900"/>
            <a:ext cx="3200400" cy="457200"/>
          </a:xfrm>
          <a:prstGeom prst="rect">
            <a:avLst/>
          </a:prstGeom>
        </p:spPr>
        <p:txBody>
          <a:bodyPr wrap="square">
            <a:spAutoFit/>
          </a:bodyPr>
          <a:lstStyle/>
          <a:p>
            <a:r>
              <a:rPr sz="2400">
                <a:solidFill>
                  <a:srgbClr val="172D45"/>
                </a:solidFill>
                <a:latin typeface="Arial"/>
              </a:rPr>
              <a:t>1. Välj</a:t>
            </a:r>
            <a:endParaRPr sz="2400">
              <a:solidFill>
                <a:srgbClr val="172D45"/>
              </a:solidFill>
              <a:latin typeface="Arial"/>
            </a:endParaRPr>
          </a:p>
        </p:txBody>
      </p:sp>
      <p:sp>
        <p:nvSpPr>
          <p:cNvPr id="280" name="TextBox 9"/>
          <p:cNvSpPr txBox="1"/>
          <p:nvPr/>
        </p:nvSpPr>
        <p:spPr>
          <a:xfrm>
            <a:off x="698500" y="2971800"/>
            <a:ext cx="3200400" cy="396240"/>
          </a:xfrm>
          <a:prstGeom prst="rect">
            <a:avLst/>
          </a:prstGeom>
        </p:spPr>
        <p:txBody>
          <a:bodyPr wrap="square">
            <a:spAutoFit/>
          </a:bodyPr>
          <a:lstStyle/>
          <a:p>
            <a:r>
              <a:rPr sz="2000">
                <a:solidFill>
                  <a:srgbClr val="496176"/>
                </a:solidFill>
                <a:latin typeface="Arial"/>
              </a:rPr>
              <a:t>Samlingssystem</a:t>
            </a:r>
            <a:endParaRPr sz="2000">
              <a:solidFill>
                <a:srgbClr val="496176"/>
              </a:solidFill>
              <a:latin typeface="Arial"/>
            </a:endParaRPr>
          </a:p>
        </p:txBody>
      </p:sp>
      <p:sp>
        <p:nvSpPr>
          <p:cNvPr id="281" name="Rectangle 10"/>
          <p:cNvSpPr/>
          <p:nvPr/>
        </p:nvSpPr>
        <p:spPr>
          <a:xfrm>
            <a:off x="4318000" y="2247900"/>
            <a:ext cx="3530600" cy="1422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82" name="TextBox 11"/>
          <p:cNvSpPr txBox="1"/>
          <p:nvPr/>
        </p:nvSpPr>
        <p:spPr>
          <a:xfrm>
            <a:off x="4508500" y="2374900"/>
            <a:ext cx="3200400" cy="457200"/>
          </a:xfrm>
          <a:prstGeom prst="rect">
            <a:avLst/>
          </a:prstGeom>
        </p:spPr>
        <p:txBody>
          <a:bodyPr wrap="square">
            <a:spAutoFit/>
          </a:bodyPr>
          <a:lstStyle/>
          <a:p>
            <a:r>
              <a:rPr sz="2400">
                <a:solidFill>
                  <a:srgbClr val="172D45"/>
                </a:solidFill>
                <a:latin typeface="Arial"/>
              </a:rPr>
              <a:t>2. Paketera</a:t>
            </a:r>
            <a:endParaRPr sz="2400">
              <a:solidFill>
                <a:srgbClr val="172D45"/>
              </a:solidFill>
              <a:latin typeface="Arial"/>
            </a:endParaRPr>
          </a:p>
        </p:txBody>
      </p:sp>
      <p:sp>
        <p:nvSpPr>
          <p:cNvPr id="283" name="TextBox 12"/>
          <p:cNvSpPr txBox="1"/>
          <p:nvPr/>
        </p:nvSpPr>
        <p:spPr>
          <a:xfrm>
            <a:off x="4508500" y="2971800"/>
            <a:ext cx="3200400" cy="396240"/>
          </a:xfrm>
          <a:prstGeom prst="rect">
            <a:avLst/>
          </a:prstGeom>
        </p:spPr>
        <p:txBody>
          <a:bodyPr wrap="square">
            <a:spAutoFit/>
          </a:bodyPr>
          <a:lstStyle/>
          <a:p>
            <a:r>
              <a:rPr sz="2000">
                <a:solidFill>
                  <a:srgbClr val="496176"/>
                </a:solidFill>
                <a:latin typeface="Arial"/>
              </a:rPr>
              <a:t>SIP till arkivet</a:t>
            </a:r>
            <a:endParaRPr sz="2000">
              <a:solidFill>
                <a:srgbClr val="496176"/>
              </a:solidFill>
              <a:latin typeface="Arial"/>
            </a:endParaRPr>
          </a:p>
        </p:txBody>
      </p:sp>
      <p:sp>
        <p:nvSpPr>
          <p:cNvPr id="284" name="Rectangle 13"/>
          <p:cNvSpPr/>
          <p:nvPr/>
        </p:nvSpPr>
        <p:spPr>
          <a:xfrm>
            <a:off x="8128000" y="2247900"/>
            <a:ext cx="3530600" cy="1422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85" name="TextBox 14"/>
          <p:cNvSpPr txBox="1"/>
          <p:nvPr/>
        </p:nvSpPr>
        <p:spPr>
          <a:xfrm>
            <a:off x="8318500" y="2374900"/>
            <a:ext cx="3200400" cy="457200"/>
          </a:xfrm>
          <a:prstGeom prst="rect">
            <a:avLst/>
          </a:prstGeom>
        </p:spPr>
        <p:txBody>
          <a:bodyPr wrap="square">
            <a:spAutoFit/>
          </a:bodyPr>
          <a:lstStyle/>
          <a:p>
            <a:r>
              <a:rPr sz="2400">
                <a:solidFill>
                  <a:srgbClr val="172D45"/>
                </a:solidFill>
                <a:latin typeface="Arial"/>
              </a:rPr>
              <a:t>3. Kontrollera</a:t>
            </a:r>
            <a:endParaRPr sz="2400">
              <a:solidFill>
                <a:srgbClr val="172D45"/>
              </a:solidFill>
              <a:latin typeface="Arial"/>
            </a:endParaRPr>
          </a:p>
        </p:txBody>
      </p:sp>
      <p:sp>
        <p:nvSpPr>
          <p:cNvPr id="286" name="TextBox 15"/>
          <p:cNvSpPr txBox="1"/>
          <p:nvPr/>
        </p:nvSpPr>
        <p:spPr>
          <a:xfrm>
            <a:off x="8318500" y="2971800"/>
            <a:ext cx="3200400" cy="396240"/>
          </a:xfrm>
          <a:prstGeom prst="rect">
            <a:avLst/>
          </a:prstGeom>
        </p:spPr>
        <p:txBody>
          <a:bodyPr wrap="square">
            <a:spAutoFit/>
          </a:bodyPr>
          <a:lstStyle/>
          <a:p>
            <a:r>
              <a:rPr sz="2000">
                <a:solidFill>
                  <a:srgbClr val="496176"/>
                </a:solidFill>
                <a:latin typeface="Arial"/>
              </a:rPr>
              <a:t>Inleverans i RODA</a:t>
            </a:r>
            <a:endParaRPr sz="2000">
              <a:solidFill>
                <a:srgbClr val="496176"/>
              </a:solidFill>
              <a:latin typeface="Arial"/>
            </a:endParaRPr>
          </a:p>
        </p:txBody>
      </p:sp>
      <p:sp>
        <p:nvSpPr>
          <p:cNvPr id="287" name="Rectangle 16"/>
          <p:cNvSpPr/>
          <p:nvPr/>
        </p:nvSpPr>
        <p:spPr>
          <a:xfrm>
            <a:off x="508000" y="4013200"/>
            <a:ext cx="3530600" cy="1422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88" name="TextBox 17"/>
          <p:cNvSpPr txBox="1"/>
          <p:nvPr/>
        </p:nvSpPr>
        <p:spPr>
          <a:xfrm>
            <a:off x="698500" y="4140200"/>
            <a:ext cx="3200400" cy="457200"/>
          </a:xfrm>
          <a:prstGeom prst="rect">
            <a:avLst/>
          </a:prstGeom>
        </p:spPr>
        <p:txBody>
          <a:bodyPr wrap="square">
            <a:spAutoFit/>
          </a:bodyPr>
          <a:lstStyle/>
          <a:p>
            <a:r>
              <a:rPr sz="2400">
                <a:solidFill>
                  <a:srgbClr val="172D45"/>
                </a:solidFill>
                <a:latin typeface="Arial"/>
              </a:rPr>
              <a:t>4. Säkra</a:t>
            </a:r>
            <a:endParaRPr sz="2400">
              <a:solidFill>
                <a:srgbClr val="172D45"/>
              </a:solidFill>
              <a:latin typeface="Arial"/>
            </a:endParaRPr>
          </a:p>
        </p:txBody>
      </p:sp>
      <p:sp>
        <p:nvSpPr>
          <p:cNvPr id="289" name="TextBox 18"/>
          <p:cNvSpPr txBox="1"/>
          <p:nvPr/>
        </p:nvSpPr>
        <p:spPr>
          <a:xfrm>
            <a:off x="698500" y="4737100"/>
            <a:ext cx="3200400" cy="396240"/>
          </a:xfrm>
          <a:prstGeom prst="rect">
            <a:avLst/>
          </a:prstGeom>
        </p:spPr>
        <p:txBody>
          <a:bodyPr wrap="square">
            <a:spAutoFit/>
          </a:bodyPr>
          <a:lstStyle/>
          <a:p>
            <a:r>
              <a:rPr sz="2000">
                <a:solidFill>
                  <a:srgbClr val="496176"/>
                </a:solidFill>
                <a:latin typeface="Arial"/>
              </a:rPr>
              <a:t>AIP och lagring</a:t>
            </a:r>
            <a:endParaRPr sz="2000">
              <a:solidFill>
                <a:srgbClr val="496176"/>
              </a:solidFill>
              <a:latin typeface="Arial"/>
            </a:endParaRPr>
          </a:p>
        </p:txBody>
      </p:sp>
      <p:sp>
        <p:nvSpPr>
          <p:cNvPr id="290" name="Rectangle 19"/>
          <p:cNvSpPr/>
          <p:nvPr/>
        </p:nvSpPr>
        <p:spPr>
          <a:xfrm>
            <a:off x="4318000" y="4013200"/>
            <a:ext cx="3530600" cy="1422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91" name="TextBox 20"/>
          <p:cNvSpPr txBox="1"/>
          <p:nvPr/>
        </p:nvSpPr>
        <p:spPr>
          <a:xfrm>
            <a:off x="4508500" y="4140200"/>
            <a:ext cx="3200400" cy="457200"/>
          </a:xfrm>
          <a:prstGeom prst="rect">
            <a:avLst/>
          </a:prstGeom>
        </p:spPr>
        <p:txBody>
          <a:bodyPr wrap="square">
            <a:spAutoFit/>
          </a:bodyPr>
          <a:lstStyle/>
          <a:p>
            <a:r>
              <a:rPr sz="2400">
                <a:solidFill>
                  <a:srgbClr val="172D45"/>
                </a:solidFill>
                <a:latin typeface="Arial"/>
              </a:rPr>
              <a:t>5. Bevara</a:t>
            </a:r>
            <a:endParaRPr sz="2400">
              <a:solidFill>
                <a:srgbClr val="172D45"/>
              </a:solidFill>
              <a:latin typeface="Arial"/>
            </a:endParaRPr>
          </a:p>
        </p:txBody>
      </p:sp>
      <p:sp>
        <p:nvSpPr>
          <p:cNvPr id="292" name="TextBox 21"/>
          <p:cNvSpPr txBox="1"/>
          <p:nvPr/>
        </p:nvSpPr>
        <p:spPr>
          <a:xfrm>
            <a:off x="4508500" y="4737100"/>
            <a:ext cx="3200400" cy="396240"/>
          </a:xfrm>
          <a:prstGeom prst="rect">
            <a:avLst/>
          </a:prstGeom>
        </p:spPr>
        <p:txBody>
          <a:bodyPr wrap="square">
            <a:spAutoFit/>
          </a:bodyPr>
          <a:lstStyle/>
          <a:p>
            <a:r>
              <a:rPr sz="2000">
                <a:solidFill>
                  <a:srgbClr val="496176"/>
                </a:solidFill>
                <a:latin typeface="Arial"/>
              </a:rPr>
              <a:t>Löpande kontroller</a:t>
            </a:r>
            <a:endParaRPr sz="2000">
              <a:solidFill>
                <a:srgbClr val="496176"/>
              </a:solidFill>
              <a:latin typeface="Arial"/>
            </a:endParaRPr>
          </a:p>
        </p:txBody>
      </p:sp>
      <p:sp>
        <p:nvSpPr>
          <p:cNvPr id="293" name="Rectangle 22"/>
          <p:cNvSpPr/>
          <p:nvPr/>
        </p:nvSpPr>
        <p:spPr>
          <a:xfrm>
            <a:off x="8128000" y="4013200"/>
            <a:ext cx="3530600" cy="1422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94" name="TextBox 23"/>
          <p:cNvSpPr txBox="1"/>
          <p:nvPr/>
        </p:nvSpPr>
        <p:spPr>
          <a:xfrm>
            <a:off x="8318500" y="4140200"/>
            <a:ext cx="3200400" cy="457200"/>
          </a:xfrm>
          <a:prstGeom prst="rect">
            <a:avLst/>
          </a:prstGeom>
        </p:spPr>
        <p:txBody>
          <a:bodyPr wrap="square">
            <a:spAutoFit/>
          </a:bodyPr>
          <a:lstStyle/>
          <a:p>
            <a:r>
              <a:rPr sz="2400">
                <a:solidFill>
                  <a:srgbClr val="172D45"/>
                </a:solidFill>
                <a:latin typeface="Arial"/>
              </a:rPr>
              <a:t>6. Använd</a:t>
            </a:r>
            <a:endParaRPr sz="2400">
              <a:solidFill>
                <a:srgbClr val="172D45"/>
              </a:solidFill>
              <a:latin typeface="Arial"/>
            </a:endParaRPr>
          </a:p>
        </p:txBody>
      </p:sp>
      <p:sp>
        <p:nvSpPr>
          <p:cNvPr id="295" name="TextBox 24"/>
          <p:cNvSpPr txBox="1"/>
          <p:nvPr/>
        </p:nvSpPr>
        <p:spPr>
          <a:xfrm>
            <a:off x="8318500" y="4737100"/>
            <a:ext cx="3200400" cy="396240"/>
          </a:xfrm>
          <a:prstGeom prst="rect">
            <a:avLst/>
          </a:prstGeom>
        </p:spPr>
        <p:txBody>
          <a:bodyPr wrap="square">
            <a:spAutoFit/>
          </a:bodyPr>
          <a:lstStyle/>
          <a:p>
            <a:r>
              <a:rPr sz="2000">
                <a:solidFill>
                  <a:srgbClr val="496176"/>
                </a:solidFill>
                <a:latin typeface="Arial"/>
              </a:rPr>
              <a:t>DIP och åtkomst</a:t>
            </a:r>
            <a:endParaRPr sz="2000">
              <a:solidFill>
                <a:srgbClr val="496176"/>
              </a:solidFill>
              <a:latin typeface="Arial"/>
            </a:endParaRPr>
          </a:p>
        </p:txBody>
      </p:sp>
      <p:sp>
        <p:nvSpPr>
          <p:cNvPr id="296" name="TextBox 25"/>
          <p:cNvSpPr txBox="1"/>
          <p:nvPr/>
        </p:nvSpPr>
        <p:spPr>
          <a:xfrm>
            <a:off x="558800" y="5905500"/>
            <a:ext cx="11049000" cy="396240"/>
          </a:xfrm>
          <a:prstGeom prst="rect">
            <a:avLst/>
          </a:prstGeom>
        </p:spPr>
        <p:txBody>
          <a:bodyPr wrap="square">
            <a:spAutoFit/>
          </a:bodyPr>
          <a:lstStyle/>
          <a:p>
            <a:r>
              <a:rPr sz="2000">
                <a:solidFill>
                  <a:srgbClr val="00877D"/>
                </a:solidFill>
                <a:latin typeface="Arial"/>
              </a:rPr>
              <a:t>1 → 2 → 3 → 4. Därefter sker bevarande och åtkomst parallellt.</a:t>
            </a:r>
            <a:endParaRPr sz="2000">
              <a:solidFill>
                <a:srgbClr val="00877D"/>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99"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00"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Standarderna har olika uppgifter</a:t>
            </a:r>
            <a:endParaRPr sz="3200">
              <a:solidFill>
                <a:srgbClr val="172D45"/>
              </a:solidFill>
              <a:latin typeface="Arial"/>
            </a:endParaRPr>
          </a:p>
        </p:txBody>
      </p:sp>
      <p:sp>
        <p:nvSpPr>
          <p:cNvPr id="301" name="TextBox 4"/>
          <p:cNvSpPr txBox="1"/>
          <p:nvPr/>
        </p:nvSpPr>
        <p:spPr>
          <a:xfrm>
            <a:off x="508000" y="1193800"/>
            <a:ext cx="11176000" cy="701040"/>
          </a:xfrm>
          <a:prstGeom prst="rect">
            <a:avLst/>
          </a:prstGeom>
        </p:spPr>
        <p:txBody>
          <a:bodyPr wrap="square">
            <a:spAutoFit/>
          </a:bodyPr>
          <a:lstStyle/>
          <a:p>
            <a:r>
              <a:rPr sz="2000">
                <a:solidFill>
                  <a:srgbClr val="496176"/>
                </a:solidFill>
                <a:latin typeface="Arial"/>
              </a:rPr>
              <a:t>Modeller och standarder beskriver hur informationen ska organiseras. RODA utför konfigurerade funktioner.</a:t>
            </a:r>
            <a:endParaRPr sz="2000">
              <a:solidFill>
                <a:srgbClr val="496176"/>
              </a:solidFill>
              <a:latin typeface="Arial"/>
            </a:endParaRPr>
          </a:p>
        </p:txBody>
      </p:sp>
      <p:sp>
        <p:nvSpPr>
          <p:cNvPr id="302"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303"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3 / 10</a:t>
            </a:r>
            <a:endParaRPr sz="1200">
              <a:solidFill>
                <a:srgbClr val="496176"/>
              </a:solidFill>
              <a:latin typeface="Arial"/>
            </a:endParaRPr>
          </a:p>
        </p:txBody>
      </p:sp>
      <p:sp>
        <p:nvSpPr>
          <p:cNvPr id="304" name="Rectangle 7"/>
          <p:cNvSpPr/>
          <p:nvPr/>
        </p:nvSpPr>
        <p:spPr>
          <a:xfrm>
            <a:off x="508000" y="2082800"/>
            <a:ext cx="11176000" cy="5969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05" name="TextBox 8"/>
          <p:cNvSpPr txBox="1"/>
          <p:nvPr/>
        </p:nvSpPr>
        <p:spPr>
          <a:xfrm>
            <a:off x="660400" y="2120900"/>
            <a:ext cx="2413000" cy="411480"/>
          </a:xfrm>
          <a:prstGeom prst="rect">
            <a:avLst/>
          </a:prstGeom>
        </p:spPr>
        <p:txBody>
          <a:bodyPr wrap="square">
            <a:spAutoFit/>
          </a:bodyPr>
          <a:lstStyle/>
          <a:p>
            <a:r>
              <a:rPr sz="2100">
                <a:solidFill>
                  <a:srgbClr val="00877D"/>
                </a:solidFill>
                <a:latin typeface="Arial"/>
              </a:rPr>
              <a:t>OAIS</a:t>
            </a:r>
            <a:endParaRPr sz="2100">
              <a:solidFill>
                <a:srgbClr val="00877D"/>
              </a:solidFill>
              <a:latin typeface="Arial"/>
            </a:endParaRPr>
          </a:p>
        </p:txBody>
      </p:sp>
      <p:sp>
        <p:nvSpPr>
          <p:cNvPr id="306" name="TextBox 9"/>
          <p:cNvSpPr txBox="1"/>
          <p:nvPr/>
        </p:nvSpPr>
        <p:spPr>
          <a:xfrm>
            <a:off x="3200400" y="2120900"/>
            <a:ext cx="8280400" cy="411480"/>
          </a:xfrm>
          <a:prstGeom prst="rect">
            <a:avLst/>
          </a:prstGeom>
        </p:spPr>
        <p:txBody>
          <a:bodyPr wrap="square">
            <a:spAutoFit/>
          </a:bodyPr>
          <a:lstStyle/>
          <a:p>
            <a:r>
              <a:rPr sz="2100">
                <a:solidFill>
                  <a:srgbClr val="172D45"/>
                </a:solidFill>
                <a:latin typeface="Arial"/>
              </a:rPr>
              <a:t>Modellen: roller och ansvar för arkivet</a:t>
            </a:r>
            <a:endParaRPr sz="2100">
              <a:solidFill>
                <a:srgbClr val="172D45"/>
              </a:solidFill>
              <a:latin typeface="Arial"/>
            </a:endParaRPr>
          </a:p>
        </p:txBody>
      </p:sp>
      <p:sp>
        <p:nvSpPr>
          <p:cNvPr id="307" name="Rectangle 10"/>
          <p:cNvSpPr/>
          <p:nvPr/>
        </p:nvSpPr>
        <p:spPr>
          <a:xfrm>
            <a:off x="508000" y="2755900"/>
            <a:ext cx="11176000" cy="5969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08" name="TextBox 11"/>
          <p:cNvSpPr txBox="1"/>
          <p:nvPr/>
        </p:nvSpPr>
        <p:spPr>
          <a:xfrm>
            <a:off x="660400" y="2794000"/>
            <a:ext cx="2413000" cy="411480"/>
          </a:xfrm>
          <a:prstGeom prst="rect">
            <a:avLst/>
          </a:prstGeom>
        </p:spPr>
        <p:txBody>
          <a:bodyPr wrap="square">
            <a:spAutoFit/>
          </a:bodyPr>
          <a:lstStyle/>
          <a:p>
            <a:r>
              <a:rPr sz="2100">
                <a:solidFill>
                  <a:srgbClr val="00877D"/>
                </a:solidFill>
                <a:latin typeface="Arial"/>
              </a:rPr>
              <a:t>Dublin Core</a:t>
            </a:r>
            <a:endParaRPr sz="2100">
              <a:solidFill>
                <a:srgbClr val="00877D"/>
              </a:solidFill>
              <a:latin typeface="Arial"/>
            </a:endParaRPr>
          </a:p>
        </p:txBody>
      </p:sp>
      <p:sp>
        <p:nvSpPr>
          <p:cNvPr id="309" name="TextBox 12"/>
          <p:cNvSpPr txBox="1"/>
          <p:nvPr/>
        </p:nvSpPr>
        <p:spPr>
          <a:xfrm>
            <a:off x="3200400" y="2794000"/>
            <a:ext cx="8280400" cy="411480"/>
          </a:xfrm>
          <a:prstGeom prst="rect">
            <a:avLst/>
          </a:prstGeom>
        </p:spPr>
        <p:txBody>
          <a:bodyPr wrap="square">
            <a:spAutoFit/>
          </a:bodyPr>
          <a:lstStyle/>
          <a:p>
            <a:r>
              <a:rPr sz="2100">
                <a:solidFill>
                  <a:srgbClr val="172D45"/>
                </a:solidFill>
                <a:latin typeface="Arial"/>
              </a:rPr>
              <a:t>Beskrivningen: vad materialet handlar om</a:t>
            </a:r>
            <a:endParaRPr sz="2100">
              <a:solidFill>
                <a:srgbClr val="172D45"/>
              </a:solidFill>
              <a:latin typeface="Arial"/>
            </a:endParaRPr>
          </a:p>
        </p:txBody>
      </p:sp>
      <p:sp>
        <p:nvSpPr>
          <p:cNvPr id="310" name="Rectangle 13"/>
          <p:cNvSpPr/>
          <p:nvPr/>
        </p:nvSpPr>
        <p:spPr>
          <a:xfrm>
            <a:off x="508000" y="3429000"/>
            <a:ext cx="11176000" cy="5969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11" name="TextBox 14"/>
          <p:cNvSpPr txBox="1"/>
          <p:nvPr/>
        </p:nvSpPr>
        <p:spPr>
          <a:xfrm>
            <a:off x="660400" y="3467100"/>
            <a:ext cx="2413000" cy="411480"/>
          </a:xfrm>
          <a:prstGeom prst="rect">
            <a:avLst/>
          </a:prstGeom>
        </p:spPr>
        <p:txBody>
          <a:bodyPr wrap="square">
            <a:spAutoFit/>
          </a:bodyPr>
          <a:lstStyle/>
          <a:p>
            <a:r>
              <a:rPr sz="2100">
                <a:solidFill>
                  <a:srgbClr val="00877D"/>
                </a:solidFill>
                <a:latin typeface="Arial"/>
              </a:rPr>
              <a:t>PREMIS</a:t>
            </a:r>
            <a:endParaRPr sz="2100">
              <a:solidFill>
                <a:srgbClr val="00877D"/>
              </a:solidFill>
              <a:latin typeface="Arial"/>
            </a:endParaRPr>
          </a:p>
        </p:txBody>
      </p:sp>
      <p:sp>
        <p:nvSpPr>
          <p:cNvPr id="312" name="TextBox 15"/>
          <p:cNvSpPr txBox="1"/>
          <p:nvPr/>
        </p:nvSpPr>
        <p:spPr>
          <a:xfrm>
            <a:off x="3200400" y="3467100"/>
            <a:ext cx="8280400" cy="411480"/>
          </a:xfrm>
          <a:prstGeom prst="rect">
            <a:avLst/>
          </a:prstGeom>
        </p:spPr>
        <p:txBody>
          <a:bodyPr wrap="square">
            <a:spAutoFit/>
          </a:bodyPr>
          <a:lstStyle/>
          <a:p>
            <a:r>
              <a:rPr sz="2100">
                <a:solidFill>
                  <a:srgbClr val="172D45"/>
                </a:solidFill>
                <a:latin typeface="Arial"/>
              </a:rPr>
              <a:t>Historiken: kontroller, händelser och rättigheter</a:t>
            </a:r>
            <a:endParaRPr sz="2100">
              <a:solidFill>
                <a:srgbClr val="172D45"/>
              </a:solidFill>
              <a:latin typeface="Arial"/>
            </a:endParaRPr>
          </a:p>
        </p:txBody>
      </p:sp>
      <p:sp>
        <p:nvSpPr>
          <p:cNvPr id="313" name="Rectangle 16"/>
          <p:cNvSpPr/>
          <p:nvPr/>
        </p:nvSpPr>
        <p:spPr>
          <a:xfrm>
            <a:off x="508000" y="4102100"/>
            <a:ext cx="11176000" cy="5969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14" name="TextBox 17"/>
          <p:cNvSpPr txBox="1"/>
          <p:nvPr/>
        </p:nvSpPr>
        <p:spPr>
          <a:xfrm>
            <a:off x="660400" y="4140200"/>
            <a:ext cx="2413000" cy="411480"/>
          </a:xfrm>
          <a:prstGeom prst="rect">
            <a:avLst/>
          </a:prstGeom>
        </p:spPr>
        <p:txBody>
          <a:bodyPr wrap="square">
            <a:spAutoFit/>
          </a:bodyPr>
          <a:lstStyle/>
          <a:p>
            <a:r>
              <a:rPr sz="2100">
                <a:solidFill>
                  <a:srgbClr val="00877D"/>
                </a:solidFill>
                <a:latin typeface="Arial"/>
              </a:rPr>
              <a:t>METS</a:t>
            </a:r>
            <a:endParaRPr sz="2100">
              <a:solidFill>
                <a:srgbClr val="00877D"/>
              </a:solidFill>
              <a:latin typeface="Arial"/>
            </a:endParaRPr>
          </a:p>
        </p:txBody>
      </p:sp>
      <p:sp>
        <p:nvSpPr>
          <p:cNvPr id="315" name="TextBox 18"/>
          <p:cNvSpPr txBox="1"/>
          <p:nvPr/>
        </p:nvSpPr>
        <p:spPr>
          <a:xfrm>
            <a:off x="3200400" y="4140200"/>
            <a:ext cx="8280400" cy="411480"/>
          </a:xfrm>
          <a:prstGeom prst="rect">
            <a:avLst/>
          </a:prstGeom>
        </p:spPr>
        <p:txBody>
          <a:bodyPr wrap="square">
            <a:spAutoFit/>
          </a:bodyPr>
          <a:lstStyle/>
          <a:p>
            <a:r>
              <a:rPr sz="2100">
                <a:solidFill>
                  <a:srgbClr val="172D45"/>
                </a:solidFill>
                <a:latin typeface="Arial"/>
              </a:rPr>
              <a:t>Innehållsförteckningen: kopplar filer till metadata</a:t>
            </a:r>
            <a:endParaRPr sz="2100">
              <a:solidFill>
                <a:srgbClr val="172D45"/>
              </a:solidFill>
              <a:latin typeface="Arial"/>
            </a:endParaRPr>
          </a:p>
        </p:txBody>
      </p:sp>
      <p:sp>
        <p:nvSpPr>
          <p:cNvPr id="316" name="Rectangle 19"/>
          <p:cNvSpPr/>
          <p:nvPr/>
        </p:nvSpPr>
        <p:spPr>
          <a:xfrm>
            <a:off x="508000" y="4775200"/>
            <a:ext cx="11176000" cy="5969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17" name="TextBox 20"/>
          <p:cNvSpPr txBox="1"/>
          <p:nvPr/>
        </p:nvSpPr>
        <p:spPr>
          <a:xfrm>
            <a:off x="660400" y="4813300"/>
            <a:ext cx="2413000" cy="411480"/>
          </a:xfrm>
          <a:prstGeom prst="rect">
            <a:avLst/>
          </a:prstGeom>
        </p:spPr>
        <p:txBody>
          <a:bodyPr wrap="square">
            <a:spAutoFit/>
          </a:bodyPr>
          <a:lstStyle/>
          <a:p>
            <a:r>
              <a:rPr sz="2100">
                <a:solidFill>
                  <a:srgbClr val="00877D"/>
                </a:solidFill>
                <a:latin typeface="Arial"/>
              </a:rPr>
              <a:t>E-ARK SIP</a:t>
            </a:r>
            <a:endParaRPr sz="2100">
              <a:solidFill>
                <a:srgbClr val="00877D"/>
              </a:solidFill>
              <a:latin typeface="Arial"/>
            </a:endParaRPr>
          </a:p>
        </p:txBody>
      </p:sp>
      <p:sp>
        <p:nvSpPr>
          <p:cNvPr id="318" name="TextBox 21"/>
          <p:cNvSpPr txBox="1"/>
          <p:nvPr/>
        </p:nvSpPr>
        <p:spPr>
          <a:xfrm>
            <a:off x="3200400" y="4813300"/>
            <a:ext cx="8280400" cy="411480"/>
          </a:xfrm>
          <a:prstGeom prst="rect">
            <a:avLst/>
          </a:prstGeom>
        </p:spPr>
        <p:txBody>
          <a:bodyPr wrap="square">
            <a:spAutoFit/>
          </a:bodyPr>
          <a:lstStyle/>
          <a:p>
            <a:r>
              <a:rPr sz="2100">
                <a:solidFill>
                  <a:srgbClr val="172D45"/>
                </a:solidFill>
                <a:latin typeface="Arial"/>
              </a:rPr>
              <a:t>Paketreglerna: struktur för inleveransen</a:t>
            </a:r>
            <a:endParaRPr sz="2100">
              <a:solidFill>
                <a:srgbClr val="172D45"/>
              </a:solidFill>
              <a:latin typeface="Arial"/>
            </a:endParaRPr>
          </a:p>
        </p:txBody>
      </p:sp>
      <p:sp>
        <p:nvSpPr>
          <p:cNvPr id="319" name="Rectangle 22"/>
          <p:cNvSpPr/>
          <p:nvPr/>
        </p:nvSpPr>
        <p:spPr>
          <a:xfrm>
            <a:off x="508000" y="5448300"/>
            <a:ext cx="11176000" cy="5969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20" name="TextBox 23"/>
          <p:cNvSpPr txBox="1"/>
          <p:nvPr/>
        </p:nvSpPr>
        <p:spPr>
          <a:xfrm>
            <a:off x="660400" y="5486400"/>
            <a:ext cx="2413000" cy="411480"/>
          </a:xfrm>
          <a:prstGeom prst="rect">
            <a:avLst/>
          </a:prstGeom>
        </p:spPr>
        <p:txBody>
          <a:bodyPr wrap="square">
            <a:spAutoFit/>
          </a:bodyPr>
          <a:lstStyle/>
          <a:p>
            <a:r>
              <a:rPr sz="2100">
                <a:solidFill>
                  <a:srgbClr val="00877D"/>
                </a:solidFill>
                <a:latin typeface="Arial"/>
              </a:rPr>
              <a:t>RODA</a:t>
            </a:r>
            <a:endParaRPr sz="2100">
              <a:solidFill>
                <a:srgbClr val="00877D"/>
              </a:solidFill>
              <a:latin typeface="Arial"/>
            </a:endParaRPr>
          </a:p>
        </p:txBody>
      </p:sp>
      <p:sp>
        <p:nvSpPr>
          <p:cNvPr id="321" name="TextBox 24"/>
          <p:cNvSpPr txBox="1"/>
          <p:nvPr/>
        </p:nvSpPr>
        <p:spPr>
          <a:xfrm>
            <a:off x="3200400" y="5486400"/>
            <a:ext cx="8280400" cy="411480"/>
          </a:xfrm>
          <a:prstGeom prst="rect">
            <a:avLst/>
          </a:prstGeom>
        </p:spPr>
        <p:txBody>
          <a:bodyPr wrap="square">
            <a:spAutoFit/>
          </a:bodyPr>
          <a:lstStyle/>
          <a:p>
            <a:r>
              <a:rPr sz="2100">
                <a:solidFill>
                  <a:srgbClr val="172D45"/>
                </a:solidFill>
                <a:latin typeface="Arial"/>
              </a:rPr>
              <a:t>Systemstödet: tar emot, kontrollerar och loggar</a:t>
            </a:r>
            <a:endParaRPr sz="2100">
              <a:solidFill>
                <a:srgbClr val="172D45"/>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24"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25"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1. Välj vad som ska bevaras</a:t>
            </a:r>
            <a:endParaRPr sz="3200">
              <a:solidFill>
                <a:srgbClr val="172D45"/>
              </a:solidFill>
              <a:latin typeface="Arial"/>
            </a:endParaRPr>
          </a:p>
        </p:txBody>
      </p:sp>
      <p:sp>
        <p:nvSpPr>
          <p:cNvPr id="326"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Ansvar: samlingsförvaltare / intendent</a:t>
            </a:r>
            <a:endParaRPr sz="2000">
              <a:solidFill>
                <a:srgbClr val="496176"/>
              </a:solidFill>
              <a:latin typeface="Arial"/>
            </a:endParaRPr>
          </a:p>
        </p:txBody>
      </p:sp>
      <p:sp>
        <p:nvSpPr>
          <p:cNvPr id="327"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328"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4 / 10</a:t>
            </a:r>
            <a:endParaRPr sz="1200">
              <a:solidFill>
                <a:srgbClr val="496176"/>
              </a:solidFill>
              <a:latin typeface="Arial"/>
            </a:endParaRPr>
          </a:p>
        </p:txBody>
      </p:sp>
      <p:sp>
        <p:nvSpPr>
          <p:cNvPr id="329" name="Rectangle 7"/>
          <p:cNvSpPr/>
          <p:nvPr/>
        </p:nvSpPr>
        <p:spPr>
          <a:xfrm>
            <a:off x="508000" y="2273300"/>
            <a:ext cx="3530600" cy="30607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0" name="Rectangle 8"/>
          <p:cNvSpPr/>
          <p:nvPr/>
        </p:nvSpPr>
        <p:spPr>
          <a:xfrm>
            <a:off x="508000" y="2273300"/>
            <a:ext cx="63500" cy="30607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1" name="TextBox 9"/>
          <p:cNvSpPr txBox="1"/>
          <p:nvPr/>
        </p:nvSpPr>
        <p:spPr>
          <a:xfrm>
            <a:off x="736600" y="2476500"/>
            <a:ext cx="3124200" cy="457200"/>
          </a:xfrm>
          <a:prstGeom prst="rect">
            <a:avLst/>
          </a:prstGeom>
        </p:spPr>
        <p:txBody>
          <a:bodyPr wrap="square">
            <a:spAutoFit/>
          </a:bodyPr>
          <a:lstStyle/>
          <a:p>
            <a:r>
              <a:rPr sz="2400">
                <a:solidFill>
                  <a:srgbClr val="172D45"/>
                </a:solidFill>
                <a:latin typeface="Arial"/>
              </a:rPr>
              <a:t>Besluta</a:t>
            </a:r>
            <a:endParaRPr sz="2400">
              <a:solidFill>
                <a:srgbClr val="172D45"/>
              </a:solidFill>
              <a:latin typeface="Arial"/>
            </a:endParaRPr>
          </a:p>
        </p:txBody>
      </p:sp>
      <p:sp>
        <p:nvSpPr>
          <p:cNvPr id="332" name="TextBox 10"/>
          <p:cNvSpPr txBox="1"/>
          <p:nvPr/>
        </p:nvSpPr>
        <p:spPr>
          <a:xfrm>
            <a:off x="736600" y="3365500"/>
            <a:ext cx="3124200" cy="1051560"/>
          </a:xfrm>
          <a:prstGeom prst="rect">
            <a:avLst/>
          </a:prstGeom>
        </p:spPr>
        <p:txBody>
          <a:bodyPr wrap="square">
            <a:spAutoFit/>
          </a:bodyPr>
          <a:lstStyle/>
          <a:p>
            <a:r>
              <a:rPr sz="2100">
                <a:solidFill>
                  <a:srgbClr val="172D45"/>
                </a:solidFill>
                <a:latin typeface="Arial"/>
              </a:rPr>
              <a:t>Välj fotografier och dokument som ska bevaras långsiktigt.</a:t>
            </a:r>
            <a:endParaRPr sz="2100">
              <a:solidFill>
                <a:srgbClr val="172D45"/>
              </a:solidFill>
              <a:latin typeface="Arial"/>
            </a:endParaRPr>
          </a:p>
        </p:txBody>
      </p:sp>
      <p:sp>
        <p:nvSpPr>
          <p:cNvPr id="333" name="Rectangle 11"/>
          <p:cNvSpPr/>
          <p:nvPr/>
        </p:nvSpPr>
        <p:spPr>
          <a:xfrm>
            <a:off x="4318000" y="2273300"/>
            <a:ext cx="3530600" cy="30607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4" name="Rectangle 12"/>
          <p:cNvSpPr/>
          <p:nvPr/>
        </p:nvSpPr>
        <p:spPr>
          <a:xfrm>
            <a:off x="4318000" y="2273300"/>
            <a:ext cx="63500" cy="30607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5" name="TextBox 13"/>
          <p:cNvSpPr txBox="1"/>
          <p:nvPr/>
        </p:nvSpPr>
        <p:spPr>
          <a:xfrm>
            <a:off x="4546600" y="2476500"/>
            <a:ext cx="3124200" cy="457200"/>
          </a:xfrm>
          <a:prstGeom prst="rect">
            <a:avLst/>
          </a:prstGeom>
        </p:spPr>
        <p:txBody>
          <a:bodyPr wrap="square">
            <a:spAutoFit/>
          </a:bodyPr>
          <a:lstStyle/>
          <a:p>
            <a:r>
              <a:rPr sz="2400">
                <a:solidFill>
                  <a:srgbClr val="172D45"/>
                </a:solidFill>
                <a:latin typeface="Arial"/>
              </a:rPr>
              <a:t>Kvalitetssäkra</a:t>
            </a:r>
            <a:endParaRPr sz="2400">
              <a:solidFill>
                <a:srgbClr val="172D45"/>
              </a:solidFill>
              <a:latin typeface="Arial"/>
            </a:endParaRPr>
          </a:p>
        </p:txBody>
      </p:sp>
      <p:sp>
        <p:nvSpPr>
          <p:cNvPr id="336" name="TextBox 14"/>
          <p:cNvSpPr txBox="1"/>
          <p:nvPr/>
        </p:nvSpPr>
        <p:spPr>
          <a:xfrm>
            <a:off x="4546600" y="3365500"/>
            <a:ext cx="3124200" cy="1051560"/>
          </a:xfrm>
          <a:prstGeom prst="rect">
            <a:avLst/>
          </a:prstGeom>
        </p:spPr>
        <p:txBody>
          <a:bodyPr wrap="square">
            <a:spAutoFit/>
          </a:bodyPr>
          <a:lstStyle/>
          <a:p>
            <a:r>
              <a:rPr sz="2100">
                <a:solidFill>
                  <a:srgbClr val="172D45"/>
                </a:solidFill>
                <a:latin typeface="Arial"/>
              </a:rPr>
              <a:t>Kontrollera uppgifterna i samlingssystemet, till exempel Primus.</a:t>
            </a:r>
            <a:endParaRPr sz="2100">
              <a:solidFill>
                <a:srgbClr val="172D45"/>
              </a:solidFill>
              <a:latin typeface="Arial"/>
            </a:endParaRPr>
          </a:p>
        </p:txBody>
      </p:sp>
      <p:sp>
        <p:nvSpPr>
          <p:cNvPr id="337" name="Rectangle 15"/>
          <p:cNvSpPr/>
          <p:nvPr/>
        </p:nvSpPr>
        <p:spPr>
          <a:xfrm>
            <a:off x="8128000" y="2273300"/>
            <a:ext cx="3530600" cy="30607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8" name="Rectangle 16"/>
          <p:cNvSpPr/>
          <p:nvPr/>
        </p:nvSpPr>
        <p:spPr>
          <a:xfrm>
            <a:off x="8128000" y="2273300"/>
            <a:ext cx="63500" cy="30607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9" name="TextBox 17"/>
          <p:cNvSpPr txBox="1"/>
          <p:nvPr/>
        </p:nvSpPr>
        <p:spPr>
          <a:xfrm>
            <a:off x="8356600" y="2476500"/>
            <a:ext cx="3124200" cy="457200"/>
          </a:xfrm>
          <a:prstGeom prst="rect">
            <a:avLst/>
          </a:prstGeom>
        </p:spPr>
        <p:txBody>
          <a:bodyPr wrap="square">
            <a:spAutoFit/>
          </a:bodyPr>
          <a:lstStyle/>
          <a:p>
            <a:r>
              <a:rPr sz="2400">
                <a:solidFill>
                  <a:srgbClr val="172D45"/>
                </a:solidFill>
                <a:latin typeface="Arial"/>
              </a:rPr>
              <a:t>Identifiera</a:t>
            </a:r>
            <a:endParaRPr sz="2400">
              <a:solidFill>
                <a:srgbClr val="172D45"/>
              </a:solidFill>
              <a:latin typeface="Arial"/>
            </a:endParaRPr>
          </a:p>
        </p:txBody>
      </p:sp>
      <p:sp>
        <p:nvSpPr>
          <p:cNvPr id="340" name="TextBox 18"/>
          <p:cNvSpPr txBox="1"/>
          <p:nvPr/>
        </p:nvSpPr>
        <p:spPr>
          <a:xfrm>
            <a:off x="8356600" y="3365500"/>
            <a:ext cx="3124200" cy="1051560"/>
          </a:xfrm>
          <a:prstGeom prst="rect">
            <a:avLst/>
          </a:prstGeom>
        </p:spPr>
        <p:txBody>
          <a:bodyPr wrap="square">
            <a:spAutoFit/>
          </a:bodyPr>
          <a:lstStyle/>
          <a:p>
            <a:r>
              <a:rPr sz="2100">
                <a:solidFill>
                  <a:srgbClr val="172D45"/>
                </a:solidFill>
                <a:latin typeface="Arial"/>
              </a:rPr>
              <a:t>Ge filerna unika och beständiga beteckningar.</a:t>
            </a:r>
            <a:endParaRPr sz="2100">
              <a:solidFill>
                <a:srgbClr val="172D45"/>
              </a:solidFill>
              <a:latin typeface="Arial"/>
            </a:endParaRPr>
          </a:p>
        </p:txBody>
      </p:sp>
      <p:sp>
        <p:nvSpPr>
          <p:cNvPr id="341" name="TextBox 19"/>
          <p:cNvSpPr txBox="1"/>
          <p:nvPr/>
        </p:nvSpPr>
        <p:spPr>
          <a:xfrm>
            <a:off x="558800" y="5626100"/>
            <a:ext cx="11049000" cy="411480"/>
          </a:xfrm>
          <a:prstGeom prst="rect">
            <a:avLst/>
          </a:prstGeom>
        </p:spPr>
        <p:txBody>
          <a:bodyPr wrap="square">
            <a:spAutoFit/>
          </a:bodyPr>
          <a:lstStyle/>
          <a:p>
            <a:r>
              <a:rPr sz="2100">
                <a:solidFill>
                  <a:srgbClr val="00877D"/>
                </a:solidFill>
                <a:latin typeface="Arial"/>
              </a:rPr>
              <a:t>Exempel: TIFF-masterbilder och dokument i PDF/A, enligt museets krav.</a:t>
            </a:r>
            <a:endParaRPr sz="2100">
              <a:solidFill>
                <a:srgbClr val="00877D"/>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44"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45"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2. Skapa ett inleveranspaket – SIP</a:t>
            </a:r>
            <a:endParaRPr sz="3200">
              <a:solidFill>
                <a:srgbClr val="172D45"/>
              </a:solidFill>
              <a:latin typeface="Arial"/>
            </a:endParaRPr>
          </a:p>
        </p:txBody>
      </p:sp>
      <p:sp>
        <p:nvSpPr>
          <p:cNvPr id="346"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Ansvar: samlingsförvaltare med stöd av exportverktyg eller RODA-in</a:t>
            </a:r>
            <a:endParaRPr sz="2000">
              <a:solidFill>
                <a:srgbClr val="496176"/>
              </a:solidFill>
              <a:latin typeface="Arial"/>
            </a:endParaRPr>
          </a:p>
        </p:txBody>
      </p:sp>
      <p:sp>
        <p:nvSpPr>
          <p:cNvPr id="347"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348"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5 / 10</a:t>
            </a:r>
            <a:endParaRPr sz="1200">
              <a:solidFill>
                <a:srgbClr val="496176"/>
              </a:solidFill>
              <a:latin typeface="Arial"/>
            </a:endParaRPr>
          </a:p>
        </p:txBody>
      </p:sp>
      <p:sp>
        <p:nvSpPr>
          <p:cNvPr id="349" name="Rectangle 7"/>
          <p:cNvSpPr/>
          <p:nvPr/>
        </p:nvSpPr>
        <p:spPr>
          <a:xfrm>
            <a:off x="508000" y="2286000"/>
            <a:ext cx="3530600" cy="2946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0" name="Rectangle 8"/>
          <p:cNvSpPr/>
          <p:nvPr/>
        </p:nvSpPr>
        <p:spPr>
          <a:xfrm>
            <a:off x="508000" y="2286000"/>
            <a:ext cx="63500" cy="29464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1" name="TextBox 9"/>
          <p:cNvSpPr txBox="1"/>
          <p:nvPr/>
        </p:nvSpPr>
        <p:spPr>
          <a:xfrm>
            <a:off x="736600" y="2489200"/>
            <a:ext cx="3124200" cy="457200"/>
          </a:xfrm>
          <a:prstGeom prst="rect">
            <a:avLst/>
          </a:prstGeom>
        </p:spPr>
        <p:txBody>
          <a:bodyPr wrap="square">
            <a:spAutoFit/>
          </a:bodyPr>
          <a:lstStyle/>
          <a:p>
            <a:r>
              <a:rPr sz="2400">
                <a:solidFill>
                  <a:srgbClr val="172D45"/>
                </a:solidFill>
                <a:latin typeface="Arial"/>
              </a:rPr>
              <a:t>Exportera</a:t>
            </a:r>
            <a:endParaRPr sz="2400">
              <a:solidFill>
                <a:srgbClr val="172D45"/>
              </a:solidFill>
              <a:latin typeface="Arial"/>
            </a:endParaRPr>
          </a:p>
        </p:txBody>
      </p:sp>
      <p:sp>
        <p:nvSpPr>
          <p:cNvPr id="352" name="TextBox 10"/>
          <p:cNvSpPr txBox="1"/>
          <p:nvPr/>
        </p:nvSpPr>
        <p:spPr>
          <a:xfrm>
            <a:off x="736600" y="3378200"/>
            <a:ext cx="3124200" cy="1051560"/>
          </a:xfrm>
          <a:prstGeom prst="rect">
            <a:avLst/>
          </a:prstGeom>
        </p:spPr>
        <p:txBody>
          <a:bodyPr wrap="square">
            <a:spAutoFit/>
          </a:bodyPr>
          <a:lstStyle/>
          <a:p>
            <a:r>
              <a:rPr sz="2100">
                <a:solidFill>
                  <a:srgbClr val="172D45"/>
                </a:solidFill>
                <a:latin typeface="Arial"/>
              </a:rPr>
              <a:t>Hämta filer och relevanta uppgifter från samlingssystemet.</a:t>
            </a:r>
            <a:endParaRPr sz="2100">
              <a:solidFill>
                <a:srgbClr val="172D45"/>
              </a:solidFill>
              <a:latin typeface="Arial"/>
            </a:endParaRPr>
          </a:p>
        </p:txBody>
      </p:sp>
      <p:sp>
        <p:nvSpPr>
          <p:cNvPr id="353" name="Rectangle 11"/>
          <p:cNvSpPr/>
          <p:nvPr/>
        </p:nvSpPr>
        <p:spPr>
          <a:xfrm>
            <a:off x="4318000" y="2286000"/>
            <a:ext cx="3530600" cy="2946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4" name="Rectangle 12"/>
          <p:cNvSpPr/>
          <p:nvPr/>
        </p:nvSpPr>
        <p:spPr>
          <a:xfrm>
            <a:off x="4318000" y="2286000"/>
            <a:ext cx="63500" cy="29464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5" name="TextBox 13"/>
          <p:cNvSpPr txBox="1"/>
          <p:nvPr/>
        </p:nvSpPr>
        <p:spPr>
          <a:xfrm>
            <a:off x="4546600" y="2489200"/>
            <a:ext cx="3124200" cy="457200"/>
          </a:xfrm>
          <a:prstGeom prst="rect">
            <a:avLst/>
          </a:prstGeom>
        </p:spPr>
        <p:txBody>
          <a:bodyPr wrap="square">
            <a:spAutoFit/>
          </a:bodyPr>
          <a:lstStyle/>
          <a:p>
            <a:r>
              <a:rPr sz="2400">
                <a:solidFill>
                  <a:srgbClr val="172D45"/>
                </a:solidFill>
                <a:latin typeface="Arial"/>
              </a:rPr>
              <a:t>Mappa</a:t>
            </a:r>
            <a:endParaRPr sz="2400">
              <a:solidFill>
                <a:srgbClr val="172D45"/>
              </a:solidFill>
              <a:latin typeface="Arial"/>
            </a:endParaRPr>
          </a:p>
        </p:txBody>
      </p:sp>
      <p:sp>
        <p:nvSpPr>
          <p:cNvPr id="356" name="TextBox 14"/>
          <p:cNvSpPr txBox="1"/>
          <p:nvPr/>
        </p:nvSpPr>
        <p:spPr>
          <a:xfrm>
            <a:off x="4546600" y="3378200"/>
            <a:ext cx="3124200" cy="1051560"/>
          </a:xfrm>
          <a:prstGeom prst="rect">
            <a:avLst/>
          </a:prstGeom>
        </p:spPr>
        <p:txBody>
          <a:bodyPr wrap="square">
            <a:spAutoFit/>
          </a:bodyPr>
          <a:lstStyle/>
          <a:p>
            <a:r>
              <a:rPr sz="2100">
                <a:solidFill>
                  <a:srgbClr val="172D45"/>
                </a:solidFill>
                <a:latin typeface="Arial"/>
              </a:rPr>
              <a:t>Översätt metadata till Dublin Core utan dubbelregistrering.</a:t>
            </a:r>
            <a:endParaRPr sz="2100">
              <a:solidFill>
                <a:srgbClr val="172D45"/>
              </a:solidFill>
              <a:latin typeface="Arial"/>
            </a:endParaRPr>
          </a:p>
        </p:txBody>
      </p:sp>
      <p:sp>
        <p:nvSpPr>
          <p:cNvPr id="357" name="Rectangle 15"/>
          <p:cNvSpPr/>
          <p:nvPr/>
        </p:nvSpPr>
        <p:spPr>
          <a:xfrm>
            <a:off x="8128000" y="2286000"/>
            <a:ext cx="3530600" cy="2946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8" name="Rectangle 16"/>
          <p:cNvSpPr/>
          <p:nvPr/>
        </p:nvSpPr>
        <p:spPr>
          <a:xfrm>
            <a:off x="8128000" y="2286000"/>
            <a:ext cx="63500" cy="29464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9" name="TextBox 17"/>
          <p:cNvSpPr txBox="1"/>
          <p:nvPr/>
        </p:nvSpPr>
        <p:spPr>
          <a:xfrm>
            <a:off x="8356600" y="2489200"/>
            <a:ext cx="3124200" cy="457200"/>
          </a:xfrm>
          <a:prstGeom prst="rect">
            <a:avLst/>
          </a:prstGeom>
        </p:spPr>
        <p:txBody>
          <a:bodyPr wrap="square">
            <a:spAutoFit/>
          </a:bodyPr>
          <a:lstStyle/>
          <a:p>
            <a:r>
              <a:rPr sz="2400">
                <a:solidFill>
                  <a:srgbClr val="172D45"/>
                </a:solidFill>
                <a:latin typeface="Arial"/>
              </a:rPr>
              <a:t>Paketera</a:t>
            </a:r>
            <a:endParaRPr sz="2400">
              <a:solidFill>
                <a:srgbClr val="172D45"/>
              </a:solidFill>
              <a:latin typeface="Arial"/>
            </a:endParaRPr>
          </a:p>
        </p:txBody>
      </p:sp>
      <p:sp>
        <p:nvSpPr>
          <p:cNvPr id="360" name="TextBox 18"/>
          <p:cNvSpPr txBox="1"/>
          <p:nvPr/>
        </p:nvSpPr>
        <p:spPr>
          <a:xfrm>
            <a:off x="8356600" y="3378200"/>
            <a:ext cx="3124200" cy="1051560"/>
          </a:xfrm>
          <a:prstGeom prst="rect">
            <a:avLst/>
          </a:prstGeom>
        </p:spPr>
        <p:txBody>
          <a:bodyPr wrap="square">
            <a:spAutoFit/>
          </a:bodyPr>
          <a:lstStyle/>
          <a:p>
            <a:r>
              <a:rPr sz="2100">
                <a:solidFill>
                  <a:srgbClr val="172D45"/>
                </a:solidFill>
                <a:latin typeface="Arial"/>
              </a:rPr>
              <a:t>Samla filer, metadata och checksummor enligt E-ARK SIP.</a:t>
            </a:r>
            <a:endParaRPr sz="2100">
              <a:solidFill>
                <a:srgbClr val="172D45"/>
              </a:solidFill>
              <a:latin typeface="Arial"/>
            </a:endParaRPr>
          </a:p>
        </p:txBody>
      </p:sp>
      <p:sp>
        <p:nvSpPr>
          <p:cNvPr id="361" name="TextBox 19"/>
          <p:cNvSpPr txBox="1"/>
          <p:nvPr/>
        </p:nvSpPr>
        <p:spPr>
          <a:xfrm>
            <a:off x="558800" y="5588000"/>
            <a:ext cx="11049000" cy="441960"/>
          </a:xfrm>
          <a:prstGeom prst="rect">
            <a:avLst/>
          </a:prstGeom>
        </p:spPr>
        <p:txBody>
          <a:bodyPr wrap="square">
            <a:spAutoFit/>
          </a:bodyPr>
          <a:lstStyle/>
          <a:p>
            <a:r>
              <a:rPr sz="2300">
                <a:solidFill>
                  <a:srgbClr val="00877D"/>
                </a:solidFill>
                <a:latin typeface="Arial"/>
              </a:rPr>
              <a:t>Resultat: ett validerat paket som är redo för inleverans till RODA.</a:t>
            </a:r>
            <a:endParaRPr sz="2300">
              <a:solidFill>
                <a:srgbClr val="00877D"/>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4"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5"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3. Kontrollera inleveransen i RODA</a:t>
            </a:r>
            <a:endParaRPr sz="3200">
              <a:solidFill>
                <a:srgbClr val="172D45"/>
              </a:solidFill>
              <a:latin typeface="Arial"/>
            </a:endParaRPr>
          </a:p>
        </p:txBody>
      </p:sp>
      <p:sp>
        <p:nvSpPr>
          <p:cNvPr id="366"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Ansvar: arkivansvarig övervakar det konfigurerade kontrollflödet.</a:t>
            </a:r>
            <a:endParaRPr sz="2000">
              <a:solidFill>
                <a:srgbClr val="496176"/>
              </a:solidFill>
              <a:latin typeface="Arial"/>
            </a:endParaRPr>
          </a:p>
        </p:txBody>
      </p:sp>
      <p:sp>
        <p:nvSpPr>
          <p:cNvPr id="367"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368"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6 / 10</a:t>
            </a:r>
            <a:endParaRPr sz="1200">
              <a:solidFill>
                <a:srgbClr val="496176"/>
              </a:solidFill>
              <a:latin typeface="Arial"/>
            </a:endParaRPr>
          </a:p>
        </p:txBody>
      </p:sp>
      <p:sp>
        <p:nvSpPr>
          <p:cNvPr id="369" name="Rectangle 7"/>
          <p:cNvSpPr/>
          <p:nvPr/>
        </p:nvSpPr>
        <p:spPr>
          <a:xfrm>
            <a:off x="508000" y="2171700"/>
            <a:ext cx="5397500" cy="27686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0" name="Rectangle 8"/>
          <p:cNvSpPr/>
          <p:nvPr/>
        </p:nvSpPr>
        <p:spPr>
          <a:xfrm>
            <a:off x="508000" y="2171700"/>
            <a:ext cx="63500" cy="27686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1" name="TextBox 9"/>
          <p:cNvSpPr txBox="1"/>
          <p:nvPr/>
        </p:nvSpPr>
        <p:spPr>
          <a:xfrm>
            <a:off x="736600" y="2374900"/>
            <a:ext cx="4991100" cy="457200"/>
          </a:xfrm>
          <a:prstGeom prst="rect">
            <a:avLst/>
          </a:prstGeom>
        </p:spPr>
        <p:txBody>
          <a:bodyPr wrap="square">
            <a:spAutoFit/>
          </a:bodyPr>
          <a:lstStyle/>
          <a:p>
            <a:r>
              <a:rPr sz="2400">
                <a:solidFill>
                  <a:srgbClr val="172D45"/>
                </a:solidFill>
                <a:latin typeface="Arial"/>
              </a:rPr>
              <a:t>Paket och integritet</a:t>
            </a:r>
            <a:endParaRPr sz="2400">
              <a:solidFill>
                <a:srgbClr val="172D45"/>
              </a:solidFill>
              <a:latin typeface="Arial"/>
            </a:endParaRPr>
          </a:p>
        </p:txBody>
      </p:sp>
      <p:sp>
        <p:nvSpPr>
          <p:cNvPr id="372" name="TextBox 10"/>
          <p:cNvSpPr txBox="1"/>
          <p:nvPr/>
        </p:nvSpPr>
        <p:spPr>
          <a:xfrm>
            <a:off x="736600" y="3263900"/>
            <a:ext cx="4991100" cy="1051560"/>
          </a:xfrm>
          <a:prstGeom prst="rect">
            <a:avLst/>
          </a:prstGeom>
        </p:spPr>
        <p:txBody>
          <a:bodyPr wrap="square">
            <a:spAutoFit/>
          </a:bodyPr>
          <a:lstStyle/>
          <a:p>
            <a:r>
              <a:rPr sz="2100">
                <a:solidFill>
                  <a:srgbClr val="172D45"/>
                </a:solidFill>
                <a:latin typeface="Arial"/>
              </a:rPr>
              <a:t>Stämmer struktur och metadata?</a:t>
            </a:r>
            <a:endParaRPr sz="2100">
              <a:solidFill>
                <a:srgbClr val="172D45"/>
              </a:solidFill>
              <a:latin typeface="Arial"/>
            </a:endParaRPr>
          </a:p>
          <a:p>
            <a:r>
              <a:rPr sz="2100">
                <a:solidFill>
                  <a:srgbClr val="172D45"/>
                </a:solidFill>
                <a:latin typeface="Arial"/>
              </a:rPr>
              <a:t>Matchar filernas checksummor?</a:t>
            </a:r>
            <a:endParaRPr sz="2100">
              <a:solidFill>
                <a:srgbClr val="172D45"/>
              </a:solidFill>
              <a:latin typeface="Arial"/>
            </a:endParaRPr>
          </a:p>
          <a:p>
            <a:r>
              <a:rPr sz="2100">
                <a:solidFill>
                  <a:srgbClr val="172D45"/>
                </a:solidFill>
                <a:latin typeface="Arial"/>
              </a:rPr>
              <a:t>Vad visar virusskanningen?</a:t>
            </a:r>
            <a:endParaRPr sz="2100">
              <a:solidFill>
                <a:srgbClr val="172D45"/>
              </a:solidFill>
              <a:latin typeface="Arial"/>
            </a:endParaRPr>
          </a:p>
        </p:txBody>
      </p:sp>
      <p:sp>
        <p:nvSpPr>
          <p:cNvPr id="373" name="Rectangle 11"/>
          <p:cNvSpPr/>
          <p:nvPr/>
        </p:nvSpPr>
        <p:spPr>
          <a:xfrm>
            <a:off x="6223000" y="2171700"/>
            <a:ext cx="5435600" cy="27686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4" name="Rectangle 12"/>
          <p:cNvSpPr/>
          <p:nvPr/>
        </p:nvSpPr>
        <p:spPr>
          <a:xfrm>
            <a:off x="6223000" y="2171700"/>
            <a:ext cx="63500" cy="27686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5" name="TextBox 13"/>
          <p:cNvSpPr txBox="1"/>
          <p:nvPr/>
        </p:nvSpPr>
        <p:spPr>
          <a:xfrm>
            <a:off x="6451600" y="2374900"/>
            <a:ext cx="5029200" cy="457200"/>
          </a:xfrm>
          <a:prstGeom prst="rect">
            <a:avLst/>
          </a:prstGeom>
        </p:spPr>
        <p:txBody>
          <a:bodyPr wrap="square">
            <a:spAutoFit/>
          </a:bodyPr>
          <a:lstStyle/>
          <a:p>
            <a:r>
              <a:rPr sz="2400">
                <a:solidFill>
                  <a:srgbClr val="172D45"/>
                </a:solidFill>
                <a:latin typeface="Arial"/>
              </a:rPr>
              <a:t>Format och spårbarhet</a:t>
            </a:r>
            <a:endParaRPr sz="2400">
              <a:solidFill>
                <a:srgbClr val="172D45"/>
              </a:solidFill>
              <a:latin typeface="Arial"/>
            </a:endParaRPr>
          </a:p>
        </p:txBody>
      </p:sp>
      <p:sp>
        <p:nvSpPr>
          <p:cNvPr id="376" name="TextBox 14"/>
          <p:cNvSpPr txBox="1"/>
          <p:nvPr/>
        </p:nvSpPr>
        <p:spPr>
          <a:xfrm>
            <a:off x="6451600" y="3263900"/>
            <a:ext cx="5029200" cy="1051560"/>
          </a:xfrm>
          <a:prstGeom prst="rect">
            <a:avLst/>
          </a:prstGeom>
        </p:spPr>
        <p:txBody>
          <a:bodyPr wrap="square">
            <a:spAutoFit/>
          </a:bodyPr>
          <a:lstStyle/>
          <a:p>
            <a:r>
              <a:rPr sz="2100">
                <a:solidFill>
                  <a:srgbClr val="172D45"/>
                </a:solidFill>
                <a:latin typeface="Arial"/>
              </a:rPr>
              <a:t>Identifiera och validera filformat.</a:t>
            </a:r>
            <a:endParaRPr sz="2100">
              <a:solidFill>
                <a:srgbClr val="172D45"/>
              </a:solidFill>
              <a:latin typeface="Arial"/>
            </a:endParaRPr>
          </a:p>
          <a:p>
            <a:r>
              <a:rPr sz="2100">
                <a:solidFill>
                  <a:srgbClr val="172D45"/>
                </a:solidFill>
                <a:latin typeface="Arial"/>
              </a:rPr>
              <a:t>Skapa visningskopior vid behov.</a:t>
            </a:r>
            <a:endParaRPr sz="2100">
              <a:solidFill>
                <a:srgbClr val="172D45"/>
              </a:solidFill>
              <a:latin typeface="Arial"/>
            </a:endParaRPr>
          </a:p>
          <a:p>
            <a:r>
              <a:rPr sz="2100">
                <a:solidFill>
                  <a:srgbClr val="172D45"/>
                </a:solidFill>
                <a:latin typeface="Arial"/>
              </a:rPr>
              <a:t>Logga kontroller i PREMIS.</a:t>
            </a:r>
            <a:endParaRPr sz="2100">
              <a:solidFill>
                <a:srgbClr val="172D45"/>
              </a:solidFill>
              <a:latin typeface="Arial"/>
            </a:endParaRPr>
          </a:p>
        </p:txBody>
      </p:sp>
      <p:sp>
        <p:nvSpPr>
          <p:cNvPr id="377" name="Rectangle 15"/>
          <p:cNvSpPr/>
          <p:nvPr/>
        </p:nvSpPr>
        <p:spPr>
          <a:xfrm>
            <a:off x="508000" y="5219700"/>
            <a:ext cx="11150600" cy="914400"/>
          </a:xfrm>
          <a:prstGeom prst="roundRect">
            <a:avLst/>
          </a:prstGeom>
          <a:solidFill>
            <a:srgbClr val="172D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8" name="TextBox 16"/>
          <p:cNvSpPr txBox="1"/>
          <p:nvPr/>
        </p:nvSpPr>
        <p:spPr>
          <a:xfrm>
            <a:off x="711200" y="5346700"/>
            <a:ext cx="10744200" cy="441960"/>
          </a:xfrm>
          <a:prstGeom prst="rect">
            <a:avLst/>
          </a:prstGeom>
        </p:spPr>
        <p:txBody>
          <a:bodyPr wrap="square">
            <a:spAutoFit/>
          </a:bodyPr>
          <a:lstStyle/>
          <a:p>
            <a:r>
              <a:rPr sz="2300">
                <a:solidFill>
                  <a:srgbClr val="FFFFFF"/>
                </a:solidFill>
                <a:latin typeface="Arial"/>
              </a:rPr>
              <a:t>Godkänt → skapa AIP. Avvikelse → avvisa och lämna felrapport.</a:t>
            </a:r>
            <a:endParaRPr sz="2300">
              <a:solidFill>
                <a:srgbClr val="FFFFFF"/>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1"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2"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4. Säkra bevarandepaketet – AIP</a:t>
            </a:r>
            <a:endParaRPr sz="3200">
              <a:solidFill>
                <a:srgbClr val="172D45"/>
              </a:solidFill>
              <a:latin typeface="Arial"/>
            </a:endParaRPr>
          </a:p>
        </p:txBody>
      </p:sp>
      <p:sp>
        <p:nvSpPr>
          <p:cNvPr id="383"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Ansvar: RODA, systemförvaltning och IT-drift</a:t>
            </a:r>
            <a:endParaRPr sz="2000">
              <a:solidFill>
                <a:srgbClr val="496176"/>
              </a:solidFill>
              <a:latin typeface="Arial"/>
            </a:endParaRPr>
          </a:p>
        </p:txBody>
      </p:sp>
      <p:sp>
        <p:nvSpPr>
          <p:cNvPr id="384"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385"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7 / 10</a:t>
            </a:r>
            <a:endParaRPr sz="1200">
              <a:solidFill>
                <a:srgbClr val="496176"/>
              </a:solidFill>
              <a:latin typeface="Arial"/>
            </a:endParaRPr>
          </a:p>
        </p:txBody>
      </p:sp>
      <p:sp>
        <p:nvSpPr>
          <p:cNvPr id="386" name="Rectangle 7"/>
          <p:cNvSpPr/>
          <p:nvPr/>
        </p:nvSpPr>
        <p:spPr>
          <a:xfrm>
            <a:off x="508000" y="2247900"/>
            <a:ext cx="5397500" cy="30607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7" name="Rectangle 8"/>
          <p:cNvSpPr/>
          <p:nvPr/>
        </p:nvSpPr>
        <p:spPr>
          <a:xfrm>
            <a:off x="508000" y="2247900"/>
            <a:ext cx="63500" cy="30607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8" name="TextBox 9"/>
          <p:cNvSpPr txBox="1"/>
          <p:nvPr/>
        </p:nvSpPr>
        <p:spPr>
          <a:xfrm>
            <a:off x="736600" y="2451100"/>
            <a:ext cx="4991100" cy="457200"/>
          </a:xfrm>
          <a:prstGeom prst="rect">
            <a:avLst/>
          </a:prstGeom>
        </p:spPr>
        <p:txBody>
          <a:bodyPr wrap="square">
            <a:spAutoFit/>
          </a:bodyPr>
          <a:lstStyle/>
          <a:p>
            <a:r>
              <a:rPr sz="2400">
                <a:solidFill>
                  <a:srgbClr val="172D45"/>
                </a:solidFill>
                <a:latin typeface="Arial"/>
              </a:rPr>
              <a:t>RODA skapar paketet</a:t>
            </a:r>
            <a:endParaRPr sz="2400">
              <a:solidFill>
                <a:srgbClr val="172D45"/>
              </a:solidFill>
              <a:latin typeface="Arial"/>
            </a:endParaRPr>
          </a:p>
        </p:txBody>
      </p:sp>
      <p:sp>
        <p:nvSpPr>
          <p:cNvPr id="389" name="TextBox 10"/>
          <p:cNvSpPr txBox="1"/>
          <p:nvPr/>
        </p:nvSpPr>
        <p:spPr>
          <a:xfrm>
            <a:off x="736600" y="3340100"/>
            <a:ext cx="4991100" cy="1051560"/>
          </a:xfrm>
          <a:prstGeom prst="rect">
            <a:avLst/>
          </a:prstGeom>
        </p:spPr>
        <p:txBody>
          <a:bodyPr wrap="square">
            <a:spAutoFit/>
          </a:bodyPr>
          <a:lstStyle/>
          <a:p>
            <a:r>
              <a:rPr sz="2100">
                <a:solidFill>
                  <a:srgbClr val="172D45"/>
                </a:solidFill>
                <a:latin typeface="Arial"/>
              </a:rPr>
              <a:t>Originalfiler och metadata hålls ihop.</a:t>
            </a:r>
            <a:endParaRPr sz="2100">
              <a:solidFill>
                <a:srgbClr val="172D45"/>
              </a:solidFill>
              <a:latin typeface="Arial"/>
            </a:endParaRPr>
          </a:p>
          <a:p>
            <a:r>
              <a:rPr sz="2100">
                <a:solidFill>
                  <a:srgbClr val="172D45"/>
                </a:solidFill>
                <a:latin typeface="Arial"/>
              </a:rPr>
              <a:t>Kontroller och historik följer med.</a:t>
            </a:r>
            <a:endParaRPr sz="2100">
              <a:solidFill>
                <a:srgbClr val="172D45"/>
              </a:solidFill>
              <a:latin typeface="Arial"/>
            </a:endParaRPr>
          </a:p>
          <a:p>
            <a:r>
              <a:rPr sz="2100">
                <a:solidFill>
                  <a:srgbClr val="172D45"/>
                </a:solidFill>
                <a:latin typeface="Arial"/>
              </a:rPr>
              <a:t>Beskrivningen blir sökbar.</a:t>
            </a:r>
            <a:endParaRPr sz="2100">
              <a:solidFill>
                <a:srgbClr val="172D45"/>
              </a:solidFill>
              <a:latin typeface="Arial"/>
            </a:endParaRPr>
          </a:p>
        </p:txBody>
      </p:sp>
      <p:sp>
        <p:nvSpPr>
          <p:cNvPr id="390" name="Rectangle 11"/>
          <p:cNvSpPr/>
          <p:nvPr/>
        </p:nvSpPr>
        <p:spPr>
          <a:xfrm>
            <a:off x="6223000" y="2247900"/>
            <a:ext cx="5435600" cy="30607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1" name="Rectangle 12"/>
          <p:cNvSpPr/>
          <p:nvPr/>
        </p:nvSpPr>
        <p:spPr>
          <a:xfrm>
            <a:off x="6223000" y="2247900"/>
            <a:ext cx="63500" cy="30607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2" name="TextBox 13"/>
          <p:cNvSpPr txBox="1"/>
          <p:nvPr/>
        </p:nvSpPr>
        <p:spPr>
          <a:xfrm>
            <a:off x="6451600" y="2451100"/>
            <a:ext cx="5029200" cy="457200"/>
          </a:xfrm>
          <a:prstGeom prst="rect">
            <a:avLst/>
          </a:prstGeom>
        </p:spPr>
        <p:txBody>
          <a:bodyPr wrap="square">
            <a:spAutoFit/>
          </a:bodyPr>
          <a:lstStyle/>
          <a:p>
            <a:r>
              <a:rPr sz="2400">
                <a:solidFill>
                  <a:srgbClr val="172D45"/>
                </a:solidFill>
                <a:latin typeface="Arial"/>
              </a:rPr>
              <a:t>Driften skyddar lagringen</a:t>
            </a:r>
            <a:endParaRPr sz="2400">
              <a:solidFill>
                <a:srgbClr val="172D45"/>
              </a:solidFill>
              <a:latin typeface="Arial"/>
            </a:endParaRPr>
          </a:p>
        </p:txBody>
      </p:sp>
      <p:sp>
        <p:nvSpPr>
          <p:cNvPr id="393" name="TextBox 14"/>
          <p:cNvSpPr txBox="1"/>
          <p:nvPr/>
        </p:nvSpPr>
        <p:spPr>
          <a:xfrm>
            <a:off x="6451600" y="3340100"/>
            <a:ext cx="5029200" cy="1051560"/>
          </a:xfrm>
          <a:prstGeom prst="rect">
            <a:avLst/>
          </a:prstGeom>
        </p:spPr>
        <p:txBody>
          <a:bodyPr wrap="square">
            <a:spAutoFit/>
          </a:bodyPr>
          <a:lstStyle/>
          <a:p>
            <a:r>
              <a:rPr sz="2100">
                <a:solidFill>
                  <a:srgbClr val="172D45"/>
                </a:solidFill>
                <a:latin typeface="Arial"/>
              </a:rPr>
              <a:t>Flera oberoende kopior.</a:t>
            </a:r>
            <a:endParaRPr sz="2100">
              <a:solidFill>
                <a:srgbClr val="172D45"/>
              </a:solidFill>
              <a:latin typeface="Arial"/>
            </a:endParaRPr>
          </a:p>
          <a:p>
            <a:r>
              <a:rPr sz="2100">
                <a:solidFill>
                  <a:srgbClr val="172D45"/>
                </a:solidFill>
                <a:latin typeface="Arial"/>
              </a:rPr>
              <a:t>Geografiskt åtskild kopia.</a:t>
            </a:r>
            <a:endParaRPr sz="2100">
              <a:solidFill>
                <a:srgbClr val="172D45"/>
              </a:solidFill>
              <a:latin typeface="Arial"/>
            </a:endParaRPr>
          </a:p>
          <a:p>
            <a:r>
              <a:rPr sz="2100">
                <a:solidFill>
                  <a:srgbClr val="172D45"/>
                </a:solidFill>
                <a:latin typeface="Arial"/>
              </a:rPr>
              <a:t>Skrivskydd / oföränderlig lagring.</a:t>
            </a:r>
            <a:endParaRPr sz="2100">
              <a:solidFill>
                <a:srgbClr val="172D45"/>
              </a:solidFill>
              <a:latin typeface="Arial"/>
            </a:endParaRPr>
          </a:p>
        </p:txBody>
      </p:sp>
      <p:sp>
        <p:nvSpPr>
          <p:cNvPr id="394" name="TextBox 15"/>
          <p:cNvSpPr txBox="1"/>
          <p:nvPr/>
        </p:nvSpPr>
        <p:spPr>
          <a:xfrm>
            <a:off x="558800" y="5588000"/>
            <a:ext cx="11049000" cy="457200"/>
          </a:xfrm>
          <a:prstGeom prst="rect">
            <a:avLst/>
          </a:prstGeom>
        </p:spPr>
        <p:txBody>
          <a:bodyPr wrap="square">
            <a:spAutoFit/>
          </a:bodyPr>
          <a:lstStyle/>
          <a:p>
            <a:r>
              <a:rPr sz="2400">
                <a:solidFill>
                  <a:srgbClr val="00877D"/>
                </a:solidFill>
                <a:latin typeface="Arial"/>
              </a:rPr>
              <a:t>Ett skapat AIP är inte i sig en garanti för långsiktigt bevarande.</a:t>
            </a:r>
            <a:endParaRPr sz="2400">
              <a:solidFill>
                <a:srgbClr val="00877D"/>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7"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8"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5. Bevara över tid – inte bara vid inleverans</a:t>
            </a:r>
            <a:endParaRPr sz="3200">
              <a:solidFill>
                <a:srgbClr val="172D45"/>
              </a:solidFill>
              <a:latin typeface="Arial"/>
            </a:endParaRPr>
          </a:p>
        </p:txBody>
      </p:sp>
      <p:sp>
        <p:nvSpPr>
          <p:cNvPr id="399"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Ansvar: systemförvaltare och ansvarig för digitala samlingar</a:t>
            </a:r>
            <a:endParaRPr sz="2000">
              <a:solidFill>
                <a:srgbClr val="496176"/>
              </a:solidFill>
              <a:latin typeface="Arial"/>
            </a:endParaRPr>
          </a:p>
        </p:txBody>
      </p:sp>
      <p:sp>
        <p:nvSpPr>
          <p:cNvPr id="400"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401"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8 / 10</a:t>
            </a:r>
            <a:endParaRPr sz="1200">
              <a:solidFill>
                <a:srgbClr val="496176"/>
              </a:solidFill>
              <a:latin typeface="Arial"/>
            </a:endParaRPr>
          </a:p>
        </p:txBody>
      </p:sp>
      <p:sp>
        <p:nvSpPr>
          <p:cNvPr id="402" name="Rectangle 7"/>
          <p:cNvSpPr/>
          <p:nvPr/>
        </p:nvSpPr>
        <p:spPr>
          <a:xfrm>
            <a:off x="508000" y="2247900"/>
            <a:ext cx="3530600" cy="3200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03" name="Rectangle 8"/>
          <p:cNvSpPr/>
          <p:nvPr/>
        </p:nvSpPr>
        <p:spPr>
          <a:xfrm>
            <a:off x="508000" y="2247900"/>
            <a:ext cx="63500" cy="32004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04" name="TextBox 9"/>
          <p:cNvSpPr txBox="1"/>
          <p:nvPr/>
        </p:nvSpPr>
        <p:spPr>
          <a:xfrm>
            <a:off x="736600" y="2451100"/>
            <a:ext cx="3124200" cy="457200"/>
          </a:xfrm>
          <a:prstGeom prst="rect">
            <a:avLst/>
          </a:prstGeom>
        </p:spPr>
        <p:txBody>
          <a:bodyPr wrap="square">
            <a:spAutoFit/>
          </a:bodyPr>
          <a:lstStyle/>
          <a:p>
            <a:r>
              <a:rPr sz="2400">
                <a:solidFill>
                  <a:srgbClr val="172D45"/>
                </a:solidFill>
                <a:latin typeface="Arial"/>
              </a:rPr>
              <a:t>Kontrollera</a:t>
            </a:r>
            <a:endParaRPr sz="2400">
              <a:solidFill>
                <a:srgbClr val="172D45"/>
              </a:solidFill>
              <a:latin typeface="Arial"/>
            </a:endParaRPr>
          </a:p>
        </p:txBody>
      </p:sp>
      <p:sp>
        <p:nvSpPr>
          <p:cNvPr id="405" name="TextBox 10"/>
          <p:cNvSpPr txBox="1"/>
          <p:nvPr/>
        </p:nvSpPr>
        <p:spPr>
          <a:xfrm>
            <a:off x="736600" y="3340100"/>
            <a:ext cx="3124200" cy="1371600"/>
          </a:xfrm>
          <a:prstGeom prst="rect">
            <a:avLst/>
          </a:prstGeom>
        </p:spPr>
        <p:txBody>
          <a:bodyPr wrap="square">
            <a:spAutoFit/>
          </a:bodyPr>
          <a:lstStyle/>
          <a:p>
            <a:r>
              <a:rPr sz="2100">
                <a:solidFill>
                  <a:srgbClr val="172D45"/>
                </a:solidFill>
                <a:latin typeface="Arial"/>
              </a:rPr>
              <a:t>Jämför checksummor enligt plan. Logga resultat och larma vid avvikelser.</a:t>
            </a:r>
            <a:endParaRPr sz="2100">
              <a:solidFill>
                <a:srgbClr val="172D45"/>
              </a:solidFill>
              <a:latin typeface="Arial"/>
            </a:endParaRPr>
          </a:p>
        </p:txBody>
      </p:sp>
      <p:sp>
        <p:nvSpPr>
          <p:cNvPr id="406" name="Rectangle 11"/>
          <p:cNvSpPr/>
          <p:nvPr/>
        </p:nvSpPr>
        <p:spPr>
          <a:xfrm>
            <a:off x="4318000" y="2247900"/>
            <a:ext cx="3530600" cy="3200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07" name="Rectangle 12"/>
          <p:cNvSpPr/>
          <p:nvPr/>
        </p:nvSpPr>
        <p:spPr>
          <a:xfrm>
            <a:off x="4318000" y="2247900"/>
            <a:ext cx="63500" cy="32004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08" name="TextBox 13"/>
          <p:cNvSpPr txBox="1"/>
          <p:nvPr/>
        </p:nvSpPr>
        <p:spPr>
          <a:xfrm>
            <a:off x="4546600" y="2451100"/>
            <a:ext cx="3124200" cy="457200"/>
          </a:xfrm>
          <a:prstGeom prst="rect">
            <a:avLst/>
          </a:prstGeom>
        </p:spPr>
        <p:txBody>
          <a:bodyPr wrap="square">
            <a:spAutoFit/>
          </a:bodyPr>
          <a:lstStyle/>
          <a:p>
            <a:r>
              <a:rPr sz="2400">
                <a:solidFill>
                  <a:srgbClr val="172D45"/>
                </a:solidFill>
                <a:latin typeface="Arial"/>
              </a:rPr>
              <a:t>Återställ</a:t>
            </a:r>
            <a:endParaRPr sz="2400">
              <a:solidFill>
                <a:srgbClr val="172D45"/>
              </a:solidFill>
              <a:latin typeface="Arial"/>
            </a:endParaRPr>
          </a:p>
        </p:txBody>
      </p:sp>
      <p:sp>
        <p:nvSpPr>
          <p:cNvPr id="409" name="TextBox 14"/>
          <p:cNvSpPr txBox="1"/>
          <p:nvPr/>
        </p:nvSpPr>
        <p:spPr>
          <a:xfrm>
            <a:off x="4546600" y="3340100"/>
            <a:ext cx="3124200" cy="1371600"/>
          </a:xfrm>
          <a:prstGeom prst="rect">
            <a:avLst/>
          </a:prstGeom>
        </p:spPr>
        <p:txBody>
          <a:bodyPr wrap="square">
            <a:spAutoFit/>
          </a:bodyPr>
          <a:lstStyle/>
          <a:p>
            <a:r>
              <a:rPr sz="2100">
                <a:solidFill>
                  <a:srgbClr val="172D45"/>
                </a:solidFill>
                <a:latin typeface="Arial"/>
              </a:rPr>
              <a:t>Använd en kontrollerad kopia och en i förväg testad återställningsrutin.</a:t>
            </a:r>
            <a:endParaRPr sz="2100">
              <a:solidFill>
                <a:srgbClr val="172D45"/>
              </a:solidFill>
              <a:latin typeface="Arial"/>
            </a:endParaRPr>
          </a:p>
        </p:txBody>
      </p:sp>
      <p:sp>
        <p:nvSpPr>
          <p:cNvPr id="410" name="Rectangle 15"/>
          <p:cNvSpPr/>
          <p:nvPr/>
        </p:nvSpPr>
        <p:spPr>
          <a:xfrm>
            <a:off x="8128000" y="2247900"/>
            <a:ext cx="3530600" cy="32004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1" name="Rectangle 16"/>
          <p:cNvSpPr/>
          <p:nvPr/>
        </p:nvSpPr>
        <p:spPr>
          <a:xfrm>
            <a:off x="8128000" y="2247900"/>
            <a:ext cx="63500" cy="32004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2" name="TextBox 17"/>
          <p:cNvSpPr txBox="1"/>
          <p:nvPr/>
        </p:nvSpPr>
        <p:spPr>
          <a:xfrm>
            <a:off x="8356600" y="2451100"/>
            <a:ext cx="3124200" cy="457200"/>
          </a:xfrm>
          <a:prstGeom prst="rect">
            <a:avLst/>
          </a:prstGeom>
        </p:spPr>
        <p:txBody>
          <a:bodyPr wrap="square">
            <a:spAutoFit/>
          </a:bodyPr>
          <a:lstStyle/>
          <a:p>
            <a:r>
              <a:rPr sz="2400">
                <a:solidFill>
                  <a:srgbClr val="172D45"/>
                </a:solidFill>
                <a:latin typeface="Arial"/>
              </a:rPr>
              <a:t>Bevaka format</a:t>
            </a:r>
            <a:endParaRPr sz="2400">
              <a:solidFill>
                <a:srgbClr val="172D45"/>
              </a:solidFill>
              <a:latin typeface="Arial"/>
            </a:endParaRPr>
          </a:p>
        </p:txBody>
      </p:sp>
      <p:sp>
        <p:nvSpPr>
          <p:cNvPr id="413" name="TextBox 18"/>
          <p:cNvSpPr txBox="1"/>
          <p:nvPr/>
        </p:nvSpPr>
        <p:spPr>
          <a:xfrm>
            <a:off x="8356600" y="3340100"/>
            <a:ext cx="3124200" cy="1051560"/>
          </a:xfrm>
          <a:prstGeom prst="rect">
            <a:avLst/>
          </a:prstGeom>
        </p:spPr>
        <p:txBody>
          <a:bodyPr wrap="square">
            <a:spAutoFit/>
          </a:bodyPr>
          <a:lstStyle/>
          <a:p>
            <a:r>
              <a:rPr sz="2100">
                <a:solidFill>
                  <a:srgbClr val="172D45"/>
                </a:solidFill>
                <a:latin typeface="Arial"/>
              </a:rPr>
              <a:t>Testa och besluta om migrering när ett format blir en bevaranderisk.</a:t>
            </a:r>
            <a:endParaRPr sz="2100">
              <a:solidFill>
                <a:srgbClr val="172D45"/>
              </a:solidFill>
              <a:latin typeface="Arial"/>
            </a:endParaRPr>
          </a:p>
        </p:txBody>
      </p:sp>
      <p:sp>
        <p:nvSpPr>
          <p:cNvPr id="414" name="TextBox 19"/>
          <p:cNvSpPr txBox="1"/>
          <p:nvPr/>
        </p:nvSpPr>
        <p:spPr>
          <a:xfrm>
            <a:off x="558800" y="5676900"/>
            <a:ext cx="11049000" cy="411480"/>
          </a:xfrm>
          <a:prstGeom prst="rect">
            <a:avLst/>
          </a:prstGeom>
        </p:spPr>
        <p:txBody>
          <a:bodyPr wrap="square">
            <a:spAutoFit/>
          </a:bodyPr>
          <a:lstStyle/>
          <a:p>
            <a:r>
              <a:rPr sz="2100">
                <a:solidFill>
                  <a:srgbClr val="00877D"/>
                </a:solidFill>
                <a:latin typeface="Arial"/>
              </a:rPr>
              <a:t>Vid migrering: behåll originalet och dokumentera den nya representationen.</a:t>
            </a:r>
            <a:endParaRPr sz="2100">
              <a:solidFill>
                <a:srgbClr val="00877D"/>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7"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8"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6. Ge åtkomst – utan att riskera originalen</a:t>
            </a:r>
            <a:endParaRPr sz="3200">
              <a:solidFill>
                <a:srgbClr val="172D45"/>
              </a:solidFill>
              <a:latin typeface="Arial"/>
            </a:endParaRPr>
          </a:p>
        </p:txBody>
      </p:sp>
      <p:sp>
        <p:nvSpPr>
          <p:cNvPr id="419"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Ansvar: samlingsförvaltare, behöriga användare och integrationsansvariga</a:t>
            </a:r>
            <a:endParaRPr sz="2000">
              <a:solidFill>
                <a:srgbClr val="496176"/>
              </a:solidFill>
              <a:latin typeface="Arial"/>
            </a:endParaRPr>
          </a:p>
        </p:txBody>
      </p:sp>
      <p:sp>
        <p:nvSpPr>
          <p:cNvPr id="420"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421"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9 / 10</a:t>
            </a:r>
            <a:endParaRPr sz="1200">
              <a:solidFill>
                <a:srgbClr val="496176"/>
              </a:solidFill>
              <a:latin typeface="Arial"/>
            </a:endParaRPr>
          </a:p>
        </p:txBody>
      </p:sp>
      <p:sp>
        <p:nvSpPr>
          <p:cNvPr id="422" name="Rectangle 7"/>
          <p:cNvSpPr/>
          <p:nvPr/>
        </p:nvSpPr>
        <p:spPr>
          <a:xfrm>
            <a:off x="508000" y="2247900"/>
            <a:ext cx="5397500" cy="30988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3" name="Rectangle 8"/>
          <p:cNvSpPr/>
          <p:nvPr/>
        </p:nvSpPr>
        <p:spPr>
          <a:xfrm>
            <a:off x="508000" y="2247900"/>
            <a:ext cx="63500" cy="30988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4" name="TextBox 9"/>
          <p:cNvSpPr txBox="1"/>
          <p:nvPr/>
        </p:nvSpPr>
        <p:spPr>
          <a:xfrm>
            <a:off x="736600" y="2451100"/>
            <a:ext cx="4991100" cy="457200"/>
          </a:xfrm>
          <a:prstGeom prst="rect">
            <a:avLst/>
          </a:prstGeom>
        </p:spPr>
        <p:txBody>
          <a:bodyPr wrap="square">
            <a:spAutoFit/>
          </a:bodyPr>
          <a:lstStyle/>
          <a:p>
            <a:r>
              <a:rPr sz="2400">
                <a:solidFill>
                  <a:srgbClr val="172D45"/>
                </a:solidFill>
                <a:latin typeface="Arial"/>
              </a:rPr>
              <a:t>Uttag för arbete och forskning</a:t>
            </a:r>
            <a:endParaRPr sz="2400">
              <a:solidFill>
                <a:srgbClr val="172D45"/>
              </a:solidFill>
              <a:latin typeface="Arial"/>
            </a:endParaRPr>
          </a:p>
        </p:txBody>
      </p:sp>
      <p:sp>
        <p:nvSpPr>
          <p:cNvPr id="425" name="TextBox 10"/>
          <p:cNvSpPr txBox="1"/>
          <p:nvPr/>
        </p:nvSpPr>
        <p:spPr>
          <a:xfrm>
            <a:off x="736600" y="3340100"/>
            <a:ext cx="4991100" cy="1051560"/>
          </a:xfrm>
          <a:prstGeom prst="rect">
            <a:avLst/>
          </a:prstGeom>
        </p:spPr>
        <p:txBody>
          <a:bodyPr wrap="square">
            <a:spAutoFit/>
          </a:bodyPr>
          <a:lstStyle/>
          <a:p>
            <a:r>
              <a:rPr sz="2100">
                <a:solidFill>
                  <a:srgbClr val="172D45"/>
                </a:solidFill>
                <a:latin typeface="Arial"/>
              </a:rPr>
              <a:t>RODA skapar ett uttagspaket: DIP.</a:t>
            </a:r>
            <a:endParaRPr sz="2100">
              <a:solidFill>
                <a:srgbClr val="172D45"/>
              </a:solidFill>
              <a:latin typeface="Arial"/>
            </a:endParaRPr>
          </a:p>
          <a:p>
            <a:r>
              <a:rPr sz="2100">
                <a:solidFill>
                  <a:srgbClr val="172D45"/>
                </a:solidFill>
                <a:latin typeface="Arial"/>
              </a:rPr>
              <a:t>Innehållet styrs av behörighet.</a:t>
            </a:r>
            <a:endParaRPr sz="2100">
              <a:solidFill>
                <a:srgbClr val="172D45"/>
              </a:solidFill>
              <a:latin typeface="Arial"/>
            </a:endParaRPr>
          </a:p>
          <a:p>
            <a:r>
              <a:rPr sz="2100">
                <a:solidFill>
                  <a:srgbClr val="172D45"/>
                </a:solidFill>
                <a:latin typeface="Arial"/>
              </a:rPr>
              <a:t>Masterfil eller visningskopia efter behov.</a:t>
            </a:r>
            <a:endParaRPr sz="2100">
              <a:solidFill>
                <a:srgbClr val="172D45"/>
              </a:solidFill>
              <a:latin typeface="Arial"/>
            </a:endParaRPr>
          </a:p>
        </p:txBody>
      </p:sp>
      <p:sp>
        <p:nvSpPr>
          <p:cNvPr id="426" name="Rectangle 11"/>
          <p:cNvSpPr/>
          <p:nvPr/>
        </p:nvSpPr>
        <p:spPr>
          <a:xfrm>
            <a:off x="6223000" y="2247900"/>
            <a:ext cx="5435600" cy="30988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7" name="Rectangle 12"/>
          <p:cNvSpPr/>
          <p:nvPr/>
        </p:nvSpPr>
        <p:spPr>
          <a:xfrm>
            <a:off x="6223000" y="2247900"/>
            <a:ext cx="63500" cy="30988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8" name="TextBox 13"/>
          <p:cNvSpPr txBox="1"/>
          <p:nvPr/>
        </p:nvSpPr>
        <p:spPr>
          <a:xfrm>
            <a:off x="6451600" y="2451100"/>
            <a:ext cx="5029200" cy="457200"/>
          </a:xfrm>
          <a:prstGeom prst="rect">
            <a:avLst/>
          </a:prstGeom>
        </p:spPr>
        <p:txBody>
          <a:bodyPr wrap="square">
            <a:spAutoFit/>
          </a:bodyPr>
          <a:lstStyle/>
          <a:p>
            <a:r>
              <a:rPr sz="2400">
                <a:solidFill>
                  <a:srgbClr val="172D45"/>
                </a:solidFill>
                <a:latin typeface="Arial"/>
              </a:rPr>
              <a:t>Separat väg till publicering</a:t>
            </a:r>
            <a:endParaRPr sz="2400">
              <a:solidFill>
                <a:srgbClr val="172D45"/>
              </a:solidFill>
              <a:latin typeface="Arial"/>
            </a:endParaRPr>
          </a:p>
        </p:txBody>
      </p:sp>
      <p:sp>
        <p:nvSpPr>
          <p:cNvPr id="429" name="TextBox 14"/>
          <p:cNvSpPr txBox="1"/>
          <p:nvPr/>
        </p:nvSpPr>
        <p:spPr>
          <a:xfrm>
            <a:off x="6451600" y="3340100"/>
            <a:ext cx="5029200" cy="1051560"/>
          </a:xfrm>
          <a:prstGeom prst="rect">
            <a:avLst/>
          </a:prstGeom>
        </p:spPr>
        <p:txBody>
          <a:bodyPr wrap="square">
            <a:spAutoFit/>
          </a:bodyPr>
          <a:lstStyle/>
          <a:p>
            <a:r>
              <a:rPr sz="2100">
                <a:solidFill>
                  <a:srgbClr val="172D45"/>
                </a:solidFill>
                <a:latin typeface="Arial"/>
              </a:rPr>
              <a:t>Exportera valda metadata och bilder.</a:t>
            </a:r>
            <a:endParaRPr sz="2100">
              <a:solidFill>
                <a:srgbClr val="172D45"/>
              </a:solidFill>
              <a:latin typeface="Arial"/>
            </a:endParaRPr>
          </a:p>
          <a:p>
            <a:r>
              <a:rPr sz="2100">
                <a:solidFill>
                  <a:srgbClr val="172D45"/>
                </a:solidFill>
                <a:latin typeface="Arial"/>
              </a:rPr>
              <a:t>Anpassa till mottagande tjänst.</a:t>
            </a:r>
            <a:endParaRPr sz="2100">
              <a:solidFill>
                <a:srgbClr val="172D45"/>
              </a:solidFill>
              <a:latin typeface="Arial"/>
            </a:endParaRPr>
          </a:p>
          <a:p>
            <a:r>
              <a:rPr sz="2100">
                <a:solidFill>
                  <a:srgbClr val="172D45"/>
                </a:solidFill>
                <a:latin typeface="Arial"/>
              </a:rPr>
              <a:t>Exempel: DigitaltMuseum / K-samsök.</a:t>
            </a:r>
            <a:endParaRPr sz="2100">
              <a:solidFill>
                <a:srgbClr val="172D45"/>
              </a:solidFill>
              <a:latin typeface="Arial"/>
            </a:endParaRPr>
          </a:p>
        </p:txBody>
      </p:sp>
      <p:sp>
        <p:nvSpPr>
          <p:cNvPr id="430" name="TextBox 15"/>
          <p:cNvSpPr txBox="1"/>
          <p:nvPr/>
        </p:nvSpPr>
        <p:spPr>
          <a:xfrm>
            <a:off x="558800" y="5613400"/>
            <a:ext cx="11049000" cy="441960"/>
          </a:xfrm>
          <a:prstGeom prst="rect">
            <a:avLst/>
          </a:prstGeom>
        </p:spPr>
        <p:txBody>
          <a:bodyPr wrap="square">
            <a:spAutoFit/>
          </a:bodyPr>
          <a:lstStyle/>
          <a:p>
            <a:r>
              <a:rPr sz="2300">
                <a:solidFill>
                  <a:srgbClr val="00877D"/>
                </a:solidFill>
                <a:latin typeface="Arial"/>
              </a:rPr>
              <a:t>Arkiverat betyder inte publicerat. Publika tjänster visar åtkomstkopior.</a:t>
            </a:r>
            <a:endParaRPr sz="2300">
              <a:solidFill>
                <a:srgbClr val="00877D"/>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 name="Rectangle 1"/>
          <p:cNvSpPr/>
          <p:nvPr/>
        </p:nvSpPr>
        <p:spPr>
          <a:xfrm>
            <a:off x="0" y="0"/>
            <a:ext cx="12192000" cy="6858000"/>
          </a:xfrm>
          <a:prstGeom prst="rect">
            <a:avLst/>
          </a:prstGeom>
          <a:solidFill>
            <a:srgbClr val="F2F5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3" name="Rectangle 2"/>
          <p:cNvSpPr/>
          <p:nvPr/>
        </p:nvSpPr>
        <p:spPr>
          <a:xfrm>
            <a:off x="0" y="0"/>
            <a:ext cx="12192000" cy="1143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4" name="TextBox 3"/>
          <p:cNvSpPr txBox="1"/>
          <p:nvPr/>
        </p:nvSpPr>
        <p:spPr>
          <a:xfrm>
            <a:off x="508000" y="330200"/>
            <a:ext cx="11176000" cy="579120"/>
          </a:xfrm>
          <a:prstGeom prst="rect">
            <a:avLst/>
          </a:prstGeom>
        </p:spPr>
        <p:txBody>
          <a:bodyPr wrap="square">
            <a:spAutoFit/>
          </a:bodyPr>
          <a:lstStyle/>
          <a:p>
            <a:r>
              <a:rPr sz="3200">
                <a:solidFill>
                  <a:srgbClr val="172D45"/>
                </a:solidFill>
                <a:latin typeface="Arial"/>
              </a:rPr>
              <a:t>Det som behöver vara på plats</a:t>
            </a:r>
            <a:endParaRPr sz="3200">
              <a:solidFill>
                <a:srgbClr val="172D45"/>
              </a:solidFill>
              <a:latin typeface="Arial"/>
            </a:endParaRPr>
          </a:p>
        </p:txBody>
      </p:sp>
      <p:sp>
        <p:nvSpPr>
          <p:cNvPr id="435" name="TextBox 4"/>
          <p:cNvSpPr txBox="1"/>
          <p:nvPr/>
        </p:nvSpPr>
        <p:spPr>
          <a:xfrm>
            <a:off x="508000" y="1193800"/>
            <a:ext cx="11176000" cy="396240"/>
          </a:xfrm>
          <a:prstGeom prst="rect">
            <a:avLst/>
          </a:prstGeom>
        </p:spPr>
        <p:txBody>
          <a:bodyPr wrap="square">
            <a:spAutoFit/>
          </a:bodyPr>
          <a:lstStyle/>
          <a:p>
            <a:r>
              <a:rPr sz="2000">
                <a:solidFill>
                  <a:srgbClr val="496176"/>
                </a:solidFill>
                <a:latin typeface="Arial"/>
              </a:rPr>
              <a:t>Teknik, ansvar och rutiner måste fungera tillsammans.</a:t>
            </a:r>
            <a:endParaRPr sz="2000">
              <a:solidFill>
                <a:srgbClr val="496176"/>
              </a:solidFill>
              <a:latin typeface="Arial"/>
            </a:endParaRPr>
          </a:p>
        </p:txBody>
      </p:sp>
      <p:sp>
        <p:nvSpPr>
          <p:cNvPr id="436" name="TextBox 5"/>
          <p:cNvSpPr txBox="1"/>
          <p:nvPr/>
        </p:nvSpPr>
        <p:spPr>
          <a:xfrm>
            <a:off x="508000" y="6375400"/>
            <a:ext cx="10414000" cy="274320"/>
          </a:xfrm>
          <a:prstGeom prst="rect">
            <a:avLst/>
          </a:prstGeom>
        </p:spPr>
        <p:txBody>
          <a:bodyPr wrap="square">
            <a:spAutoFit/>
          </a:bodyPr>
          <a:lstStyle/>
          <a:p>
            <a:r>
              <a:rPr sz="1200">
                <a:solidFill>
                  <a:srgbClr val="496176"/>
                </a:solidFill>
                <a:latin typeface="Arial"/>
              </a:rPr>
              <a:t>KUB  |  Föreslaget arbetsflöde för digitalt långtidsbevarande</a:t>
            </a:r>
            <a:endParaRPr sz="1200">
              <a:solidFill>
                <a:srgbClr val="496176"/>
              </a:solidFill>
              <a:latin typeface="Arial"/>
            </a:endParaRPr>
          </a:p>
        </p:txBody>
      </p:sp>
      <p:sp>
        <p:nvSpPr>
          <p:cNvPr id="437" name="TextBox 6"/>
          <p:cNvSpPr txBox="1"/>
          <p:nvPr/>
        </p:nvSpPr>
        <p:spPr>
          <a:xfrm>
            <a:off x="11099800" y="6375400"/>
            <a:ext cx="762000" cy="274320"/>
          </a:xfrm>
          <a:prstGeom prst="rect">
            <a:avLst/>
          </a:prstGeom>
        </p:spPr>
        <p:txBody>
          <a:bodyPr wrap="square">
            <a:spAutoFit/>
          </a:bodyPr>
          <a:lstStyle/>
          <a:p>
            <a:r>
              <a:rPr sz="1200">
                <a:solidFill>
                  <a:srgbClr val="496176"/>
                </a:solidFill>
                <a:latin typeface="Arial"/>
              </a:rPr>
              <a:t>10 / 10</a:t>
            </a:r>
            <a:endParaRPr sz="1200">
              <a:solidFill>
                <a:srgbClr val="496176"/>
              </a:solidFill>
              <a:latin typeface="Arial"/>
            </a:endParaRPr>
          </a:p>
        </p:txBody>
      </p:sp>
      <p:sp>
        <p:nvSpPr>
          <p:cNvPr id="438" name="Rectangle 7"/>
          <p:cNvSpPr/>
          <p:nvPr/>
        </p:nvSpPr>
        <p:spPr>
          <a:xfrm>
            <a:off x="508000" y="2209800"/>
            <a:ext cx="3530600" cy="29845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9" name="Rectangle 8"/>
          <p:cNvSpPr/>
          <p:nvPr/>
        </p:nvSpPr>
        <p:spPr>
          <a:xfrm>
            <a:off x="508000" y="2209800"/>
            <a:ext cx="63500" cy="29845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0" name="TextBox 9"/>
          <p:cNvSpPr txBox="1"/>
          <p:nvPr/>
        </p:nvSpPr>
        <p:spPr>
          <a:xfrm>
            <a:off x="736600" y="2413000"/>
            <a:ext cx="3124200" cy="457200"/>
          </a:xfrm>
          <a:prstGeom prst="rect">
            <a:avLst/>
          </a:prstGeom>
        </p:spPr>
        <p:txBody>
          <a:bodyPr wrap="square">
            <a:spAutoFit/>
          </a:bodyPr>
          <a:lstStyle/>
          <a:p>
            <a:r>
              <a:rPr sz="2400">
                <a:solidFill>
                  <a:srgbClr val="172D45"/>
                </a:solidFill>
                <a:latin typeface="Arial"/>
              </a:rPr>
              <a:t>Museets beslut</a:t>
            </a:r>
            <a:endParaRPr sz="2400">
              <a:solidFill>
                <a:srgbClr val="172D45"/>
              </a:solidFill>
              <a:latin typeface="Arial"/>
            </a:endParaRPr>
          </a:p>
        </p:txBody>
      </p:sp>
      <p:sp>
        <p:nvSpPr>
          <p:cNvPr id="441" name="TextBox 10"/>
          <p:cNvSpPr txBox="1"/>
          <p:nvPr/>
        </p:nvSpPr>
        <p:spPr>
          <a:xfrm>
            <a:off x="736600" y="3302000"/>
            <a:ext cx="3124200" cy="1051560"/>
          </a:xfrm>
          <a:prstGeom prst="rect">
            <a:avLst/>
          </a:prstGeom>
        </p:spPr>
        <p:txBody>
          <a:bodyPr wrap="square">
            <a:spAutoFit/>
          </a:bodyPr>
          <a:lstStyle/>
          <a:p>
            <a:r>
              <a:rPr sz="2100">
                <a:solidFill>
                  <a:srgbClr val="172D45"/>
                </a:solidFill>
                <a:latin typeface="Arial"/>
              </a:rPr>
              <a:t>Vad ska bevaras?</a:t>
            </a:r>
            <a:endParaRPr sz="2100">
              <a:solidFill>
                <a:srgbClr val="172D45"/>
              </a:solidFill>
              <a:latin typeface="Arial"/>
            </a:endParaRPr>
          </a:p>
          <a:p>
            <a:r>
              <a:rPr sz="2100">
                <a:solidFill>
                  <a:srgbClr val="172D45"/>
                </a:solidFill>
                <a:latin typeface="Arial"/>
              </a:rPr>
              <a:t>Vem ansvarar?</a:t>
            </a:r>
            <a:endParaRPr sz="2100">
              <a:solidFill>
                <a:srgbClr val="172D45"/>
              </a:solidFill>
              <a:latin typeface="Arial"/>
            </a:endParaRPr>
          </a:p>
          <a:p>
            <a:r>
              <a:rPr sz="2100">
                <a:solidFill>
                  <a:srgbClr val="172D45"/>
                </a:solidFill>
                <a:latin typeface="Arial"/>
              </a:rPr>
              <a:t>Vilka får tillgång?</a:t>
            </a:r>
            <a:endParaRPr sz="2100">
              <a:solidFill>
                <a:srgbClr val="172D45"/>
              </a:solidFill>
              <a:latin typeface="Arial"/>
            </a:endParaRPr>
          </a:p>
        </p:txBody>
      </p:sp>
      <p:sp>
        <p:nvSpPr>
          <p:cNvPr id="442" name="Rectangle 11"/>
          <p:cNvSpPr/>
          <p:nvPr/>
        </p:nvSpPr>
        <p:spPr>
          <a:xfrm>
            <a:off x="4318000" y="2209800"/>
            <a:ext cx="3530600" cy="29845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3" name="Rectangle 12"/>
          <p:cNvSpPr/>
          <p:nvPr/>
        </p:nvSpPr>
        <p:spPr>
          <a:xfrm>
            <a:off x="4318000" y="2209800"/>
            <a:ext cx="63500" cy="29845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4" name="TextBox 13"/>
          <p:cNvSpPr txBox="1"/>
          <p:nvPr/>
        </p:nvSpPr>
        <p:spPr>
          <a:xfrm>
            <a:off x="4546600" y="2413000"/>
            <a:ext cx="3124200" cy="457200"/>
          </a:xfrm>
          <a:prstGeom prst="rect">
            <a:avLst/>
          </a:prstGeom>
        </p:spPr>
        <p:txBody>
          <a:bodyPr wrap="square">
            <a:spAutoFit/>
          </a:bodyPr>
          <a:lstStyle/>
          <a:p>
            <a:r>
              <a:rPr sz="2400">
                <a:solidFill>
                  <a:srgbClr val="172D45"/>
                </a:solidFill>
                <a:latin typeface="Arial"/>
              </a:rPr>
              <a:t>Systemets kontroller</a:t>
            </a:r>
            <a:endParaRPr sz="2400">
              <a:solidFill>
                <a:srgbClr val="172D45"/>
              </a:solidFill>
              <a:latin typeface="Arial"/>
            </a:endParaRPr>
          </a:p>
        </p:txBody>
      </p:sp>
      <p:sp>
        <p:nvSpPr>
          <p:cNvPr id="445" name="TextBox 14"/>
          <p:cNvSpPr txBox="1"/>
          <p:nvPr/>
        </p:nvSpPr>
        <p:spPr>
          <a:xfrm>
            <a:off x="4546600" y="3302000"/>
            <a:ext cx="3124200" cy="1051560"/>
          </a:xfrm>
          <a:prstGeom prst="rect">
            <a:avLst/>
          </a:prstGeom>
        </p:spPr>
        <p:txBody>
          <a:bodyPr wrap="square">
            <a:spAutoFit/>
          </a:bodyPr>
          <a:lstStyle/>
          <a:p>
            <a:r>
              <a:rPr sz="2100">
                <a:solidFill>
                  <a:srgbClr val="172D45"/>
                </a:solidFill>
                <a:latin typeface="Arial"/>
              </a:rPr>
              <a:t>Hur sker exporten?</a:t>
            </a:r>
            <a:endParaRPr sz="2100">
              <a:solidFill>
                <a:srgbClr val="172D45"/>
              </a:solidFill>
              <a:latin typeface="Arial"/>
            </a:endParaRPr>
          </a:p>
          <a:p>
            <a:r>
              <a:rPr sz="2100">
                <a:solidFill>
                  <a:srgbClr val="172D45"/>
                </a:solidFill>
                <a:latin typeface="Arial"/>
              </a:rPr>
              <a:t>Vad ska valideras?</a:t>
            </a:r>
            <a:endParaRPr sz="2100">
              <a:solidFill>
                <a:srgbClr val="172D45"/>
              </a:solidFill>
              <a:latin typeface="Arial"/>
            </a:endParaRPr>
          </a:p>
          <a:p>
            <a:r>
              <a:rPr sz="2100">
                <a:solidFill>
                  <a:srgbClr val="172D45"/>
                </a:solidFill>
                <a:latin typeface="Arial"/>
              </a:rPr>
              <a:t>Hur hanteras fel?</a:t>
            </a:r>
            <a:endParaRPr sz="2100">
              <a:solidFill>
                <a:srgbClr val="172D45"/>
              </a:solidFill>
              <a:latin typeface="Arial"/>
            </a:endParaRPr>
          </a:p>
        </p:txBody>
      </p:sp>
      <p:sp>
        <p:nvSpPr>
          <p:cNvPr id="446" name="Rectangle 15"/>
          <p:cNvSpPr/>
          <p:nvPr/>
        </p:nvSpPr>
        <p:spPr>
          <a:xfrm>
            <a:off x="8128000" y="2209800"/>
            <a:ext cx="3530600" cy="29845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7" name="Rectangle 16"/>
          <p:cNvSpPr/>
          <p:nvPr/>
        </p:nvSpPr>
        <p:spPr>
          <a:xfrm>
            <a:off x="8128000" y="2209800"/>
            <a:ext cx="63500" cy="2984500"/>
          </a:xfrm>
          <a:prstGeom prst="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8" name="TextBox 17"/>
          <p:cNvSpPr txBox="1"/>
          <p:nvPr/>
        </p:nvSpPr>
        <p:spPr>
          <a:xfrm>
            <a:off x="8356600" y="2413000"/>
            <a:ext cx="3124200" cy="457200"/>
          </a:xfrm>
          <a:prstGeom prst="rect">
            <a:avLst/>
          </a:prstGeom>
        </p:spPr>
        <p:txBody>
          <a:bodyPr wrap="square">
            <a:spAutoFit/>
          </a:bodyPr>
          <a:lstStyle/>
          <a:p>
            <a:r>
              <a:rPr sz="2400">
                <a:solidFill>
                  <a:srgbClr val="172D45"/>
                </a:solidFill>
                <a:latin typeface="Arial"/>
              </a:rPr>
              <a:t>Driftens rutiner</a:t>
            </a:r>
            <a:endParaRPr sz="2400">
              <a:solidFill>
                <a:srgbClr val="172D45"/>
              </a:solidFill>
              <a:latin typeface="Arial"/>
            </a:endParaRPr>
          </a:p>
        </p:txBody>
      </p:sp>
      <p:sp>
        <p:nvSpPr>
          <p:cNvPr id="449" name="TextBox 18"/>
          <p:cNvSpPr txBox="1"/>
          <p:nvPr/>
        </p:nvSpPr>
        <p:spPr>
          <a:xfrm>
            <a:off x="8356600" y="3302000"/>
            <a:ext cx="3124200" cy="1051560"/>
          </a:xfrm>
          <a:prstGeom prst="rect">
            <a:avLst/>
          </a:prstGeom>
        </p:spPr>
        <p:txBody>
          <a:bodyPr wrap="square">
            <a:spAutoFit/>
          </a:bodyPr>
          <a:lstStyle/>
          <a:p>
            <a:r>
              <a:rPr sz="2100">
                <a:solidFill>
                  <a:srgbClr val="172D45"/>
                </a:solidFill>
                <a:latin typeface="Arial"/>
              </a:rPr>
              <a:t>Var finns kopiorna?</a:t>
            </a:r>
            <a:endParaRPr sz="2100">
              <a:solidFill>
                <a:srgbClr val="172D45"/>
              </a:solidFill>
              <a:latin typeface="Arial"/>
            </a:endParaRPr>
          </a:p>
          <a:p>
            <a:r>
              <a:rPr sz="2100">
                <a:solidFill>
                  <a:srgbClr val="172D45"/>
                </a:solidFill>
                <a:latin typeface="Arial"/>
              </a:rPr>
              <a:t>Vem tar emot larm?</a:t>
            </a:r>
            <a:endParaRPr sz="2100">
              <a:solidFill>
                <a:srgbClr val="172D45"/>
              </a:solidFill>
              <a:latin typeface="Arial"/>
            </a:endParaRPr>
          </a:p>
          <a:p>
            <a:r>
              <a:rPr sz="2100">
                <a:solidFill>
                  <a:srgbClr val="172D45"/>
                </a:solidFill>
                <a:latin typeface="Arial"/>
              </a:rPr>
              <a:t>Hur testas återställning?</a:t>
            </a:r>
            <a:endParaRPr sz="2100">
              <a:solidFill>
                <a:srgbClr val="172D45"/>
              </a:solidFill>
              <a:latin typeface="Arial"/>
            </a:endParaRPr>
          </a:p>
        </p:txBody>
      </p:sp>
      <p:sp>
        <p:nvSpPr>
          <p:cNvPr id="450" name="Rectangle 19"/>
          <p:cNvSpPr/>
          <p:nvPr/>
        </p:nvSpPr>
        <p:spPr>
          <a:xfrm>
            <a:off x="508000" y="5448300"/>
            <a:ext cx="11150600" cy="762000"/>
          </a:xfrm>
          <a:prstGeom prst="roundRect">
            <a:avLst/>
          </a:prstGeom>
          <a:solidFill>
            <a:srgbClr val="0087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51" name="TextBox 20"/>
          <p:cNvSpPr txBox="1"/>
          <p:nvPr/>
        </p:nvSpPr>
        <p:spPr>
          <a:xfrm>
            <a:off x="685800" y="5537200"/>
            <a:ext cx="10795000" cy="472440"/>
          </a:xfrm>
          <a:prstGeom prst="rect">
            <a:avLst/>
          </a:prstGeom>
        </p:spPr>
        <p:txBody>
          <a:bodyPr wrap="square">
            <a:spAutoFit/>
          </a:bodyPr>
          <a:lstStyle/>
          <a:p>
            <a:r>
              <a:rPr sz="2500">
                <a:solidFill>
                  <a:srgbClr val="FFFFFF"/>
                </a:solidFill>
                <a:latin typeface="Arial"/>
              </a:rPr>
              <a:t>Automatisera kontrollerna – behåll det mänskliga ansvaret.</a:t>
            </a:r>
            <a:endParaRPr sz="2500">
              <a:solidFill>
                <a:srgbClr val="FFFFFF"/>
              </a:solidFill>
              <a:latin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DeckCraft">
  <a:themeElements>
    <a:clrScheme name="DeckCraft">
      <a:dk1>
        <a:srgbClr val="000000"/>
      </a:dk1>
      <a:lt1>
        <a:srgbClr val="FFFFFF"/>
      </a:lt1>
      <a:dk2>
        <a:srgbClr val="1E2B3C"/>
      </a:dk2>
      <a:lt2>
        <a:srgbClr val="EDEBE7"/>
      </a:lt2>
      <a:accent1>
        <a:srgbClr val="2E6FD8"/>
      </a:accent1>
      <a:accent2>
        <a:srgbClr val="F26B1D"/>
      </a:accent2>
      <a:accent3>
        <a:srgbClr val="2EA36F"/>
      </a:accent3>
      <a:accent4>
        <a:srgbClr val="8A5CD8"/>
      </a:accent4>
      <a:accent5>
        <a:srgbClr val="D83F6B"/>
      </a:accent5>
      <a:accent6>
        <a:srgbClr val="E3B21C"/>
      </a:accent6>
      <a:hlink>
        <a:srgbClr val="2E6FD8"/>
      </a:hlink>
      <a:folHlink>
        <a:srgbClr val="7A5BA6"/>
      </a:folHlink>
    </a:clrScheme>
    <a:fontScheme name="DeckCraft">
      <a:majorFont>
        <a:latin typeface="Inter"/>
        <a:ea typeface=""/>
        <a:cs typeface=""/>
      </a:majorFont>
      <a:minorFont>
        <a:latin typeface="Inter"/>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ppt/theme/theme2.xml><?xml version="1.0" encoding="utf-8"?>
<a:theme xmlns:a="http://schemas.openxmlformats.org/drawingml/2006/main" xmlns:r="http://schemas.openxmlformats.org/officeDocument/2006/relationships" name="DeckCraft">
  <a:themeElements>
    <a:clrScheme name="DeckCraft">
      <a:dk1>
        <a:srgbClr val="000000"/>
      </a:dk1>
      <a:lt1>
        <a:srgbClr val="FFFFFF"/>
      </a:lt1>
      <a:dk2>
        <a:srgbClr val="1E2B3C"/>
      </a:dk2>
      <a:lt2>
        <a:srgbClr val="EDEBE7"/>
      </a:lt2>
      <a:accent1>
        <a:srgbClr val="2E6FD8"/>
      </a:accent1>
      <a:accent2>
        <a:srgbClr val="F26B1D"/>
      </a:accent2>
      <a:accent3>
        <a:srgbClr val="2EA36F"/>
      </a:accent3>
      <a:accent4>
        <a:srgbClr val="8A5CD8"/>
      </a:accent4>
      <a:accent5>
        <a:srgbClr val="D83F6B"/>
      </a:accent5>
      <a:accent6>
        <a:srgbClr val="E3B21C"/>
      </a:accent6>
      <a:hlink>
        <a:srgbClr val="2E6FD8"/>
      </a:hlink>
      <a:folHlink>
        <a:srgbClr val="7A5BA6"/>
      </a:folHlink>
    </a:clrScheme>
    <a:fontScheme name="DeckCraft">
      <a:majorFont>
        <a:latin typeface="Inter"/>
        <a:ea typeface=""/>
        <a:cs typeface=""/>
      </a:majorFont>
      <a:minorFont>
        <a:latin typeface="Inter"/>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10</Slides>
  <Notes>10</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